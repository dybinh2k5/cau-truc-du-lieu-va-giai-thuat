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16"/>
  </p:notesMasterIdLst>
  <p:sldIdLst>
    <p:sldId id="257" r:id="rId2"/>
    <p:sldId id="365" r:id="rId3"/>
    <p:sldId id="374" r:id="rId4"/>
    <p:sldId id="376" r:id="rId5"/>
    <p:sldId id="397" r:id="rId6"/>
    <p:sldId id="395" r:id="rId7"/>
    <p:sldId id="384" r:id="rId8"/>
    <p:sldId id="386" r:id="rId9"/>
    <p:sldId id="398" r:id="rId10"/>
    <p:sldId id="387" r:id="rId11"/>
    <p:sldId id="399" r:id="rId12"/>
    <p:sldId id="390" r:id="rId13"/>
    <p:sldId id="393" r:id="rId14"/>
    <p:sldId id="373" r:id="rId15"/>
  </p:sldIdLst>
  <p:sldSz cx="12192000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80299" autoAdjust="0"/>
  </p:normalViewPr>
  <p:slideViewPr>
    <p:cSldViewPr snapToGrid="0">
      <p:cViewPr varScale="1">
        <p:scale>
          <a:sx n="75" d="100"/>
          <a:sy n="75" d="100"/>
        </p:scale>
        <p:origin x="25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6DF7F9-CFC5-4D89-8961-C0239DBDFAE0}" type="datetimeFigureOut">
              <a:rPr lang="en-US" smtClean="0"/>
              <a:t>10/7/2024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FFC458-15A8-473E-97CA-B466A563B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6979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FFC458-15A8-473E-97CA-B466A563B85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2660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FFC458-15A8-473E-97CA-B466A563B85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82859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FFC458-15A8-473E-97CA-B466A563B85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97804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FFC458-15A8-473E-97CA-B466A563B85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39863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FFC458-15A8-473E-97CA-B466A563B85A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13142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FFC458-15A8-473E-97CA-B466A563B85A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45952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FFC458-15A8-473E-97CA-B466A563B85A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2772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92892" y="2047102"/>
            <a:ext cx="9594308" cy="1676400"/>
          </a:xfrm>
        </p:spPr>
        <p:txBody>
          <a:bodyPr>
            <a:no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>
            <a:lvl1pPr>
              <a:lnSpc>
                <a:spcPct val="80000"/>
              </a:lnSpc>
              <a:defRPr sz="6000" b="0" cap="none" spc="0">
                <a:ln w="0"/>
                <a:solidFill>
                  <a:schemeClr val="accent3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92892" y="3774301"/>
            <a:ext cx="9594308" cy="886344"/>
          </a:xfrm>
        </p:spPr>
        <p:txBody>
          <a:bodyPr>
            <a:norm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>
            <a:lvl1pPr marL="0" indent="0" algn="l">
              <a:buNone/>
              <a:defRPr sz="2800">
                <a:solidFill>
                  <a:srgbClr val="002060"/>
                </a:solidFill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Cấu Trúc Dữ Liệu &amp; Giải Thuật (Data Structures &amp; Algorithms) - Tìm kiếm (Search)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1D929-19A9-4313-87D2-3412CC614AD7}" type="datetime1">
              <a:rPr lang="en-US" smtClean="0"/>
              <a:t>10/7/2024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82F98-F548-4E33-958E-D2A6C4BA8EFA}" type="slidenum">
              <a:rPr lang="en-US" smtClean="0"/>
              <a:t>‹#›</a:t>
            </a:fld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449B8A27-3EA1-4728-A36E-35B620DF7691}"/>
              </a:ext>
            </a:extLst>
          </p:cNvPr>
          <p:cNvGrpSpPr/>
          <p:nvPr/>
        </p:nvGrpSpPr>
        <p:grpSpPr>
          <a:xfrm>
            <a:off x="9201323" y="1"/>
            <a:ext cx="2990677" cy="977265"/>
            <a:chOff x="3054154" y="4685464"/>
            <a:chExt cx="2989898" cy="977265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36329EE-CCCE-4AC0-9DB2-5F80B2AA0D83}"/>
                </a:ext>
              </a:extLst>
            </p:cNvPr>
            <p:cNvSpPr/>
            <p:nvPr/>
          </p:nvSpPr>
          <p:spPr>
            <a:xfrm>
              <a:off x="3331332" y="5066464"/>
              <a:ext cx="2331720" cy="32004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>
                  <a:latin typeface="Arial" panose="020B0604020202020204" pitchFamily="34" charset="0"/>
                  <a:cs typeface="Arial" panose="020B0604020202020204" pitchFamily="34" charset="0"/>
                </a:rPr>
                <a:t>www.hoasen.edu.vn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BF503A9F-91CA-4940-BAC2-D67FF53B17C5}"/>
                </a:ext>
              </a:extLst>
            </p:cNvPr>
            <p:cNvSpPr/>
            <p:nvPr/>
          </p:nvSpPr>
          <p:spPr>
            <a:xfrm>
              <a:off x="3054154" y="5385551"/>
              <a:ext cx="277178" cy="27717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2B67EDA8-6C95-41BD-B178-C180F700E4B2}"/>
                </a:ext>
              </a:extLst>
            </p:cNvPr>
            <p:cNvSpPr/>
            <p:nvPr/>
          </p:nvSpPr>
          <p:spPr>
            <a:xfrm>
              <a:off x="5663052" y="4685464"/>
              <a:ext cx="381000" cy="381000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68BF2221-00FE-4DF5-A069-2B837EDC398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50" y="70364"/>
            <a:ext cx="1219199" cy="996436"/>
          </a:xfrm>
          <a:prstGeom prst="rect">
            <a:avLst/>
          </a:prstGeom>
        </p:spPr>
      </p:pic>
      <p:grpSp>
        <p:nvGrpSpPr>
          <p:cNvPr id="18" name="squares">
            <a:extLst>
              <a:ext uri="{FF2B5EF4-FFF2-40B4-BE49-F238E27FC236}">
                <a16:creationId xmlns:a16="http://schemas.microsoft.com/office/drawing/2014/main" id="{1B50D0F4-1489-4253-A226-715457F571D1}"/>
              </a:ext>
            </a:extLst>
          </p:cNvPr>
          <p:cNvGrpSpPr/>
          <p:nvPr/>
        </p:nvGrpSpPr>
        <p:grpSpPr>
          <a:xfrm>
            <a:off x="0" y="2918442"/>
            <a:ext cx="1622755" cy="805061"/>
            <a:chOff x="0" y="2343311"/>
            <a:chExt cx="1217066" cy="603796"/>
          </a:xfrm>
        </p:grpSpPr>
        <p:sp>
          <p:nvSpPr>
            <p:cNvPr id="19" name="Rounded Rectangle 7">
              <a:extLst>
                <a:ext uri="{FF2B5EF4-FFF2-40B4-BE49-F238E27FC236}">
                  <a16:creationId xmlns:a16="http://schemas.microsoft.com/office/drawing/2014/main" id="{EB5961F1-EADE-4873-B490-A198A56659CA}"/>
                </a:ext>
              </a:extLst>
            </p:cNvPr>
            <p:cNvSpPr/>
            <p:nvPr/>
          </p:nvSpPr>
          <p:spPr>
            <a:xfrm>
              <a:off x="787514" y="2347123"/>
              <a:ext cx="429552" cy="599984"/>
            </a:xfrm>
            <a:prstGeom prst="round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20" name="Rounded Rectangle 8">
              <a:extLst>
                <a:ext uri="{FF2B5EF4-FFF2-40B4-BE49-F238E27FC236}">
                  <a16:creationId xmlns:a16="http://schemas.microsoft.com/office/drawing/2014/main" id="{4B052CC2-AE5F-457A-9F64-599115C7860C}"/>
                </a:ext>
              </a:extLst>
            </p:cNvPr>
            <p:cNvSpPr/>
            <p:nvPr/>
          </p:nvSpPr>
          <p:spPr>
            <a:xfrm>
              <a:off x="286370" y="2347123"/>
              <a:ext cx="429552" cy="599984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21" name="Round Same Side Corner Rectangle 9">
              <a:extLst>
                <a:ext uri="{FF2B5EF4-FFF2-40B4-BE49-F238E27FC236}">
                  <a16:creationId xmlns:a16="http://schemas.microsoft.com/office/drawing/2014/main" id="{4E90F40F-56E0-4ADC-A71D-BB8EB1E62E22}"/>
                </a:ext>
              </a:extLst>
            </p:cNvPr>
            <p:cNvSpPr/>
            <p:nvPr/>
          </p:nvSpPr>
          <p:spPr>
            <a:xfrm rot="5400000">
              <a:off x="-192604" y="2535915"/>
              <a:ext cx="599986" cy="214778"/>
            </a:xfrm>
            <a:prstGeom prst="round2SameRect">
              <a:avLst>
                <a:gd name="adj1" fmla="val 29167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</p:grpSp>
    </p:spTree>
    <p:extLst>
      <p:ext uri="{BB962C8B-B14F-4D97-AF65-F5344CB8AC3E}">
        <p14:creationId xmlns:p14="http://schemas.microsoft.com/office/powerpoint/2010/main" val="38375221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chemeClr val="accent4">
                  <a:lumMod val="50000"/>
                </a:schemeClr>
              </a:buClr>
              <a:defRPr/>
            </a:lvl1pPr>
            <a:lvl2pPr>
              <a:buClr>
                <a:schemeClr val="accent4">
                  <a:lumMod val="50000"/>
                </a:schemeClr>
              </a:buClr>
              <a:defRPr/>
            </a:lvl2pPr>
            <a:lvl3pPr>
              <a:buClr>
                <a:schemeClr val="accent4">
                  <a:lumMod val="50000"/>
                </a:schemeClr>
              </a:buClr>
              <a:defRPr/>
            </a:lvl3pPr>
            <a:lvl4pPr>
              <a:buClr>
                <a:schemeClr val="accent4">
                  <a:lumMod val="50000"/>
                </a:schemeClr>
              </a:buClr>
              <a:defRPr/>
            </a:lvl4pPr>
            <a:lvl5pPr>
              <a:buClr>
                <a:schemeClr val="accent4">
                  <a:lumMod val="50000"/>
                </a:schemeClr>
              </a:buCl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Cấu Trúc Dữ Liệu &amp; Giải Thuật (Data Structures &amp; Algorithms) - Tìm kiếm (Search)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87B97-D082-4673-AE27-D6C921115723}" type="datetime1">
              <a:rPr lang="en-US" smtClean="0"/>
              <a:t>10/7/2024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82F98-F548-4E33-958E-D2A6C4BA8E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90566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squares"/>
          <p:cNvGrpSpPr/>
          <p:nvPr/>
        </p:nvGrpSpPr>
        <p:grpSpPr>
          <a:xfrm>
            <a:off x="0" y="3232825"/>
            <a:ext cx="1622755" cy="805061"/>
            <a:chOff x="0" y="2343311"/>
            <a:chExt cx="1217066" cy="603796"/>
          </a:xfrm>
        </p:grpSpPr>
        <p:sp>
          <p:nvSpPr>
            <p:cNvPr id="8" name="Rounded Rectangle 7"/>
            <p:cNvSpPr/>
            <p:nvPr/>
          </p:nvSpPr>
          <p:spPr>
            <a:xfrm>
              <a:off x="787514" y="2347123"/>
              <a:ext cx="429552" cy="599984"/>
            </a:xfrm>
            <a:prstGeom prst="round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286370" y="2347123"/>
              <a:ext cx="429552" cy="599984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0" name="Round Same Side Corner Rectangle 9"/>
            <p:cNvSpPr/>
            <p:nvPr/>
          </p:nvSpPr>
          <p:spPr>
            <a:xfrm rot="5400000">
              <a:off x="-192604" y="2535915"/>
              <a:ext cx="599986" cy="214778"/>
            </a:xfrm>
            <a:prstGeom prst="round2SameRect">
              <a:avLst>
                <a:gd name="adj1" fmla="val 29167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1" y="1932519"/>
            <a:ext cx="9144000" cy="2105367"/>
          </a:xfrm>
        </p:spPr>
        <p:txBody>
          <a:bodyPr anchor="b">
            <a:normAutofit/>
          </a:bodyPr>
          <a:lstStyle>
            <a:lvl1pPr algn="l">
              <a:defRPr sz="6000" b="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28801" y="4084265"/>
            <a:ext cx="9144000" cy="933297"/>
          </a:xfrm>
        </p:spPr>
        <p:txBody>
          <a:bodyPr anchor="t">
            <a:normAutofit/>
          </a:bodyPr>
          <a:lstStyle>
            <a:lvl1pPr marL="0" indent="0">
              <a:buNone/>
              <a:defRPr sz="2800">
                <a:solidFill>
                  <a:schemeClr val="accent1">
                    <a:lumMod val="75000"/>
                  </a:schemeClr>
                </a:solidFill>
              </a:defRPr>
            </a:lvl1pPr>
            <a:lvl2pPr marL="609493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98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48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97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46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96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45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94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Cấu Trúc Dữ Liệu &amp; Giải Thuật (Data Structures &amp; Algorithms) - Tìm kiếm (Search)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70DC1-AA7B-44FC-9436-42C668580941}" type="datetime1">
              <a:rPr lang="en-US" smtClean="0"/>
              <a:t>10/7/2024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82F98-F548-4E33-958E-D2A6C4BA8EFA}" type="slidenum">
              <a:rPr lang="en-US" smtClean="0"/>
              <a:t>‹#›</a:t>
            </a:fld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3AEF9CF-A1B6-4C1A-8CE3-C3BB79B039BC}"/>
              </a:ext>
            </a:extLst>
          </p:cNvPr>
          <p:cNvGrpSpPr/>
          <p:nvPr/>
        </p:nvGrpSpPr>
        <p:grpSpPr>
          <a:xfrm>
            <a:off x="9201323" y="1"/>
            <a:ext cx="2990677" cy="977265"/>
            <a:chOff x="3054154" y="4685464"/>
            <a:chExt cx="2989898" cy="977265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129AF9A-BFB1-433D-BABF-9882B69E5FB9}"/>
                </a:ext>
              </a:extLst>
            </p:cNvPr>
            <p:cNvSpPr/>
            <p:nvPr/>
          </p:nvSpPr>
          <p:spPr>
            <a:xfrm>
              <a:off x="3331332" y="5066464"/>
              <a:ext cx="2331720" cy="32004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>
                  <a:latin typeface="Arial" panose="020B0604020202020204" pitchFamily="34" charset="0"/>
                  <a:cs typeface="Arial" panose="020B0604020202020204" pitchFamily="34" charset="0"/>
                </a:rPr>
                <a:t>www.hoasen.edu.vn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D122B2BC-C260-404D-AAFC-2E015E6C4DA6}"/>
                </a:ext>
              </a:extLst>
            </p:cNvPr>
            <p:cNvSpPr/>
            <p:nvPr/>
          </p:nvSpPr>
          <p:spPr>
            <a:xfrm>
              <a:off x="3054154" y="5385551"/>
              <a:ext cx="277178" cy="27717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C979C986-FCE1-4BC9-8ABC-DFCEDBD10D33}"/>
                </a:ext>
              </a:extLst>
            </p:cNvPr>
            <p:cNvSpPr/>
            <p:nvPr/>
          </p:nvSpPr>
          <p:spPr>
            <a:xfrm>
              <a:off x="5663052" y="4685464"/>
              <a:ext cx="381000" cy="381000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id="{8E096A75-8096-4EB1-9A83-06C91A2E34B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50" y="70364"/>
            <a:ext cx="1219199" cy="996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76719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709" y="152400"/>
            <a:ext cx="9753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709" y="1600200"/>
            <a:ext cx="4876800" cy="45720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9" y="1600200"/>
            <a:ext cx="4876800" cy="45720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Cấu Trúc Dữ Liệu &amp; Giải Thuật (Data Structures &amp; Algorithms) - Tìm kiếm (Search)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34A7E-C659-4280-821C-8452D59AC0B3}" type="datetime1">
              <a:rPr lang="en-US" smtClean="0"/>
              <a:t>10/7/2024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82F98-F548-4E33-958E-D2A6C4BA8E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300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709" y="152400"/>
            <a:ext cx="9753600" cy="12954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709" y="1524001"/>
            <a:ext cx="4876800" cy="816429"/>
          </a:xfrm>
        </p:spPr>
        <p:txBody>
          <a:bodyPr anchor="ctr">
            <a:normAutofit/>
          </a:bodyPr>
          <a:lstStyle>
            <a:lvl1pPr marL="0" indent="0">
              <a:buNone/>
              <a:defRPr sz="2800" b="0">
                <a:solidFill>
                  <a:srgbClr val="002060"/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709" y="2413001"/>
            <a:ext cx="4876800" cy="3759199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5999" y="1524001"/>
            <a:ext cx="4876800" cy="816429"/>
          </a:xfrm>
        </p:spPr>
        <p:txBody>
          <a:bodyPr anchor="ctr">
            <a:normAutofit/>
          </a:bodyPr>
          <a:lstStyle>
            <a:lvl1pPr marL="0" indent="0">
              <a:buNone/>
              <a:defRPr sz="2800" b="0">
                <a:solidFill>
                  <a:srgbClr val="002060"/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95999" y="2413001"/>
            <a:ext cx="4876800" cy="3759199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Cấu Trúc Dữ Liệu &amp; Giải Thuật (Data Structures &amp; Algorithms) - Tìm kiếm (Search)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A6A8CC-01A1-40B8-AA30-2D95A65AF086}" type="datetime1">
              <a:rPr lang="en-US" smtClean="0"/>
              <a:t>10/7/2024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82F98-F548-4E33-958E-D2A6C4BA8E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4225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Cấu Trúc Dữ Liệu &amp; Giải Thuật (Data Structures &amp; Algorithms) - Tìm kiếm (Search)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AA318-41FA-4E24-AF56-19AD7AD3FACF}" type="datetime1">
              <a:rPr lang="en-US" smtClean="0"/>
              <a:t>10/7/2024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82F98-F548-4E33-958E-D2A6C4BA8E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6762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Cấu Trúc Dữ Liệu &amp; Giải Thuật (Data Structures &amp; Algorithms) - Tìm kiếm (Search)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E2E29-487A-4E53-A94A-4BE9004F0D0D}" type="datetime1">
              <a:rPr lang="en-US" smtClean="0"/>
              <a:t>10/7/2024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82F98-F548-4E33-958E-D2A6C4BA8EFA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F0C1564-F4CB-4080-B340-F91FCF920A0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50" y="70365"/>
            <a:ext cx="1068282" cy="882027"/>
          </a:xfrm>
          <a:prstGeom prst="rect">
            <a:avLst/>
          </a:prstGeom>
        </p:spPr>
      </p:pic>
      <p:grpSp>
        <p:nvGrpSpPr>
          <p:cNvPr id="7" name="squares">
            <a:extLst>
              <a:ext uri="{FF2B5EF4-FFF2-40B4-BE49-F238E27FC236}">
                <a16:creationId xmlns:a16="http://schemas.microsoft.com/office/drawing/2014/main" id="{47DEEE63-A1BC-4A43-A4AD-76951E5D7313}"/>
              </a:ext>
            </a:extLst>
          </p:cNvPr>
          <p:cNvGrpSpPr/>
          <p:nvPr userDrawn="1"/>
        </p:nvGrpSpPr>
        <p:grpSpPr>
          <a:xfrm>
            <a:off x="1523" y="5639016"/>
            <a:ext cx="1141709" cy="533185"/>
            <a:chOff x="0" y="2343311"/>
            <a:chExt cx="1217066" cy="603796"/>
          </a:xfrm>
        </p:grpSpPr>
        <p:sp>
          <p:nvSpPr>
            <p:cNvPr id="8" name="Rounded Rectangle 7">
              <a:extLst>
                <a:ext uri="{FF2B5EF4-FFF2-40B4-BE49-F238E27FC236}">
                  <a16:creationId xmlns:a16="http://schemas.microsoft.com/office/drawing/2014/main" id="{A77A6632-F6E5-43A1-84B0-4AE988F94BFC}"/>
                </a:ext>
              </a:extLst>
            </p:cNvPr>
            <p:cNvSpPr/>
            <p:nvPr/>
          </p:nvSpPr>
          <p:spPr>
            <a:xfrm>
              <a:off x="787514" y="2347123"/>
              <a:ext cx="429552" cy="599984"/>
            </a:xfrm>
            <a:prstGeom prst="round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9" name="Rounded Rectangle 8">
              <a:extLst>
                <a:ext uri="{FF2B5EF4-FFF2-40B4-BE49-F238E27FC236}">
                  <a16:creationId xmlns:a16="http://schemas.microsoft.com/office/drawing/2014/main" id="{8425D3A9-E201-49FC-8A02-A00F4FAA158A}"/>
                </a:ext>
              </a:extLst>
            </p:cNvPr>
            <p:cNvSpPr/>
            <p:nvPr/>
          </p:nvSpPr>
          <p:spPr>
            <a:xfrm>
              <a:off x="286370" y="2347123"/>
              <a:ext cx="429552" cy="599984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0" name="Round Same Side Corner Rectangle 9">
              <a:extLst>
                <a:ext uri="{FF2B5EF4-FFF2-40B4-BE49-F238E27FC236}">
                  <a16:creationId xmlns:a16="http://schemas.microsoft.com/office/drawing/2014/main" id="{476A3E42-3880-4E46-9109-3363DDD8FF50}"/>
                </a:ext>
              </a:extLst>
            </p:cNvPr>
            <p:cNvSpPr/>
            <p:nvPr/>
          </p:nvSpPr>
          <p:spPr>
            <a:xfrm rot="5400000">
              <a:off x="-192604" y="2535915"/>
              <a:ext cx="599986" cy="214778"/>
            </a:xfrm>
            <a:prstGeom prst="round2SameRect">
              <a:avLst>
                <a:gd name="adj1" fmla="val 29167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</p:grp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5AA3E34-53C5-4668-AF9A-A0EA9AF4B2C4}"/>
              </a:ext>
            </a:extLst>
          </p:cNvPr>
          <p:cNvCxnSpPr/>
          <p:nvPr userDrawn="1"/>
        </p:nvCxnSpPr>
        <p:spPr>
          <a:xfrm>
            <a:off x="1219200" y="1447800"/>
            <a:ext cx="10680243" cy="0"/>
          </a:xfrm>
          <a:prstGeom prst="line">
            <a:avLst/>
          </a:prstGeom>
          <a:ln w="19050">
            <a:solidFill>
              <a:srgbClr val="0000A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6636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squares">
            <a:extLst>
              <a:ext uri="{FF2B5EF4-FFF2-40B4-BE49-F238E27FC236}">
                <a16:creationId xmlns:a16="http://schemas.microsoft.com/office/drawing/2014/main" id="{C57A4AB8-5D15-44AC-8A80-ED2E069BBD22}"/>
              </a:ext>
            </a:extLst>
          </p:cNvPr>
          <p:cNvGrpSpPr/>
          <p:nvPr/>
        </p:nvGrpSpPr>
        <p:grpSpPr>
          <a:xfrm>
            <a:off x="0" y="2918442"/>
            <a:ext cx="1622755" cy="805061"/>
            <a:chOff x="0" y="2343311"/>
            <a:chExt cx="1217066" cy="603796"/>
          </a:xfrm>
        </p:grpSpPr>
        <p:sp>
          <p:nvSpPr>
            <p:cNvPr id="3" name="Rounded Rectangle 7">
              <a:extLst>
                <a:ext uri="{FF2B5EF4-FFF2-40B4-BE49-F238E27FC236}">
                  <a16:creationId xmlns:a16="http://schemas.microsoft.com/office/drawing/2014/main" id="{478D5619-DEF4-4F6F-BC11-78D556BE6DF3}"/>
                </a:ext>
              </a:extLst>
            </p:cNvPr>
            <p:cNvSpPr/>
            <p:nvPr/>
          </p:nvSpPr>
          <p:spPr>
            <a:xfrm>
              <a:off x="787514" y="2347123"/>
              <a:ext cx="429552" cy="599984"/>
            </a:xfrm>
            <a:prstGeom prst="round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4" name="Rounded Rectangle 8">
              <a:extLst>
                <a:ext uri="{FF2B5EF4-FFF2-40B4-BE49-F238E27FC236}">
                  <a16:creationId xmlns:a16="http://schemas.microsoft.com/office/drawing/2014/main" id="{27B79603-57DF-4000-ACF1-94A257895CD9}"/>
                </a:ext>
              </a:extLst>
            </p:cNvPr>
            <p:cNvSpPr/>
            <p:nvPr/>
          </p:nvSpPr>
          <p:spPr>
            <a:xfrm>
              <a:off x="286370" y="2347123"/>
              <a:ext cx="429552" cy="599984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5" name="Round Same Side Corner Rectangle 9">
              <a:extLst>
                <a:ext uri="{FF2B5EF4-FFF2-40B4-BE49-F238E27FC236}">
                  <a16:creationId xmlns:a16="http://schemas.microsoft.com/office/drawing/2014/main" id="{29F8B2DB-73B5-4BE9-9E44-64A2507214C4}"/>
                </a:ext>
              </a:extLst>
            </p:cNvPr>
            <p:cNvSpPr/>
            <p:nvPr/>
          </p:nvSpPr>
          <p:spPr>
            <a:xfrm rot="5400000">
              <a:off x="-192604" y="2535915"/>
              <a:ext cx="599986" cy="214778"/>
            </a:xfrm>
            <a:prstGeom prst="round2SameRect">
              <a:avLst>
                <a:gd name="adj1" fmla="val 29167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</p:grpSp>
    </p:spTree>
    <p:extLst>
      <p:ext uri="{BB962C8B-B14F-4D97-AF65-F5344CB8AC3E}">
        <p14:creationId xmlns:p14="http://schemas.microsoft.com/office/powerpoint/2010/main" val="17664418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76800" y="1600200"/>
            <a:ext cx="6096001" cy="45720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9200" y="1600202"/>
            <a:ext cx="3454400" cy="4571999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accent1">
                    <a:lumMod val="75000"/>
                  </a:schemeClr>
                </a:solidFill>
              </a:defRPr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Cấu Trúc Dữ Liệu &amp; Giải Thuật (Data Structures &amp; Algorithms) - Tìm kiếm (Search)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E4F302-5C5E-454B-9AA1-762F18576851}" type="datetime1">
              <a:rPr lang="en-US" smtClean="0"/>
              <a:t>10/7/2024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82F98-F548-4E33-958E-D2A6C4BA8E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22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 descr="An empty placeholder to add an image. Click on the placeholder and select the image that you wish to add"/>
          <p:cNvSpPr>
            <a:spLocks noGrp="1"/>
          </p:cNvSpPr>
          <p:nvPr>
            <p:ph type="pic" idx="1"/>
          </p:nvPr>
        </p:nvSpPr>
        <p:spPr>
          <a:xfrm>
            <a:off x="1219205" y="1600200"/>
            <a:ext cx="6705596" cy="3657600"/>
          </a:xfrm>
          <a:prstGeom prst="roundRect">
            <a:avLst>
              <a:gd name="adj" fmla="val 3098"/>
            </a:avLst>
          </a:prstGeom>
        </p:spPr>
        <p:txBody>
          <a:bodyPr>
            <a:normAutofit/>
          </a:bodyPr>
          <a:lstStyle>
            <a:lvl1pPr marL="0" indent="0">
              <a:buNone/>
              <a:defRPr sz="2700"/>
            </a:lvl1pPr>
            <a:lvl2pPr marL="609493" indent="0">
              <a:buNone/>
              <a:defRPr sz="3700"/>
            </a:lvl2pPr>
            <a:lvl3pPr marL="1218987" indent="0">
              <a:buNone/>
              <a:defRPr sz="3200"/>
            </a:lvl3pPr>
            <a:lvl4pPr marL="1828480" indent="0">
              <a:buNone/>
              <a:defRPr sz="2700"/>
            </a:lvl4pPr>
            <a:lvl5pPr marL="2437973" indent="0">
              <a:buNone/>
              <a:defRPr sz="2700"/>
            </a:lvl5pPr>
            <a:lvl6pPr marL="3047467" indent="0">
              <a:buNone/>
              <a:defRPr sz="2700"/>
            </a:lvl6pPr>
            <a:lvl7pPr marL="3656960" indent="0">
              <a:buNone/>
              <a:defRPr sz="2700"/>
            </a:lvl7pPr>
            <a:lvl8pPr marL="4266453" indent="0">
              <a:buNone/>
              <a:defRPr sz="2700"/>
            </a:lvl8pPr>
            <a:lvl9pPr marL="4875947" indent="0">
              <a:buNone/>
              <a:defRPr sz="27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28000" y="1600200"/>
            <a:ext cx="2844800" cy="3759200"/>
          </a:xfrm>
        </p:spPr>
        <p:txBody>
          <a:bodyPr anchor="b">
            <a:normAutofit/>
          </a:bodyPr>
          <a:lstStyle>
            <a:lvl1pPr marL="0" indent="0">
              <a:buNone/>
              <a:defRPr sz="2800">
                <a:solidFill>
                  <a:schemeClr val="accent1">
                    <a:lumMod val="75000"/>
                  </a:schemeClr>
                </a:solidFill>
              </a:defRPr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Cấu Trúc Dữ Liệu &amp; Giải Thuật (Data Structures &amp; Algorithms) - Tìm kiếm (Search)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70478-09B3-4FCE-A71E-F452C04634C8}" type="datetime1">
              <a:rPr lang="en-US" smtClean="0"/>
              <a:t>10/7/2024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82F98-F548-4E33-958E-D2A6C4BA8E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52967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Cấu Trúc Dữ Liệu &amp; Giải Thuật (Data Structures &amp; Algorithms) - Tìm kiếm (Search)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196CB-99E7-4531-B432-63A51BDF7FE5}" type="datetime1">
              <a:rPr lang="en-US" smtClean="0"/>
              <a:t>10/7/2024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82F98-F548-4E33-958E-D2A6C4BA8E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72081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squares"/>
          <p:cNvGrpSpPr/>
          <p:nvPr/>
        </p:nvGrpSpPr>
        <p:grpSpPr>
          <a:xfrm rot="5400000">
            <a:off x="9585642" y="233796"/>
            <a:ext cx="1063300" cy="524183"/>
            <a:chOff x="0" y="452558"/>
            <a:chExt cx="914400" cy="524182"/>
          </a:xfrm>
        </p:grpSpPr>
        <p:sp>
          <p:nvSpPr>
            <p:cNvPr id="8" name="Rounded Rectangle 7"/>
            <p:cNvSpPr/>
            <p:nvPr/>
          </p:nvSpPr>
          <p:spPr>
            <a:xfrm>
              <a:off x="591671" y="452558"/>
              <a:ext cx="322729" cy="524180"/>
            </a:xfrm>
            <a:prstGeom prst="round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215154" y="452558"/>
              <a:ext cx="322729" cy="524180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0" name="Round Same Side Corner Rectangle 9"/>
            <p:cNvSpPr/>
            <p:nvPr/>
          </p:nvSpPr>
          <p:spPr>
            <a:xfrm rot="5400000">
              <a:off x="-181408" y="633966"/>
              <a:ext cx="524182" cy="161366"/>
            </a:xfrm>
            <a:prstGeom prst="round2SameRect">
              <a:avLst>
                <a:gd name="adj1" fmla="val 29167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</p:grpSp>
      <p:grpSp>
        <p:nvGrpSpPr>
          <p:cNvPr id="15" name="bottom graphic"/>
          <p:cNvGrpSpPr/>
          <p:nvPr/>
        </p:nvGrpSpPr>
        <p:grpSpPr>
          <a:xfrm>
            <a:off x="1" y="5395518"/>
            <a:ext cx="12192000" cy="1462483"/>
            <a:chOff x="0" y="4046638"/>
            <a:chExt cx="9144000" cy="1096862"/>
          </a:xfrm>
        </p:grpSpPr>
        <p:sp>
          <p:nvSpPr>
            <p:cNvPr id="16" name="Freeform 15"/>
            <p:cNvSpPr/>
            <p:nvPr/>
          </p:nvSpPr>
          <p:spPr bwMode="ltGray">
            <a:xfrm rot="5400000">
              <a:off x="4119794" y="119293"/>
              <a:ext cx="904412" cy="9144000"/>
            </a:xfrm>
            <a:custGeom>
              <a:avLst/>
              <a:gdLst/>
              <a:ahLst/>
              <a:cxnLst/>
              <a:rect l="l" t="t" r="r" b="b"/>
              <a:pathLst>
                <a:path w="904412" h="9144000">
                  <a:moveTo>
                    <a:pt x="0" y="0"/>
                  </a:moveTo>
                  <a:lnTo>
                    <a:pt x="904412" y="0"/>
                  </a:lnTo>
                  <a:lnTo>
                    <a:pt x="904412" y="9144000"/>
                  </a:lnTo>
                  <a:lnTo>
                    <a:pt x="391235" y="9144000"/>
                  </a:lnTo>
                  <a:cubicBezTo>
                    <a:pt x="445385" y="6730684"/>
                    <a:pt x="250230" y="1995757"/>
                    <a:pt x="0" y="0"/>
                  </a:cubicBezTo>
                  <a:close/>
                </a:path>
              </a:pathLst>
            </a:custGeom>
            <a:solidFill>
              <a:schemeClr val="tx1">
                <a:alpha val="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7" name="Rectangle 72"/>
            <p:cNvSpPr/>
            <p:nvPr/>
          </p:nvSpPr>
          <p:spPr bwMode="ltGray">
            <a:xfrm rot="5400000">
              <a:off x="4023569" y="23069"/>
              <a:ext cx="1096862" cy="9144000"/>
            </a:xfrm>
            <a:custGeom>
              <a:avLst/>
              <a:gdLst/>
              <a:ahLst/>
              <a:cxnLst/>
              <a:rect l="l" t="t" r="r" b="b"/>
              <a:pathLst>
                <a:path w="1096862" h="9144000">
                  <a:moveTo>
                    <a:pt x="1096861" y="9136375"/>
                  </a:moveTo>
                  <a:lnTo>
                    <a:pt x="1096861" y="0"/>
                  </a:lnTo>
                  <a:lnTo>
                    <a:pt x="1096862" y="0"/>
                  </a:lnTo>
                  <a:lnTo>
                    <a:pt x="1096862" y="9136375"/>
                  </a:lnTo>
                  <a:close/>
                  <a:moveTo>
                    <a:pt x="0" y="0"/>
                  </a:moveTo>
                  <a:lnTo>
                    <a:pt x="142171" y="0"/>
                  </a:lnTo>
                  <a:cubicBezTo>
                    <a:pt x="214017" y="532804"/>
                    <a:pt x="281641" y="1260834"/>
                    <a:pt x="340913" y="2087809"/>
                  </a:cubicBezTo>
                  <a:cubicBezTo>
                    <a:pt x="492781" y="4358443"/>
                    <a:pt x="587048" y="7374964"/>
                    <a:pt x="547354" y="9144000"/>
                  </a:cubicBezTo>
                  <a:lnTo>
                    <a:pt x="452132" y="9144000"/>
                  </a:lnTo>
                  <a:cubicBezTo>
                    <a:pt x="484963" y="4670358"/>
                    <a:pt x="240277" y="2482661"/>
                    <a:pt x="0" y="0"/>
                  </a:cubicBezTo>
                  <a:close/>
                </a:path>
              </a:pathLst>
            </a:custGeom>
            <a:solidFill>
              <a:schemeClr val="tx1">
                <a:alpha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sz="1800"/>
            </a:p>
          </p:txBody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53600" y="1150515"/>
            <a:ext cx="1828800" cy="502168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9200" y="1150515"/>
            <a:ext cx="8229600" cy="5021685"/>
          </a:xfrm>
        </p:spPr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Cấu Trúc Dữ Liệu &amp; Giải Thuật (Data Structures &amp; Algorithms) - Tìm kiếm (Search)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F1636-0183-404C-BCE7-A87F811C3B9C}" type="datetime1">
              <a:rPr lang="en-US" smtClean="0"/>
              <a:t>10/7/2024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82F98-F548-4E33-958E-D2A6C4BA8E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0201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977AEAD2-D5F9-4E1D-B0A6-604BACEE5E4E}"/>
              </a:ext>
            </a:extLst>
          </p:cNvPr>
          <p:cNvGrpSpPr/>
          <p:nvPr/>
        </p:nvGrpSpPr>
        <p:grpSpPr>
          <a:xfrm>
            <a:off x="9201323" y="1"/>
            <a:ext cx="2990677" cy="977265"/>
            <a:chOff x="3054154" y="4685464"/>
            <a:chExt cx="2989898" cy="977265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D213D99B-2104-4A9F-BDE3-982717982595}"/>
                </a:ext>
              </a:extLst>
            </p:cNvPr>
            <p:cNvSpPr/>
            <p:nvPr/>
          </p:nvSpPr>
          <p:spPr>
            <a:xfrm>
              <a:off x="3331332" y="5066464"/>
              <a:ext cx="2331720" cy="32004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>
                  <a:latin typeface="Arial" panose="020B0604020202020204" pitchFamily="34" charset="0"/>
                  <a:cs typeface="Arial" panose="020B0604020202020204" pitchFamily="34" charset="0"/>
                </a:rPr>
                <a:t>www.hoasen.edu.vn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A12289B9-AF49-4D19-8E64-44D48F3EDA25}"/>
                </a:ext>
              </a:extLst>
            </p:cNvPr>
            <p:cNvSpPr/>
            <p:nvPr/>
          </p:nvSpPr>
          <p:spPr>
            <a:xfrm>
              <a:off x="3054154" y="5385551"/>
              <a:ext cx="277178" cy="27717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80CC91CA-C7FB-4A6F-9352-75B89CB56F9D}"/>
                </a:ext>
              </a:extLst>
            </p:cNvPr>
            <p:cNvSpPr/>
            <p:nvPr/>
          </p:nvSpPr>
          <p:spPr>
            <a:xfrm>
              <a:off x="5663052" y="4685464"/>
              <a:ext cx="381000" cy="381000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pic>
        <p:nvPicPr>
          <p:cNvPr id="20" name="Picture 19">
            <a:extLst>
              <a:ext uri="{FF2B5EF4-FFF2-40B4-BE49-F238E27FC236}">
                <a16:creationId xmlns:a16="http://schemas.microsoft.com/office/drawing/2014/main" id="{8A093B63-C705-43D6-A50C-B1CD2E6E94E5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50" y="70365"/>
            <a:ext cx="1068282" cy="882027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19201" y="152400"/>
            <a:ext cx="10680242" cy="1295400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9200" y="1600200"/>
            <a:ext cx="10667999" cy="4572000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19201" y="6448425"/>
            <a:ext cx="8290560" cy="180976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l">
              <a:defRPr sz="1200">
                <a:solidFill>
                  <a:srgbClr val="002060"/>
                </a:solidFill>
              </a:defRPr>
            </a:lvl1pPr>
          </a:lstStyle>
          <a:p>
            <a:r>
              <a:rPr lang="en-US"/>
              <a:t>Cấu Trúc Dữ Liệu &amp; Giải Thuật (Data Structures &amp; Algorithms) - Tìm kiếm (Search)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550400" y="6448425"/>
            <a:ext cx="1422400" cy="180976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r">
              <a:defRPr sz="1200">
                <a:solidFill>
                  <a:srgbClr val="002060"/>
                </a:solidFill>
              </a:defRPr>
            </a:lvl1pPr>
          </a:lstStyle>
          <a:p>
            <a:fld id="{CC51944E-48AB-4329-9934-33C222D816C0}" type="datetime1">
              <a:rPr lang="en-US" smtClean="0"/>
              <a:t>10/7/2024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074400" y="6448425"/>
            <a:ext cx="812800" cy="180976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r">
              <a:defRPr sz="1200">
                <a:solidFill>
                  <a:srgbClr val="002060"/>
                </a:solidFill>
              </a:defRPr>
            </a:lvl1pPr>
          </a:lstStyle>
          <a:p>
            <a:fld id="{21782F98-F548-4E33-958E-D2A6C4BA8EFA}" type="slidenum">
              <a:rPr lang="en-US" smtClean="0"/>
              <a:t>‹#›</a:t>
            </a:fld>
            <a:endParaRPr lang="en-US"/>
          </a:p>
        </p:txBody>
      </p:sp>
      <p:grpSp>
        <p:nvGrpSpPr>
          <p:cNvPr id="24" name="squares">
            <a:extLst>
              <a:ext uri="{FF2B5EF4-FFF2-40B4-BE49-F238E27FC236}">
                <a16:creationId xmlns:a16="http://schemas.microsoft.com/office/drawing/2014/main" id="{D12F9285-888D-4066-97B6-C5AFB2FF7829}"/>
              </a:ext>
            </a:extLst>
          </p:cNvPr>
          <p:cNvGrpSpPr/>
          <p:nvPr/>
        </p:nvGrpSpPr>
        <p:grpSpPr>
          <a:xfrm>
            <a:off x="1523" y="5639016"/>
            <a:ext cx="1141709" cy="533185"/>
            <a:chOff x="0" y="2343311"/>
            <a:chExt cx="1217066" cy="603796"/>
          </a:xfrm>
        </p:grpSpPr>
        <p:sp>
          <p:nvSpPr>
            <p:cNvPr id="25" name="Rounded Rectangle 7">
              <a:extLst>
                <a:ext uri="{FF2B5EF4-FFF2-40B4-BE49-F238E27FC236}">
                  <a16:creationId xmlns:a16="http://schemas.microsoft.com/office/drawing/2014/main" id="{0C599B0C-42A9-4F5A-A15F-B95B1EF9248D}"/>
                </a:ext>
              </a:extLst>
            </p:cNvPr>
            <p:cNvSpPr/>
            <p:nvPr/>
          </p:nvSpPr>
          <p:spPr>
            <a:xfrm>
              <a:off x="787514" y="2347123"/>
              <a:ext cx="429552" cy="599984"/>
            </a:xfrm>
            <a:prstGeom prst="round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26" name="Rounded Rectangle 8">
              <a:extLst>
                <a:ext uri="{FF2B5EF4-FFF2-40B4-BE49-F238E27FC236}">
                  <a16:creationId xmlns:a16="http://schemas.microsoft.com/office/drawing/2014/main" id="{E527A34F-7FEF-4267-86B1-646FD0EC10D2}"/>
                </a:ext>
              </a:extLst>
            </p:cNvPr>
            <p:cNvSpPr/>
            <p:nvPr/>
          </p:nvSpPr>
          <p:spPr>
            <a:xfrm>
              <a:off x="286370" y="2347123"/>
              <a:ext cx="429552" cy="599984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27" name="Round Same Side Corner Rectangle 9">
              <a:extLst>
                <a:ext uri="{FF2B5EF4-FFF2-40B4-BE49-F238E27FC236}">
                  <a16:creationId xmlns:a16="http://schemas.microsoft.com/office/drawing/2014/main" id="{A279244A-E685-4D66-95DE-1CF0D73BE881}"/>
                </a:ext>
              </a:extLst>
            </p:cNvPr>
            <p:cNvSpPr/>
            <p:nvPr/>
          </p:nvSpPr>
          <p:spPr>
            <a:xfrm rot="5400000">
              <a:off x="-192604" y="2535915"/>
              <a:ext cx="599986" cy="214778"/>
            </a:xfrm>
            <a:prstGeom prst="round2SameRect">
              <a:avLst>
                <a:gd name="adj1" fmla="val 29167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</p:grp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EDE68FC5-648F-42FD-B3A1-4A4175E6CA61}"/>
              </a:ext>
            </a:extLst>
          </p:cNvPr>
          <p:cNvCxnSpPr/>
          <p:nvPr/>
        </p:nvCxnSpPr>
        <p:spPr>
          <a:xfrm>
            <a:off x="1219200" y="1447800"/>
            <a:ext cx="10680243" cy="0"/>
          </a:xfrm>
          <a:prstGeom prst="line">
            <a:avLst/>
          </a:prstGeom>
          <a:ln w="19050">
            <a:solidFill>
              <a:srgbClr val="0000A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03255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72" r:id="rId7"/>
    <p:sldLayoutId id="2147483667" r:id="rId8"/>
    <p:sldLayoutId id="2147483668" r:id="rId9"/>
    <p:sldLayoutId id="2147483669" r:id="rId10"/>
    <p:sldLayoutId id="2147483670" r:id="rId11"/>
    <p:sldLayoutId id="2147483671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1218987" rtl="0" eaLnBrk="1" latinLnBrk="0" hangingPunct="1">
        <a:spcBef>
          <a:spcPct val="0"/>
        </a:spcBef>
        <a:buNone/>
        <a:defRPr sz="3600" kern="1200">
          <a:solidFill>
            <a:schemeClr val="accent3">
              <a:lumMod val="75000"/>
            </a:schemeClr>
          </a:solidFill>
          <a:latin typeface="Verdana" panose="020B0604030504040204" pitchFamily="34" charset="0"/>
          <a:ea typeface="Verdana" panose="020B0604030504040204" pitchFamily="34" charset="0"/>
          <a:cs typeface="+mj-cs"/>
        </a:defRPr>
      </a:lvl1pPr>
    </p:titleStyle>
    <p:bodyStyle>
      <a:lvl1pPr marL="304747" indent="-304747" algn="just" defTabSz="1218987" rtl="0" eaLnBrk="1" latinLnBrk="0" hangingPunct="1">
        <a:lnSpc>
          <a:spcPct val="110000"/>
        </a:lnSpc>
        <a:spcBef>
          <a:spcPts val="1800"/>
        </a:spcBef>
        <a:buClr>
          <a:schemeClr val="accent4">
            <a:lumMod val="50000"/>
          </a:schemeClr>
        </a:buClr>
        <a:buFont typeface="Wingdings" panose="05000000000000000000" pitchFamily="2" charset="2"/>
        <a:buChar char="§"/>
        <a:defRPr sz="2400" kern="1200">
          <a:solidFill>
            <a:srgbClr val="002060"/>
          </a:solidFill>
          <a:latin typeface="Verdana" panose="020B0604030504040204" pitchFamily="34" charset="0"/>
          <a:ea typeface="Verdana" panose="020B0604030504040204" pitchFamily="34" charset="0"/>
          <a:cs typeface="+mn-cs"/>
        </a:defRPr>
      </a:lvl1pPr>
      <a:lvl2pPr marL="755772" indent="-304747" algn="just" defTabSz="1218987" rtl="0" eaLnBrk="1" latinLnBrk="0" hangingPunct="1">
        <a:lnSpc>
          <a:spcPct val="110000"/>
        </a:lnSpc>
        <a:spcBef>
          <a:spcPts val="1200"/>
        </a:spcBef>
        <a:buClr>
          <a:schemeClr val="accent4">
            <a:lumMod val="50000"/>
          </a:schemeClr>
        </a:buClr>
        <a:buFont typeface="Arial" panose="020B0604020202020204" pitchFamily="34" charset="0"/>
        <a:buChar char="•"/>
        <a:defRPr sz="2000" kern="1200">
          <a:solidFill>
            <a:srgbClr val="002060"/>
          </a:solidFill>
          <a:latin typeface="Verdana" panose="020B0604030504040204" pitchFamily="34" charset="0"/>
          <a:ea typeface="Verdana" panose="020B0604030504040204" pitchFamily="34" charset="0"/>
          <a:cs typeface="+mn-cs"/>
        </a:defRPr>
      </a:lvl2pPr>
      <a:lvl3pPr marL="1206797" indent="-304747" algn="just" defTabSz="1218987" rtl="0" eaLnBrk="1" latinLnBrk="0" hangingPunct="1">
        <a:lnSpc>
          <a:spcPct val="110000"/>
        </a:lnSpc>
        <a:spcBef>
          <a:spcPts val="800"/>
        </a:spcBef>
        <a:buClr>
          <a:schemeClr val="accent4">
            <a:lumMod val="50000"/>
          </a:schemeClr>
        </a:buClr>
        <a:buFont typeface="Verdana" panose="020B0604030504040204" pitchFamily="34" charset="0"/>
        <a:buChar char="−"/>
        <a:defRPr sz="1800" kern="1200">
          <a:solidFill>
            <a:srgbClr val="002060"/>
          </a:solidFill>
          <a:latin typeface="Verdana" panose="020B0604030504040204" pitchFamily="34" charset="0"/>
          <a:ea typeface="Verdana" panose="020B0604030504040204" pitchFamily="34" charset="0"/>
          <a:cs typeface="+mn-cs"/>
        </a:defRPr>
      </a:lvl3pPr>
      <a:lvl4pPr marL="1657822" indent="-304747" algn="just" defTabSz="1218987" rtl="0" eaLnBrk="1" latinLnBrk="0" hangingPunct="1">
        <a:lnSpc>
          <a:spcPct val="110000"/>
        </a:lnSpc>
        <a:spcBef>
          <a:spcPts val="800"/>
        </a:spcBef>
        <a:buClr>
          <a:schemeClr val="accent4">
            <a:lumMod val="50000"/>
          </a:schemeClr>
        </a:buClr>
        <a:buFont typeface="Arial" pitchFamily="34" charset="0"/>
        <a:buChar char="•"/>
        <a:defRPr sz="1800" kern="1200">
          <a:solidFill>
            <a:srgbClr val="002060"/>
          </a:solidFill>
          <a:latin typeface="Verdana" panose="020B0604030504040204" pitchFamily="34" charset="0"/>
          <a:ea typeface="Verdana" panose="020B0604030504040204" pitchFamily="34" charset="0"/>
          <a:cs typeface="+mn-cs"/>
        </a:defRPr>
      </a:lvl4pPr>
      <a:lvl5pPr marL="2108847" indent="-304747" algn="just" defTabSz="1218987" rtl="0" eaLnBrk="1" latinLnBrk="0" hangingPunct="1">
        <a:lnSpc>
          <a:spcPct val="110000"/>
        </a:lnSpc>
        <a:spcBef>
          <a:spcPts val="800"/>
        </a:spcBef>
        <a:buClr>
          <a:schemeClr val="accent4">
            <a:lumMod val="50000"/>
          </a:schemeClr>
        </a:buClr>
        <a:buFont typeface="Arial" pitchFamily="34" charset="0"/>
        <a:buChar char="•"/>
        <a:defRPr sz="1800" kern="1200">
          <a:solidFill>
            <a:srgbClr val="002060"/>
          </a:solidFill>
          <a:latin typeface="Verdana" panose="020B0604030504040204" pitchFamily="34" charset="0"/>
          <a:ea typeface="Verdana" panose="020B0604030504040204" pitchFamily="34" charset="0"/>
          <a:cs typeface="+mn-cs"/>
        </a:defRPr>
      </a:lvl5pPr>
      <a:lvl6pPr marL="2559872" indent="-30474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3010897" indent="-30474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61922" indent="-30474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912947" indent="-30474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39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gi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19201" y="1905000"/>
            <a:ext cx="10666492" cy="2209800"/>
          </a:xfrm>
        </p:spPr>
        <p:txBody>
          <a:bodyPr/>
          <a:lstStyle/>
          <a:p>
            <a:pPr algn="r"/>
            <a:br>
              <a:rPr lang="en-US" sz="7200">
                <a:solidFill>
                  <a:schemeClr val="accent4"/>
                </a:solidFill>
              </a:rPr>
            </a:br>
            <a:r>
              <a:rPr lang="en-US" sz="7200">
                <a:solidFill>
                  <a:schemeClr val="accent4"/>
                </a:solidFill>
              </a:rPr>
              <a:t>Cấu Trúc Dữ Liệu</a:t>
            </a:r>
            <a:br>
              <a:rPr lang="en-US" sz="7200">
                <a:solidFill>
                  <a:schemeClr val="accent4"/>
                </a:solidFill>
              </a:rPr>
            </a:br>
            <a:r>
              <a:rPr lang="en-US" sz="7200">
                <a:solidFill>
                  <a:schemeClr val="accent4"/>
                </a:solidFill>
              </a:rPr>
              <a:t>&amp; Giải Thuật</a:t>
            </a:r>
            <a:endParaRPr lang="en-US" sz="13800">
              <a:solidFill>
                <a:schemeClr val="accent4"/>
              </a:solidFill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9EA06A3-8B8E-4F32-A4A5-E44F102A338C}"/>
              </a:ext>
            </a:extLst>
          </p:cNvPr>
          <p:cNvSpPr txBox="1">
            <a:spLocks/>
          </p:cNvSpPr>
          <p:nvPr/>
        </p:nvSpPr>
        <p:spPr>
          <a:xfrm>
            <a:off x="1219201" y="4114800"/>
            <a:ext cx="10666492" cy="647700"/>
          </a:xfrm>
          <a:prstGeom prst="rect">
            <a:avLst/>
          </a:prstGeom>
        </p:spPr>
        <p:txBody>
          <a:bodyPr vert="horz" lIns="121899" tIns="60949" rIns="121899" bIns="60949" rtlCol="0" anchor="b">
            <a:no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>
            <a:lvl1pPr algn="l" defTabSz="1218987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6000" b="0" kern="1200" cap="none" spc="0">
                <a:ln w="0"/>
                <a:solidFill>
                  <a:schemeClr val="accent3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  <a:cs typeface="+mj-cs"/>
              </a:defRPr>
            </a:lvl1pPr>
          </a:lstStyle>
          <a:p>
            <a:pPr algn="r"/>
            <a:br>
              <a:rPr lang="en-US" sz="2800">
                <a:solidFill>
                  <a:srgbClr val="0070C0"/>
                </a:solidFill>
              </a:rPr>
            </a:br>
            <a:r>
              <a:rPr lang="en-US" sz="2800">
                <a:solidFill>
                  <a:srgbClr val="0000AC"/>
                </a:solidFill>
              </a:rPr>
              <a:t>Data Structures &amp; Algorithms</a:t>
            </a:r>
          </a:p>
        </p:txBody>
      </p:sp>
    </p:spTree>
    <p:extLst>
      <p:ext uri="{BB962C8B-B14F-4D97-AF65-F5344CB8AC3E}">
        <p14:creationId xmlns:p14="http://schemas.microsoft.com/office/powerpoint/2010/main" val="28018350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20000"/>
            <a:lum/>
          </a:blip>
          <a:srcRect/>
          <a:stretch>
            <a:fillRect l="20000" t="20000" r="20000" b="1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Bài 3 – Tìm Kiếm (Search)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/>
              <a:t>Giới thiệu</a:t>
            </a:r>
          </a:p>
          <a:p>
            <a:r>
              <a:rPr lang="en-AU"/>
              <a:t>Tìm kiếm tuyến tính/tuần t</a:t>
            </a:r>
            <a:r>
              <a:rPr lang="en-US"/>
              <a:t>ự (</a:t>
            </a:r>
            <a:r>
              <a:rPr lang="en-AU"/>
              <a:t>Linear Search/Sequential Search)</a:t>
            </a:r>
          </a:p>
          <a:p>
            <a:r>
              <a:rPr lang="en-AU"/>
              <a:t>Tìm kiếm nhị phân (Binary Search)</a:t>
            </a:r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Cấu Trúc Dữ Liệu &amp; Giải Thuật (Data Structures &amp; Algorithms) - Tìm kiếm (Search)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18E57-2E85-48F8-A260-9272C73E9EEF}" type="datetime1">
              <a:rPr lang="en-US" smtClean="0"/>
              <a:t>10/7/2024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99D79-8A4B-4031-B1E0-AF26F8EDF2BC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28044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BCC49-2257-4A5D-B37E-EA56086EB0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Giới thiệu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91A713-C497-43FD-AB0A-DA9189DADE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1" indent="-342900">
              <a:buClr>
                <a:srgbClr val="002776"/>
              </a:buClr>
              <a:buFont typeface="Wingdings" panose="05000000000000000000" pitchFamily="2" charset="2"/>
              <a:buChar char="§"/>
            </a:pPr>
            <a:r>
              <a:rPr lang="en-AU" altLang="en-US" sz="3200">
                <a:solidFill>
                  <a:srgbClr val="001A4F"/>
                </a:solidFill>
              </a:rPr>
              <a:t>Tìm kiếm là quá trình so khớp các phần tử của một danh sách với một giá trị cho trước (khóa tìm kiếm).</a:t>
            </a:r>
          </a:p>
          <a:p>
            <a:pPr marL="342900" lvl="1" indent="-342900">
              <a:buClr>
                <a:srgbClr val="002776"/>
              </a:buClr>
              <a:buFont typeface="Wingdings" panose="05000000000000000000" pitchFamily="2" charset="2"/>
              <a:buChar char="§"/>
            </a:pPr>
            <a:r>
              <a:rPr lang="en-AU" altLang="en-US" sz="3200">
                <a:solidFill>
                  <a:srgbClr val="001A4F"/>
                </a:solidFill>
              </a:rPr>
              <a:t>Kết quả tìm kiếm là vị trí của phần tử thỏa mãn điều kiện tìm kiếm (trùng với khóa tìm kiếm),</a:t>
            </a:r>
            <a:r>
              <a:rPr lang="en-AU" altLang="en-US" sz="3200">
                <a:solidFill>
                  <a:srgbClr val="001A4F"/>
                </a:solidFill>
                <a:sym typeface="Wingdings" panose="05000000000000000000" pitchFamily="2" charset="2"/>
              </a:rPr>
              <a:t> n</a:t>
            </a:r>
            <a:r>
              <a:rPr lang="en-AU" altLang="en-US" sz="3200">
                <a:solidFill>
                  <a:srgbClr val="001A4F"/>
                </a:solidFill>
              </a:rPr>
              <a:t>ếu không tìm thấy sẽ trả về giá trị -1 hoặc NULL.</a:t>
            </a:r>
            <a:endParaRPr lang="en-AU" altLang="en-US">
              <a:solidFill>
                <a:srgbClr val="001A4F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F8800A-9DCD-4E68-819D-9B51CE3B7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Cấu Trúc Dữ Liệu &amp; Giải Thuật (Data Structures &amp; Algorithms) - Tìm kiếm (Search)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EC08AF-6430-4753-9FAA-3F12B496E6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CBC16-65FB-40C8-A34B-4DF3D18F4774}" type="datetime1">
              <a:rPr lang="en-US" smtClean="0"/>
              <a:t>10/7/2024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E70A65-69DF-4FE7-A973-932A71C82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82F98-F548-4E33-958E-D2A6C4BA8EF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55705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C62638-03A9-4129-99DC-AA550E4C3E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Linear search – </a:t>
            </a:r>
            <a:r>
              <a:rPr lang="en-US"/>
              <a:t>Ý t</a:t>
            </a:r>
            <a:r>
              <a:rPr lang="vi-VN"/>
              <a:t>ư</a:t>
            </a:r>
            <a:r>
              <a:rPr lang="en-US"/>
              <a:t>ởng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3E27B5-C90B-4519-9F19-5670B2B2C9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rgbClr val="002776"/>
              </a:buClr>
            </a:pPr>
            <a:r>
              <a:rPr lang="vi-VN" altLang="en-US">
                <a:solidFill>
                  <a:srgbClr val="001A4F"/>
                </a:solidFill>
              </a:rPr>
              <a:t>Bắt đầu từ phần tử đầu tiên của danh sách, so sánh lần lượt từng phần tử của danh sách với giá trị X cần tìm</a:t>
            </a:r>
            <a:r>
              <a:rPr lang="en-US" altLang="en-US">
                <a:solidFill>
                  <a:srgbClr val="001A4F"/>
                </a:solidFill>
              </a:rPr>
              <a:t>:</a:t>
            </a:r>
          </a:p>
          <a:p>
            <a:pPr lvl="1">
              <a:buClr>
                <a:srgbClr val="002776"/>
              </a:buClr>
              <a:buFont typeface="Wingdings" panose="05000000000000000000" pitchFamily="2" charset="2"/>
              <a:buChar char="§"/>
            </a:pPr>
            <a:r>
              <a:rPr lang="en-AU" altLang="en-US">
                <a:solidFill>
                  <a:srgbClr val="001A4F"/>
                </a:solidFill>
              </a:rPr>
              <a:t>Nếu có phần tử bằng X, thuật toán dừng lại (thành công).</a:t>
            </a:r>
          </a:p>
          <a:p>
            <a:pPr lvl="1">
              <a:buClr>
                <a:srgbClr val="002776"/>
              </a:buClr>
              <a:buFont typeface="Wingdings" panose="05000000000000000000" pitchFamily="2" charset="2"/>
              <a:buChar char="§"/>
            </a:pPr>
            <a:r>
              <a:rPr lang="vi-VN" altLang="en-US">
                <a:solidFill>
                  <a:srgbClr val="001A4F"/>
                </a:solidFill>
              </a:rPr>
              <a:t>Nếu đến cuối danh sách mà không có phần tử nào bằng X, thuật toán dừng lại (không thành công)</a:t>
            </a:r>
            <a:r>
              <a:rPr lang="en-US" altLang="en-US">
                <a:solidFill>
                  <a:srgbClr val="001A4F"/>
                </a:solidFill>
              </a:rPr>
              <a:t>.</a:t>
            </a:r>
            <a:endParaRPr lang="en-AU" altLang="en-US">
              <a:solidFill>
                <a:srgbClr val="001A4F"/>
              </a:solidFill>
            </a:endParaRPr>
          </a:p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DC658E7-A3FC-4313-B164-B69ED269DE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Cấu Trúc Dữ Liệu &amp; Giải Thuật (Data Structures &amp; Algorithms) - Tìm kiếm (Search)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999A0F-F97E-48E1-B5AA-BDBAC4392A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42832-1AFB-44C9-AD8C-D2438106C92E}" type="datetime1">
              <a:rPr lang="en-US" smtClean="0"/>
              <a:t>10/7/2024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650E9D-EC3C-4F92-B88E-B50349E66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82F98-F548-4E33-958E-D2A6C4BA8EFA}" type="slidenum">
              <a:rPr lang="en-US" smtClean="0"/>
              <a:t>4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AF8CC56-F7BC-45E0-BBA0-B28CEC6D41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0339" y="3886200"/>
            <a:ext cx="8111321" cy="1803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77985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C62638-03A9-4129-99DC-AA550E4C3E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Linear search – </a:t>
            </a:r>
            <a:r>
              <a:rPr lang="en-US"/>
              <a:t>Minh họa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3E27B5-C90B-4519-9F19-5670B2B2C9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9200" y="1600200"/>
            <a:ext cx="10667999" cy="2312043"/>
          </a:xfrm>
        </p:spPr>
        <p:txBody>
          <a:bodyPr/>
          <a:lstStyle/>
          <a:p>
            <a:pPr>
              <a:buClr>
                <a:srgbClr val="002776"/>
              </a:buClr>
            </a:pPr>
            <a:r>
              <a:rPr lang="vi-VN" altLang="en-US">
                <a:solidFill>
                  <a:srgbClr val="001A4F"/>
                </a:solidFill>
              </a:rPr>
              <a:t>Bắt đầu từ phần tử đầu tiên của danh sách, so sánh lần lượt từng phần tử của danh sách với giá trị X cần tìm</a:t>
            </a:r>
            <a:r>
              <a:rPr lang="en-US" altLang="en-US">
                <a:solidFill>
                  <a:srgbClr val="001A4F"/>
                </a:solidFill>
              </a:rPr>
              <a:t>:</a:t>
            </a:r>
          </a:p>
          <a:p>
            <a:pPr lvl="1">
              <a:buClr>
                <a:srgbClr val="002776"/>
              </a:buClr>
              <a:buFont typeface="Wingdings" panose="05000000000000000000" pitchFamily="2" charset="2"/>
              <a:buChar char="§"/>
            </a:pPr>
            <a:r>
              <a:rPr lang="en-AU" altLang="en-US">
                <a:solidFill>
                  <a:srgbClr val="001A4F"/>
                </a:solidFill>
              </a:rPr>
              <a:t>Nếu có phần tử bằng X, thuật toán dừng lại (thành công).</a:t>
            </a:r>
          </a:p>
          <a:p>
            <a:pPr lvl="1">
              <a:buClr>
                <a:srgbClr val="002776"/>
              </a:buClr>
              <a:buFont typeface="Wingdings" panose="05000000000000000000" pitchFamily="2" charset="2"/>
              <a:buChar char="§"/>
            </a:pPr>
            <a:r>
              <a:rPr lang="vi-VN" altLang="en-US">
                <a:solidFill>
                  <a:srgbClr val="001A4F"/>
                </a:solidFill>
              </a:rPr>
              <a:t>Nếu đến cuối danh sách mà không có phần tử nào bằng X, thuật toán dừng lại (không thành công)</a:t>
            </a:r>
            <a:r>
              <a:rPr lang="en-US" altLang="en-US">
                <a:solidFill>
                  <a:srgbClr val="001A4F"/>
                </a:solidFill>
              </a:rPr>
              <a:t>.</a:t>
            </a:r>
            <a:endParaRPr lang="en-AU" altLang="en-US">
              <a:solidFill>
                <a:srgbClr val="001A4F"/>
              </a:solidFill>
            </a:endParaRPr>
          </a:p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DC658E7-A3FC-4313-B164-B69ED269DE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Cấu Trúc Dữ Liệu &amp; Giải Thuật (Data Structures &amp; Algorithms) - Tìm kiếm (Search)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999A0F-F97E-48E1-B5AA-BDBAC4392A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42832-1AFB-44C9-AD8C-D2438106C92E}" type="datetime1">
              <a:rPr lang="en-US" smtClean="0"/>
              <a:t>10/7/2024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650E9D-EC3C-4F92-B88E-B50349E66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82F98-F548-4E33-958E-D2A6C4BA8EFA}" type="slidenum">
              <a:rPr lang="en-US" smtClean="0"/>
              <a:t>5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7DBCDDF-00A8-4B0E-A7B2-41169A859D01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1038" y="3910463"/>
            <a:ext cx="9344321" cy="2947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6365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F57FB7-21BD-4328-B2D2-A017EB648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Linear search – </a:t>
            </a:r>
            <a:r>
              <a:rPr lang="en-US"/>
              <a:t>Thuật toán &amp; cài đặt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B7055A-F1C6-442D-BBEE-73B814DD23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9201" y="1600200"/>
            <a:ext cx="5332070" cy="3139321"/>
          </a:xfrm>
        </p:spPr>
        <p:txBody>
          <a:bodyPr>
            <a:normAutofit fontScale="77500" lnSpcReduction="20000"/>
          </a:bodyPr>
          <a:lstStyle/>
          <a:p>
            <a:pPr>
              <a:buClr>
                <a:srgbClr val="002776"/>
              </a:buClr>
            </a:pPr>
            <a:r>
              <a:rPr lang="en-AU" altLang="en-US">
                <a:solidFill>
                  <a:srgbClr val="001A4F"/>
                </a:solidFill>
              </a:rPr>
              <a:t>B1: </a:t>
            </a:r>
            <a:r>
              <a:rPr lang="vi-VN" altLang="en-US">
                <a:solidFill>
                  <a:srgbClr val="001A4F"/>
                </a:solidFill>
              </a:rPr>
              <a:t>i = 0; // bắt đầu từ phần tử đầu tiên</a:t>
            </a:r>
            <a:endParaRPr lang="en-AU" altLang="en-US">
              <a:solidFill>
                <a:srgbClr val="001A4F"/>
              </a:solidFill>
            </a:endParaRPr>
          </a:p>
          <a:p>
            <a:pPr>
              <a:buClr>
                <a:srgbClr val="002776"/>
              </a:buClr>
            </a:pPr>
            <a:r>
              <a:rPr lang="en-AU" altLang="en-US">
                <a:solidFill>
                  <a:srgbClr val="001A4F"/>
                </a:solidFill>
              </a:rPr>
              <a:t>B2: </a:t>
            </a:r>
            <a:r>
              <a:rPr lang="vi-VN" altLang="en-US">
                <a:solidFill>
                  <a:srgbClr val="001A4F"/>
                </a:solidFill>
              </a:rPr>
              <a:t>so sánh </a:t>
            </a:r>
            <a:r>
              <a:rPr lang="en-US" altLang="en-US">
                <a:solidFill>
                  <a:srgbClr val="001A4F"/>
                </a:solidFill>
              </a:rPr>
              <a:t>a</a:t>
            </a:r>
            <a:r>
              <a:rPr lang="vi-VN" altLang="en-US">
                <a:solidFill>
                  <a:srgbClr val="001A4F"/>
                </a:solidFill>
              </a:rPr>
              <a:t>[i] với X, có 2 khả năng:</a:t>
            </a:r>
            <a:endParaRPr lang="en-US" altLang="en-US">
              <a:solidFill>
                <a:srgbClr val="001A4F"/>
              </a:solidFill>
            </a:endParaRPr>
          </a:p>
          <a:p>
            <a:pPr lvl="1">
              <a:buClr>
                <a:srgbClr val="002776"/>
              </a:buClr>
              <a:buFont typeface="Wingdings" panose="05000000000000000000" pitchFamily="2" charset="2"/>
              <a:buChar char="§"/>
            </a:pPr>
            <a:r>
              <a:rPr lang="en-AU" altLang="en-US">
                <a:solidFill>
                  <a:srgbClr val="001A4F"/>
                </a:solidFill>
              </a:rPr>
              <a:t>a[i] = X: tìm thấy </a:t>
            </a:r>
            <a:r>
              <a:rPr lang="en-AU" altLang="en-US">
                <a:solidFill>
                  <a:srgbClr val="001A4F"/>
                </a:solidFill>
                <a:sym typeface="Wingdings" panose="05000000000000000000" pitchFamily="2" charset="2"/>
              </a:rPr>
              <a:t></a:t>
            </a:r>
            <a:r>
              <a:rPr lang="en-AU" altLang="en-US">
                <a:solidFill>
                  <a:srgbClr val="001A4F"/>
                </a:solidFill>
              </a:rPr>
              <a:t> dừng</a:t>
            </a:r>
          </a:p>
          <a:p>
            <a:pPr lvl="1">
              <a:buClr>
                <a:srgbClr val="002776"/>
              </a:buClr>
              <a:buFont typeface="Wingdings" panose="05000000000000000000" pitchFamily="2" charset="2"/>
              <a:buChar char="§"/>
            </a:pPr>
            <a:r>
              <a:rPr lang="en-AU" altLang="en-US">
                <a:solidFill>
                  <a:srgbClr val="001A4F"/>
                </a:solidFill>
              </a:rPr>
              <a:t>a[i] ≠ X: sang B3</a:t>
            </a:r>
          </a:p>
          <a:p>
            <a:pPr>
              <a:buClr>
                <a:srgbClr val="002776"/>
              </a:buClr>
            </a:pPr>
            <a:r>
              <a:rPr lang="en-AU" altLang="en-US">
                <a:solidFill>
                  <a:srgbClr val="001A4F"/>
                </a:solidFill>
              </a:rPr>
              <a:t>B3: i=i+1; // Xét phần tử tiếp theo</a:t>
            </a:r>
          </a:p>
          <a:p>
            <a:pPr lvl="1">
              <a:buClr>
                <a:srgbClr val="002776"/>
              </a:buClr>
              <a:buFont typeface="Wingdings" panose="05000000000000000000" pitchFamily="2" charset="2"/>
              <a:buChar char="§"/>
            </a:pPr>
            <a:r>
              <a:rPr lang="en-AU" altLang="en-US">
                <a:solidFill>
                  <a:srgbClr val="001A4F"/>
                </a:solidFill>
              </a:rPr>
              <a:t>Nếu i=n: hết dãy, không tìm thấy </a:t>
            </a:r>
            <a:r>
              <a:rPr lang="en-AU" altLang="en-US">
                <a:solidFill>
                  <a:srgbClr val="001A4F"/>
                </a:solidFill>
                <a:sym typeface="Wingdings" panose="05000000000000000000" pitchFamily="2" charset="2"/>
              </a:rPr>
              <a:t></a:t>
            </a:r>
            <a:r>
              <a:rPr lang="en-AU" altLang="en-US">
                <a:solidFill>
                  <a:srgbClr val="001A4F"/>
                </a:solidFill>
              </a:rPr>
              <a:t> dừng</a:t>
            </a:r>
          </a:p>
          <a:p>
            <a:pPr lvl="1">
              <a:buClr>
                <a:srgbClr val="002776"/>
              </a:buClr>
              <a:buFont typeface="Wingdings" panose="05000000000000000000" pitchFamily="2" charset="2"/>
              <a:buChar char="§"/>
            </a:pPr>
            <a:r>
              <a:rPr lang="vi-VN" altLang="en-US">
                <a:solidFill>
                  <a:srgbClr val="001A4F"/>
                </a:solidFill>
              </a:rPr>
              <a:t>Ngược lại: lặp lại B2</a:t>
            </a:r>
            <a:endParaRPr lang="en-AU" altLang="en-US">
              <a:solidFill>
                <a:srgbClr val="001A4F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35ABA7-51DE-4D70-B184-FFBA4C6AC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Cấu Trúc Dữ Liệu &amp; Giải Thuật (Data Structures &amp; Algorithms) - Tìm kiếm (Search)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5B4D93-DABC-4337-A46F-B3B9EF23E3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0A80D-F137-4C78-AD70-0E6F2294882D}" type="datetime1">
              <a:rPr lang="en-US" smtClean="0"/>
              <a:t>10/7/2024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8FE757-2450-4374-8F2F-231B9D9D9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82F98-F548-4E33-958E-D2A6C4BA8EFA}" type="slidenum">
              <a:rPr lang="en-US" smtClean="0"/>
              <a:t>6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22ED317-E202-43C9-BF4E-29312CB3E8DE}"/>
              </a:ext>
            </a:extLst>
          </p:cNvPr>
          <p:cNvSpPr/>
          <p:nvPr/>
        </p:nvSpPr>
        <p:spPr>
          <a:xfrm>
            <a:off x="6655442" y="1600200"/>
            <a:ext cx="5536557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>
                <a:solidFill>
                  <a:srgbClr val="C00000"/>
                </a:solidFill>
                <a:latin typeface="Consolas" panose="020B0609020204030204" pitchFamily="49" charset="0"/>
              </a:rPr>
              <a:t>int linear_search(int arr[], int n, int x)</a:t>
            </a:r>
          </a:p>
          <a:p>
            <a:r>
              <a:rPr lang="en-US" sz="1800">
                <a:solidFill>
                  <a:srgbClr val="C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800">
                <a:solidFill>
                  <a:srgbClr val="C00000"/>
                </a:solidFill>
                <a:latin typeface="Consolas" panose="020B0609020204030204" pitchFamily="49" charset="0"/>
              </a:rPr>
              <a:t>    for (int i = 0; i &lt; n; ++i)</a:t>
            </a:r>
          </a:p>
          <a:p>
            <a:r>
              <a:rPr lang="en-US" sz="1800">
                <a:solidFill>
                  <a:srgbClr val="C00000"/>
                </a:solidFill>
                <a:latin typeface="Consolas" panose="020B0609020204030204" pitchFamily="49" charset="0"/>
              </a:rPr>
              <a:t>    {</a:t>
            </a:r>
          </a:p>
          <a:p>
            <a:r>
              <a:rPr lang="en-US" sz="1800">
                <a:solidFill>
                  <a:srgbClr val="C00000"/>
                </a:solidFill>
                <a:latin typeface="Consolas" panose="020B0609020204030204" pitchFamily="49" charset="0"/>
              </a:rPr>
              <a:t>        if (arr[i] == x)</a:t>
            </a:r>
          </a:p>
          <a:p>
            <a:r>
              <a:rPr lang="en-US" sz="1800">
                <a:solidFill>
                  <a:srgbClr val="C00000"/>
                </a:solidFill>
                <a:latin typeface="Consolas" panose="020B0609020204030204" pitchFamily="49" charset="0"/>
              </a:rPr>
              <a:t>        {</a:t>
            </a:r>
          </a:p>
          <a:p>
            <a:r>
              <a:rPr lang="en-US" sz="1800">
                <a:solidFill>
                  <a:srgbClr val="C00000"/>
                </a:solidFill>
                <a:latin typeface="Consolas" panose="020B0609020204030204" pitchFamily="49" charset="0"/>
              </a:rPr>
              <a:t>            return i; </a:t>
            </a:r>
            <a:r>
              <a:rPr lang="en-US" sz="1800">
                <a:solidFill>
                  <a:srgbClr val="00B050"/>
                </a:solidFill>
                <a:latin typeface="Consolas" panose="020B0609020204030204" pitchFamily="49" charset="0"/>
              </a:rPr>
              <a:t>//tìm thấy</a:t>
            </a:r>
          </a:p>
          <a:p>
            <a:r>
              <a:rPr lang="en-US" sz="1800">
                <a:solidFill>
                  <a:srgbClr val="C00000"/>
                </a:solidFill>
                <a:latin typeface="Consolas" panose="020B0609020204030204" pitchFamily="49" charset="0"/>
              </a:rPr>
              <a:t>        }</a:t>
            </a:r>
          </a:p>
          <a:p>
            <a:r>
              <a:rPr lang="en-US" sz="1800">
                <a:solidFill>
                  <a:srgbClr val="C00000"/>
                </a:solidFill>
                <a:latin typeface="Consolas" panose="020B0609020204030204" pitchFamily="49" charset="0"/>
              </a:rPr>
              <a:t>    }</a:t>
            </a:r>
          </a:p>
          <a:p>
            <a:r>
              <a:rPr lang="en-US" sz="1800">
                <a:solidFill>
                  <a:srgbClr val="C00000"/>
                </a:solidFill>
                <a:latin typeface="Consolas" panose="020B0609020204030204" pitchFamily="49" charset="0"/>
              </a:rPr>
              <a:t>    return -1; </a:t>
            </a:r>
            <a:r>
              <a:rPr lang="en-US" sz="1800">
                <a:solidFill>
                  <a:srgbClr val="00B050"/>
                </a:solidFill>
                <a:latin typeface="Consolas" panose="020B0609020204030204" pitchFamily="49" charset="0"/>
              </a:rPr>
              <a:t>//không tìm thấy</a:t>
            </a:r>
          </a:p>
          <a:p>
            <a:r>
              <a:rPr lang="en-US" sz="1800">
                <a:solidFill>
                  <a:srgbClr val="C00000"/>
                </a:solidFill>
                <a:latin typeface="Consolas" panose="020B0609020204030204" pitchFamily="49" charset="0"/>
              </a:rPr>
              <a:t>}</a:t>
            </a:r>
            <a:endParaRPr lang="en-US" sz="1800" b="0">
              <a:solidFill>
                <a:srgbClr val="C00000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B74E2E0-DC9C-4A12-9951-8C3F893AE37F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040339" y="4645085"/>
            <a:ext cx="8111321" cy="1803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74104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A1B7E0-B624-4215-9FB3-51287C037F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Linear search – </a:t>
            </a:r>
            <a:r>
              <a:rPr lang="en-US"/>
              <a:t>Đánh giá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4A5BFA-9920-40F6-A9E2-65A73B811C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9200" y="1600199"/>
            <a:ext cx="10667999" cy="3041249"/>
          </a:xfrm>
        </p:spPr>
        <p:txBody>
          <a:bodyPr>
            <a:normAutofit fontScale="62500" lnSpcReduction="20000"/>
          </a:bodyPr>
          <a:lstStyle/>
          <a:p>
            <a:pPr>
              <a:buClr>
                <a:srgbClr val="002776"/>
              </a:buClr>
            </a:pPr>
            <a:r>
              <a:rPr lang="en-AU" altLang="en-US" sz="2800">
                <a:solidFill>
                  <a:srgbClr val="001A4F"/>
                </a:solidFill>
              </a:rPr>
              <a:t>Trường hợp tốt nhất: phần tử đầu tiên có giá trị X</a:t>
            </a:r>
          </a:p>
          <a:p>
            <a:pPr lvl="1">
              <a:buClr>
                <a:srgbClr val="002776"/>
              </a:buClr>
              <a:buFont typeface="Wingdings" panose="05000000000000000000" pitchFamily="2" charset="2"/>
              <a:buChar char="§"/>
            </a:pPr>
            <a:r>
              <a:rPr lang="en-AU" altLang="en-US" sz="2400">
                <a:solidFill>
                  <a:srgbClr val="001A4F"/>
                </a:solidFill>
              </a:rPr>
              <a:t>Số lần so sánh: 1</a:t>
            </a:r>
          </a:p>
          <a:p>
            <a:pPr>
              <a:buClr>
                <a:srgbClr val="002776"/>
              </a:buClr>
            </a:pPr>
            <a:r>
              <a:rPr lang="en-AU" altLang="en-US" sz="2800">
                <a:solidFill>
                  <a:srgbClr val="001A4F"/>
                </a:solidFill>
              </a:rPr>
              <a:t>Trường hợp xấu nhất: phần tử cuối cùng có giá trị X hoặc không có phần tử có giá trị X</a:t>
            </a:r>
          </a:p>
          <a:p>
            <a:pPr lvl="1">
              <a:buClr>
                <a:srgbClr val="002776"/>
              </a:buClr>
              <a:buFont typeface="Wingdings" panose="05000000000000000000" pitchFamily="2" charset="2"/>
              <a:buChar char="§"/>
            </a:pPr>
            <a:r>
              <a:rPr lang="en-AU" altLang="en-US" sz="2400">
                <a:solidFill>
                  <a:srgbClr val="001A4F"/>
                </a:solidFill>
              </a:rPr>
              <a:t>Số lần so sánh: n</a:t>
            </a:r>
          </a:p>
          <a:p>
            <a:pPr>
              <a:buClr>
                <a:srgbClr val="002776"/>
              </a:buClr>
            </a:pPr>
            <a:r>
              <a:rPr lang="en-AU" altLang="en-US" sz="2800">
                <a:solidFill>
                  <a:srgbClr val="001A4F"/>
                </a:solidFill>
              </a:rPr>
              <a:t>Trường hợp trung bình: giả sử xác suất các phần tử có giá trị X là như nhau</a:t>
            </a:r>
          </a:p>
          <a:p>
            <a:pPr lvl="1">
              <a:buClr>
                <a:srgbClr val="002776"/>
              </a:buClr>
              <a:buFont typeface="Wingdings" panose="05000000000000000000" pitchFamily="2" charset="2"/>
              <a:buChar char="§"/>
            </a:pPr>
            <a:r>
              <a:rPr lang="en-AU" altLang="en-US" sz="2400">
                <a:solidFill>
                  <a:srgbClr val="001A4F"/>
                </a:solidFill>
              </a:rPr>
              <a:t>Số lần so sánh: (n+1)/2</a:t>
            </a:r>
          </a:p>
          <a:p>
            <a:pPr>
              <a:buClr>
                <a:srgbClr val="002776"/>
              </a:buClr>
            </a:pPr>
            <a:r>
              <a:rPr lang="en-AU" altLang="en-US" sz="2800">
                <a:solidFill>
                  <a:srgbClr val="001A4F"/>
                </a:solidFill>
              </a:rPr>
              <a:t>Độ phức tạp: O(n)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8FEC20-4314-4F9A-B0F7-BDC0EBDF66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Cấu Trúc Dữ Liệu &amp; Giải Thuật (Data Structures &amp; Algorithms) - Tìm kiếm (Search)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9AC997-F3C4-4AD6-B9FC-DC42584FF3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AB447-961F-4973-96B7-8DC014457F3F}" type="datetime1">
              <a:rPr lang="en-US" smtClean="0"/>
              <a:t>10/7/2024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92E4DB-AA7D-43E9-8E85-2501CB4EB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82F98-F548-4E33-958E-D2A6C4BA8EFA}" type="slidenum">
              <a:rPr lang="en-US" smtClean="0"/>
              <a:t>7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8C0332C-19AF-421B-B46D-8FCD377C36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7538" y="4475433"/>
            <a:ext cx="8111321" cy="1803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16891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33CADF-7278-4B8B-9544-84145D8784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Binary search – </a:t>
            </a:r>
            <a:r>
              <a:rPr lang="en-US"/>
              <a:t>Ý t</a:t>
            </a:r>
            <a:r>
              <a:rPr lang="vi-VN"/>
              <a:t>ư</a:t>
            </a:r>
            <a:r>
              <a:rPr lang="en-US"/>
              <a:t>ởng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75693A-AD0B-4A91-A999-E4E2B22011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9200" y="1600201"/>
            <a:ext cx="10667999" cy="2369916"/>
          </a:xfrm>
        </p:spPr>
        <p:txBody>
          <a:bodyPr>
            <a:normAutofit fontScale="85000" lnSpcReduction="10000"/>
          </a:bodyPr>
          <a:lstStyle/>
          <a:p>
            <a:r>
              <a:rPr lang="en-AU" altLang="en-US"/>
              <a:t>Điều kiện: danh sách phải có thứ tự.</a:t>
            </a:r>
          </a:p>
          <a:p>
            <a:r>
              <a:rPr lang="en-AU" altLang="en-US"/>
              <a:t>So sánh giá trị muốn tìm X với phần tử nằm ở vị trí giữa của danh sách:</a:t>
            </a:r>
          </a:p>
          <a:p>
            <a:pPr lvl="1"/>
            <a:r>
              <a:rPr lang="en-AU" altLang="en-US"/>
              <a:t>Nếu bằng, tìm kiếm dừng lại (thành công).</a:t>
            </a:r>
          </a:p>
          <a:p>
            <a:pPr lvl="1"/>
            <a:r>
              <a:rPr lang="vi-VN" altLang="en-US"/>
              <a:t>Nếu X lớn hơn thì tiếp tục tìm kiếm ở phần danh sách bên phải phần tử giữa</a:t>
            </a:r>
            <a:r>
              <a:rPr lang="en-US" altLang="en-US"/>
              <a:t>.</a:t>
            </a:r>
          </a:p>
          <a:p>
            <a:pPr lvl="1"/>
            <a:r>
              <a:rPr lang="vi-VN" altLang="en-US"/>
              <a:t>Nếu X nhỏ hơn thì tiếp tục tìm kiếm ở phần danh sách bên trái phần tử giữa</a:t>
            </a:r>
            <a:r>
              <a:rPr lang="en-US" altLang="en-US"/>
              <a:t>.</a:t>
            </a:r>
            <a:endParaRPr lang="en-AU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918733-92DB-460F-BCEA-D3E9406BA2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Cấu Trúc Dữ Liệu &amp; Giải Thuật (Data Structures &amp; Algorithms) - Tìm kiếm (Search)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393E21-DB61-4413-A8C7-E6AB072E1F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01E04-BEEF-485D-9458-7F360A7BAD7C}" type="datetime1">
              <a:rPr lang="en-US" smtClean="0"/>
              <a:pPr/>
              <a:t>10/7/2024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304B23-0710-4CDB-8228-D177599AD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82F98-F548-4E33-958E-D2A6C4BA8EFA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66CE00E-69FD-4AE3-AB39-C7A29C01AB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6489" y="3926108"/>
            <a:ext cx="8759021" cy="2249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1373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33CADF-7278-4B8B-9544-84145D8784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Binary search – </a:t>
            </a:r>
            <a:r>
              <a:rPr lang="en-US"/>
              <a:t>Minh họa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75693A-AD0B-4A91-A999-E4E2B22011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9200" y="1600201"/>
            <a:ext cx="10667999" cy="2369916"/>
          </a:xfrm>
        </p:spPr>
        <p:txBody>
          <a:bodyPr>
            <a:normAutofit fontScale="85000" lnSpcReduction="10000"/>
          </a:bodyPr>
          <a:lstStyle/>
          <a:p>
            <a:r>
              <a:rPr lang="en-AU" altLang="en-US"/>
              <a:t>Điều kiện: danh sách phải có thứ tự.</a:t>
            </a:r>
          </a:p>
          <a:p>
            <a:r>
              <a:rPr lang="en-AU" altLang="en-US"/>
              <a:t>So sánh giá trị muốn tìm X với phần tử nằm ở vị trí giữa của danh sách:</a:t>
            </a:r>
          </a:p>
          <a:p>
            <a:pPr lvl="1"/>
            <a:r>
              <a:rPr lang="en-AU" altLang="en-US"/>
              <a:t>Nếu bằng, tìm kiếm dừng lại (thành công).</a:t>
            </a:r>
          </a:p>
          <a:p>
            <a:pPr lvl="1"/>
            <a:r>
              <a:rPr lang="vi-VN" altLang="en-US"/>
              <a:t>Nếu X lớn hơn thì tiếp tục tìm kiếm ở phần danh sách bên phải phần tử giữa</a:t>
            </a:r>
            <a:r>
              <a:rPr lang="en-US" altLang="en-US"/>
              <a:t>.</a:t>
            </a:r>
          </a:p>
          <a:p>
            <a:pPr lvl="1"/>
            <a:r>
              <a:rPr lang="vi-VN" altLang="en-US"/>
              <a:t>Nếu X nhỏ hơn thì tiếp tục tìm kiếm ở phần danh sách bên trái phần tử giữa</a:t>
            </a:r>
            <a:r>
              <a:rPr lang="en-US" altLang="en-US"/>
              <a:t>.</a:t>
            </a:r>
            <a:endParaRPr lang="en-AU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918733-92DB-460F-BCEA-D3E9406BA2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Cấu Trúc Dữ Liệu &amp; Giải Thuật (Data Structures &amp; Algorithms) - Tìm kiếm (Search)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393E21-DB61-4413-A8C7-E6AB072E1F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01E04-BEEF-485D-9458-7F360A7BAD7C}" type="datetime1">
              <a:rPr lang="en-US" smtClean="0"/>
              <a:pPr/>
              <a:t>10/7/2024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304B23-0710-4CDB-8228-D177599AD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82F98-F548-4E33-958E-D2A6C4BA8EFA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5806F6E-D762-4D52-A7BA-A1DFB92F7BF2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9335" y="3831220"/>
            <a:ext cx="9187727" cy="2517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63286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031C22-0CB8-47E7-9B9B-2F3F08AB5D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Binary search</a:t>
            </a:r>
            <a:br>
              <a:rPr lang="en-AU"/>
            </a:br>
            <a:r>
              <a:rPr lang="en-US"/>
              <a:t>Thuật toán &amp; cài đặt (không dùng đệ qui)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DB5FCA-BAC0-4CF4-9217-F5ACD93572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9201" y="1600200"/>
            <a:ext cx="4876800" cy="4441785"/>
          </a:xfrm>
        </p:spPr>
        <p:txBody>
          <a:bodyPr>
            <a:normAutofit fontScale="70000" lnSpcReduction="20000"/>
          </a:bodyPr>
          <a:lstStyle/>
          <a:p>
            <a:pPr>
              <a:buClr>
                <a:srgbClr val="002776"/>
              </a:buClr>
            </a:pPr>
            <a:r>
              <a:rPr lang="en-AU" altLang="en-US">
                <a:solidFill>
                  <a:srgbClr val="001A4F"/>
                </a:solidFill>
              </a:rPr>
              <a:t>B1: low = 0, high = n-1</a:t>
            </a:r>
          </a:p>
          <a:p>
            <a:pPr>
              <a:buClr>
                <a:srgbClr val="002776"/>
              </a:buClr>
            </a:pPr>
            <a:r>
              <a:rPr lang="en-AU" altLang="en-US">
                <a:solidFill>
                  <a:srgbClr val="001A4F"/>
                </a:solidFill>
              </a:rPr>
              <a:t>B2: mid = (low+high)/2  //lấy vị trí </a:t>
            </a:r>
            <a:r>
              <a:rPr lang="vi-VN" altLang="en-US">
                <a:solidFill>
                  <a:srgbClr val="001A4F"/>
                </a:solidFill>
              </a:rPr>
              <a:t>ở</a:t>
            </a:r>
            <a:r>
              <a:rPr lang="en-AU" altLang="en-US">
                <a:solidFill>
                  <a:srgbClr val="001A4F"/>
                </a:solidFill>
              </a:rPr>
              <a:t> giữa</a:t>
            </a:r>
          </a:p>
          <a:p>
            <a:pPr>
              <a:buClr>
                <a:srgbClr val="002776"/>
              </a:buClr>
            </a:pPr>
            <a:r>
              <a:rPr lang="en-AU" altLang="en-US">
                <a:solidFill>
                  <a:srgbClr val="001A4F"/>
                </a:solidFill>
              </a:rPr>
              <a:t>B3: </a:t>
            </a:r>
            <a:r>
              <a:rPr lang="vi-VN" altLang="en-US">
                <a:solidFill>
                  <a:srgbClr val="001A4F"/>
                </a:solidFill>
              </a:rPr>
              <a:t>So sánh X với </a:t>
            </a:r>
            <a:r>
              <a:rPr lang="en-US" altLang="en-US">
                <a:solidFill>
                  <a:srgbClr val="001A4F"/>
                </a:solidFill>
              </a:rPr>
              <a:t>a</a:t>
            </a:r>
            <a:r>
              <a:rPr lang="vi-VN" altLang="en-US">
                <a:solidFill>
                  <a:srgbClr val="001A4F"/>
                </a:solidFill>
              </a:rPr>
              <a:t>[</a:t>
            </a:r>
            <a:r>
              <a:rPr lang="en-US" altLang="en-US">
                <a:solidFill>
                  <a:srgbClr val="001A4F"/>
                </a:solidFill>
              </a:rPr>
              <a:t>m</a:t>
            </a:r>
            <a:r>
              <a:rPr lang="vi-VN" altLang="en-US">
                <a:solidFill>
                  <a:srgbClr val="001A4F"/>
                </a:solidFill>
              </a:rPr>
              <a:t>id], có 3 khả năng xảy ra:</a:t>
            </a:r>
            <a:endParaRPr lang="en-US" altLang="en-US">
              <a:solidFill>
                <a:srgbClr val="001A4F"/>
              </a:solidFill>
            </a:endParaRPr>
          </a:p>
          <a:p>
            <a:pPr lvl="1">
              <a:buClr>
                <a:srgbClr val="002776"/>
              </a:buClr>
              <a:buFont typeface="Wingdings" panose="05000000000000000000" pitchFamily="2" charset="2"/>
              <a:buChar char="§"/>
            </a:pPr>
            <a:r>
              <a:rPr lang="en-AU" altLang="en-US">
                <a:solidFill>
                  <a:srgbClr val="001A4F"/>
                </a:solidFill>
              </a:rPr>
              <a:t>a[mid] = X // tìm thấy </a:t>
            </a:r>
            <a:r>
              <a:rPr lang="en-AU" altLang="en-US">
                <a:solidFill>
                  <a:srgbClr val="001A4F"/>
                </a:solidFill>
                <a:sym typeface="Wingdings" panose="05000000000000000000" pitchFamily="2" charset="2"/>
              </a:rPr>
              <a:t></a:t>
            </a:r>
            <a:r>
              <a:rPr lang="en-AU" altLang="en-US">
                <a:solidFill>
                  <a:srgbClr val="001A4F"/>
                </a:solidFill>
              </a:rPr>
              <a:t> dừng thuật toán</a:t>
            </a:r>
          </a:p>
          <a:p>
            <a:pPr lvl="1">
              <a:buClr>
                <a:srgbClr val="002776"/>
              </a:buClr>
              <a:buFont typeface="Wingdings" panose="05000000000000000000" pitchFamily="2" charset="2"/>
              <a:buChar char="§"/>
            </a:pPr>
            <a:r>
              <a:rPr lang="en-US" altLang="en-US">
                <a:solidFill>
                  <a:srgbClr val="001A4F"/>
                </a:solidFill>
              </a:rPr>
              <a:t>a[mid] &gt; X: high=mid-1 //tiếp tục tìm trong dãy a[low] </a:t>
            </a:r>
            <a:r>
              <a:rPr lang="en-US" altLang="en-US">
                <a:solidFill>
                  <a:srgbClr val="001A4F"/>
                </a:solidFill>
                <a:sym typeface="Wingdings" panose="05000000000000000000" pitchFamily="2" charset="2"/>
              </a:rPr>
              <a:t> </a:t>
            </a:r>
            <a:r>
              <a:rPr lang="en-US" altLang="en-US">
                <a:solidFill>
                  <a:srgbClr val="001A4F"/>
                </a:solidFill>
              </a:rPr>
              <a:t>a[high]</a:t>
            </a:r>
            <a:r>
              <a:rPr lang="vi-VN" altLang="en-US">
                <a:solidFill>
                  <a:srgbClr val="001A4F"/>
                </a:solidFill>
              </a:rPr>
              <a:t> (nửa trái)</a:t>
            </a:r>
            <a:endParaRPr lang="en-US" altLang="en-US">
              <a:solidFill>
                <a:srgbClr val="001A4F"/>
              </a:solidFill>
            </a:endParaRPr>
          </a:p>
          <a:p>
            <a:pPr lvl="1">
              <a:buClr>
                <a:srgbClr val="002776"/>
              </a:buClr>
              <a:buFont typeface="Wingdings" panose="05000000000000000000" pitchFamily="2" charset="2"/>
              <a:buChar char="§"/>
            </a:pPr>
            <a:r>
              <a:rPr lang="en-US" altLang="en-US">
                <a:solidFill>
                  <a:srgbClr val="001A4F"/>
                </a:solidFill>
              </a:rPr>
              <a:t>a[mid] &lt; X: low=mid+1 //tiếp tục tìm trong dãy a[low] </a:t>
            </a:r>
            <a:r>
              <a:rPr lang="en-US" altLang="en-US">
                <a:solidFill>
                  <a:srgbClr val="001A4F"/>
                </a:solidFill>
                <a:sym typeface="Wingdings" panose="05000000000000000000" pitchFamily="2" charset="2"/>
              </a:rPr>
              <a:t> </a:t>
            </a:r>
            <a:r>
              <a:rPr lang="en-US" altLang="en-US">
                <a:solidFill>
                  <a:srgbClr val="001A4F"/>
                </a:solidFill>
              </a:rPr>
              <a:t>a[high]</a:t>
            </a:r>
            <a:r>
              <a:rPr lang="vi-VN" altLang="en-US">
                <a:solidFill>
                  <a:srgbClr val="001A4F"/>
                </a:solidFill>
              </a:rPr>
              <a:t> (nửa phải)</a:t>
            </a:r>
            <a:endParaRPr lang="en-AU" altLang="en-US">
              <a:solidFill>
                <a:srgbClr val="001A4F"/>
              </a:solidFill>
            </a:endParaRPr>
          </a:p>
          <a:p>
            <a:pPr>
              <a:buClr>
                <a:srgbClr val="002776"/>
              </a:buClr>
            </a:pPr>
            <a:r>
              <a:rPr lang="en-AU" altLang="en-US">
                <a:solidFill>
                  <a:srgbClr val="001A4F"/>
                </a:solidFill>
              </a:rPr>
              <a:t>B4: </a:t>
            </a:r>
            <a:r>
              <a:rPr lang="vi-VN" altLang="en-US">
                <a:solidFill>
                  <a:srgbClr val="001A4F"/>
                </a:solidFill>
              </a:rPr>
              <a:t>Nếu (</a:t>
            </a:r>
            <a:r>
              <a:rPr lang="en-US" altLang="en-US">
                <a:solidFill>
                  <a:srgbClr val="001A4F"/>
                </a:solidFill>
              </a:rPr>
              <a:t>low</a:t>
            </a:r>
            <a:r>
              <a:rPr lang="vi-VN" altLang="en-US">
                <a:solidFill>
                  <a:srgbClr val="001A4F"/>
                </a:solidFill>
              </a:rPr>
              <a:t> ≤ </a:t>
            </a:r>
            <a:r>
              <a:rPr lang="en-US" altLang="en-US">
                <a:solidFill>
                  <a:srgbClr val="001A4F"/>
                </a:solidFill>
              </a:rPr>
              <a:t>high</a:t>
            </a:r>
            <a:r>
              <a:rPr lang="vi-VN" altLang="en-US">
                <a:solidFill>
                  <a:srgbClr val="001A4F"/>
                </a:solidFill>
              </a:rPr>
              <a:t>)</a:t>
            </a:r>
            <a:r>
              <a:rPr lang="en-US" altLang="en-US">
                <a:solidFill>
                  <a:srgbClr val="001A4F"/>
                </a:solidFill>
              </a:rPr>
              <a:t>: lặp lại B2</a:t>
            </a:r>
            <a:r>
              <a:rPr lang="vi-VN" altLang="en-US">
                <a:solidFill>
                  <a:srgbClr val="001A4F"/>
                </a:solidFill>
              </a:rPr>
              <a:t> </a:t>
            </a:r>
            <a:r>
              <a:rPr lang="en-US" altLang="en-US">
                <a:solidFill>
                  <a:srgbClr val="001A4F"/>
                </a:solidFill>
              </a:rPr>
              <a:t>(c</a:t>
            </a:r>
            <a:r>
              <a:rPr lang="vi-VN" altLang="en-US">
                <a:solidFill>
                  <a:srgbClr val="001A4F"/>
                </a:solidFill>
              </a:rPr>
              <a:t>òn p</a:t>
            </a:r>
            <a:r>
              <a:rPr lang="en-US" altLang="en-US">
                <a:solidFill>
                  <a:srgbClr val="001A4F"/>
                </a:solidFill>
              </a:rPr>
              <a:t>hần </a:t>
            </a:r>
            <a:r>
              <a:rPr lang="vi-VN" altLang="en-US">
                <a:solidFill>
                  <a:srgbClr val="001A4F"/>
                </a:solidFill>
              </a:rPr>
              <a:t>tử chưa xét</a:t>
            </a:r>
            <a:r>
              <a:rPr lang="en-US" altLang="en-US">
                <a:solidFill>
                  <a:srgbClr val="001A4F"/>
                </a:solidFill>
              </a:rPr>
              <a:t>), n</a:t>
            </a:r>
            <a:r>
              <a:rPr lang="vi-VN" altLang="en-US">
                <a:solidFill>
                  <a:srgbClr val="001A4F"/>
                </a:solidFill>
              </a:rPr>
              <a:t>gược lại: </a:t>
            </a:r>
            <a:r>
              <a:rPr lang="en-US" altLang="en-US">
                <a:solidFill>
                  <a:srgbClr val="001A4F"/>
                </a:solidFill>
              </a:rPr>
              <a:t>k</a:t>
            </a:r>
            <a:r>
              <a:rPr lang="vi-VN" altLang="en-US">
                <a:solidFill>
                  <a:srgbClr val="001A4F"/>
                </a:solidFill>
              </a:rPr>
              <a:t>ết thúc</a:t>
            </a:r>
            <a:endParaRPr lang="en-AU" altLang="en-US">
              <a:solidFill>
                <a:srgbClr val="001A4F"/>
              </a:solidFill>
            </a:endParaRPr>
          </a:p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1B2215-46B8-4556-9982-5E5B2F9D06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Cấu Trúc Dữ Liệu &amp; Giải Thuật (Data Structures &amp; Algorithms) - Tìm kiếm (Search)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056E14-D360-4DB9-A3F6-9E1DDF1D88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527A3-3DD0-4A14-BF1F-AB0C74493041}" type="datetime1">
              <a:rPr lang="en-US" smtClean="0"/>
              <a:t>10/7/2024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23A8F7-471D-4705-8F94-EB381F83A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82F98-F548-4E33-958E-D2A6C4BA8EFA}" type="slidenum">
              <a:rPr lang="en-US" smtClean="0"/>
              <a:t>10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EDCDDEB-1C59-4289-96A7-63EB1A450E8D}"/>
              </a:ext>
            </a:extLst>
          </p:cNvPr>
          <p:cNvSpPr/>
          <p:nvPr/>
        </p:nvSpPr>
        <p:spPr>
          <a:xfrm>
            <a:off x="6481823" y="1600200"/>
            <a:ext cx="5710177" cy="4031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>
                <a:solidFill>
                  <a:srgbClr val="C00000"/>
                </a:solidFill>
                <a:latin typeface="Consolas" panose="020B0609020204030204" pitchFamily="49" charset="0"/>
              </a:rPr>
              <a:t>int binary_search(int arr[], int n, int x)</a:t>
            </a:r>
          </a:p>
          <a:p>
            <a:r>
              <a:rPr lang="en-US" sz="1600">
                <a:solidFill>
                  <a:srgbClr val="C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600">
                <a:solidFill>
                  <a:srgbClr val="C00000"/>
                </a:solidFill>
                <a:latin typeface="Consolas" panose="020B0609020204030204" pitchFamily="49" charset="0"/>
              </a:rPr>
              <a:t>    int low = 0;</a:t>
            </a:r>
          </a:p>
          <a:p>
            <a:r>
              <a:rPr lang="en-US" sz="1600">
                <a:solidFill>
                  <a:srgbClr val="C00000"/>
                </a:solidFill>
                <a:latin typeface="Consolas" panose="020B0609020204030204" pitchFamily="49" charset="0"/>
              </a:rPr>
              <a:t>    int high = n - 1;</a:t>
            </a:r>
          </a:p>
          <a:p>
            <a:r>
              <a:rPr lang="en-US" sz="1600">
                <a:solidFill>
                  <a:srgbClr val="C00000"/>
                </a:solidFill>
                <a:latin typeface="Consolas" panose="020B0609020204030204" pitchFamily="49" charset="0"/>
              </a:rPr>
              <a:t>    while (low &lt;= high)</a:t>
            </a:r>
          </a:p>
          <a:p>
            <a:r>
              <a:rPr lang="en-US" sz="1600">
                <a:solidFill>
                  <a:srgbClr val="C00000"/>
                </a:solidFill>
                <a:latin typeface="Consolas" panose="020B0609020204030204" pitchFamily="49" charset="0"/>
              </a:rPr>
              <a:t>    {</a:t>
            </a:r>
          </a:p>
          <a:p>
            <a:r>
              <a:rPr lang="en-US" sz="1600">
                <a:solidFill>
                  <a:srgbClr val="C00000"/>
                </a:solidFill>
                <a:latin typeface="Consolas" panose="020B0609020204030204" pitchFamily="49" charset="0"/>
              </a:rPr>
              <a:t>        int mid = (low + high) / 2;</a:t>
            </a:r>
          </a:p>
          <a:p>
            <a:r>
              <a:rPr lang="en-US" sz="1600">
                <a:solidFill>
                  <a:srgbClr val="C00000"/>
                </a:solidFill>
                <a:latin typeface="Consolas" panose="020B0609020204030204" pitchFamily="49" charset="0"/>
              </a:rPr>
              <a:t>        if (arr[mid] == x)</a:t>
            </a:r>
          </a:p>
          <a:p>
            <a:r>
              <a:rPr lang="en-US" sz="1600">
                <a:solidFill>
                  <a:srgbClr val="C00000"/>
                </a:solidFill>
                <a:latin typeface="Consolas" panose="020B0609020204030204" pitchFamily="49" charset="0"/>
              </a:rPr>
              <a:t>            return mid; </a:t>
            </a:r>
            <a:r>
              <a:rPr lang="en-US" sz="1600">
                <a:solidFill>
                  <a:srgbClr val="00B050"/>
                </a:solidFill>
                <a:latin typeface="Consolas" panose="020B0609020204030204" pitchFamily="49" charset="0"/>
              </a:rPr>
              <a:t>//tìm thấy</a:t>
            </a:r>
          </a:p>
          <a:p>
            <a:r>
              <a:rPr lang="en-US" sz="1600">
                <a:solidFill>
                  <a:srgbClr val="C00000"/>
                </a:solidFill>
                <a:latin typeface="Consolas" panose="020B0609020204030204" pitchFamily="49" charset="0"/>
              </a:rPr>
              <a:t>        else if (arr[mid] &lt; x)</a:t>
            </a:r>
          </a:p>
          <a:p>
            <a:r>
              <a:rPr lang="en-US" sz="1600">
                <a:solidFill>
                  <a:srgbClr val="C00000"/>
                </a:solidFill>
                <a:latin typeface="Consolas" panose="020B0609020204030204" pitchFamily="49" charset="0"/>
              </a:rPr>
              <a:t>            low = mid + 1; </a:t>
            </a:r>
            <a:r>
              <a:rPr lang="en-US" sz="1600">
                <a:solidFill>
                  <a:srgbClr val="00B050"/>
                </a:solidFill>
                <a:latin typeface="Consolas" panose="020B0609020204030204" pitchFamily="49" charset="0"/>
              </a:rPr>
              <a:t>//tìm tiếp ở nửa phải</a:t>
            </a:r>
          </a:p>
          <a:p>
            <a:r>
              <a:rPr lang="en-US" sz="1600">
                <a:solidFill>
                  <a:srgbClr val="C00000"/>
                </a:solidFill>
                <a:latin typeface="Consolas" panose="020B0609020204030204" pitchFamily="49" charset="0"/>
              </a:rPr>
              <a:t>        else</a:t>
            </a:r>
          </a:p>
          <a:p>
            <a:r>
              <a:rPr lang="en-US" sz="1600">
                <a:solidFill>
                  <a:srgbClr val="C00000"/>
                </a:solidFill>
                <a:latin typeface="Consolas" panose="020B0609020204030204" pitchFamily="49" charset="0"/>
              </a:rPr>
              <a:t>            high = mid - 1; </a:t>
            </a:r>
            <a:r>
              <a:rPr lang="en-US" sz="1600">
                <a:solidFill>
                  <a:srgbClr val="00B050"/>
                </a:solidFill>
                <a:latin typeface="Consolas" panose="020B0609020204030204" pitchFamily="49" charset="0"/>
              </a:rPr>
              <a:t>//tìm tiếp ở nửa trái</a:t>
            </a:r>
          </a:p>
          <a:p>
            <a:r>
              <a:rPr lang="en-US" sz="1600">
                <a:solidFill>
                  <a:srgbClr val="C00000"/>
                </a:solidFill>
                <a:latin typeface="Consolas" panose="020B0609020204030204" pitchFamily="49" charset="0"/>
              </a:rPr>
              <a:t>    }</a:t>
            </a:r>
          </a:p>
          <a:p>
            <a:r>
              <a:rPr lang="en-US" sz="1600">
                <a:solidFill>
                  <a:srgbClr val="C00000"/>
                </a:solidFill>
                <a:latin typeface="Consolas" panose="020B0609020204030204" pitchFamily="49" charset="0"/>
              </a:rPr>
              <a:t>    return -1;</a:t>
            </a:r>
          </a:p>
          <a:p>
            <a:r>
              <a:rPr lang="en-US" sz="1600">
                <a:solidFill>
                  <a:srgbClr val="C00000"/>
                </a:solidFill>
                <a:latin typeface="Consolas" panose="020B0609020204030204" pitchFamily="49" charset="0"/>
              </a:rPr>
              <a:t>}</a:t>
            </a:r>
            <a:endParaRPr lang="en-US" sz="1600" b="0">
              <a:solidFill>
                <a:srgbClr val="C00000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31CAB01-C518-4E25-A56F-BBF6FBAC542F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160833" y="4899735"/>
            <a:ext cx="6031167" cy="1548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07351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031C22-0CB8-47E7-9B9B-2F3F08AB5D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Binary search</a:t>
            </a:r>
            <a:br>
              <a:rPr lang="en-AU"/>
            </a:br>
            <a:r>
              <a:rPr lang="en-US"/>
              <a:t>Thuật toán &amp; cài đặt (dùng đệ qui)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DB5FCA-BAC0-4CF4-9217-F5ACD93572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9201" y="1600200"/>
            <a:ext cx="4550004" cy="4441785"/>
          </a:xfrm>
        </p:spPr>
        <p:txBody>
          <a:bodyPr>
            <a:normAutofit fontScale="70000" lnSpcReduction="20000"/>
          </a:bodyPr>
          <a:lstStyle/>
          <a:p>
            <a:pPr>
              <a:buClr>
                <a:srgbClr val="002776"/>
              </a:buClr>
            </a:pPr>
            <a:r>
              <a:rPr lang="en-AU" altLang="en-US">
                <a:solidFill>
                  <a:srgbClr val="001A4F"/>
                </a:solidFill>
              </a:rPr>
              <a:t>B1: low = 0, high = n-1</a:t>
            </a:r>
          </a:p>
          <a:p>
            <a:pPr>
              <a:buClr>
                <a:srgbClr val="002776"/>
              </a:buClr>
            </a:pPr>
            <a:r>
              <a:rPr lang="en-AU" altLang="en-US">
                <a:solidFill>
                  <a:srgbClr val="001A4F"/>
                </a:solidFill>
              </a:rPr>
              <a:t>B2: mid = (low+high)/2  //lấy vị trí cận giữa</a:t>
            </a:r>
          </a:p>
          <a:p>
            <a:pPr>
              <a:buClr>
                <a:srgbClr val="002776"/>
              </a:buClr>
            </a:pPr>
            <a:r>
              <a:rPr lang="en-AU" altLang="en-US">
                <a:solidFill>
                  <a:srgbClr val="001A4F"/>
                </a:solidFill>
              </a:rPr>
              <a:t>B3: </a:t>
            </a:r>
            <a:r>
              <a:rPr lang="vi-VN" altLang="en-US">
                <a:solidFill>
                  <a:srgbClr val="001A4F"/>
                </a:solidFill>
              </a:rPr>
              <a:t>So sánh X với </a:t>
            </a:r>
            <a:r>
              <a:rPr lang="en-US" altLang="en-US">
                <a:solidFill>
                  <a:srgbClr val="001A4F"/>
                </a:solidFill>
              </a:rPr>
              <a:t>a</a:t>
            </a:r>
            <a:r>
              <a:rPr lang="vi-VN" altLang="en-US">
                <a:solidFill>
                  <a:srgbClr val="001A4F"/>
                </a:solidFill>
              </a:rPr>
              <a:t>[</a:t>
            </a:r>
            <a:r>
              <a:rPr lang="en-US" altLang="en-US">
                <a:solidFill>
                  <a:srgbClr val="001A4F"/>
                </a:solidFill>
              </a:rPr>
              <a:t>m</a:t>
            </a:r>
            <a:r>
              <a:rPr lang="vi-VN" altLang="en-US">
                <a:solidFill>
                  <a:srgbClr val="001A4F"/>
                </a:solidFill>
              </a:rPr>
              <a:t>id], có 3 khả năng xảy ra:</a:t>
            </a:r>
            <a:endParaRPr lang="en-US" altLang="en-US">
              <a:solidFill>
                <a:srgbClr val="001A4F"/>
              </a:solidFill>
            </a:endParaRPr>
          </a:p>
          <a:p>
            <a:pPr lvl="1">
              <a:buClr>
                <a:srgbClr val="002776"/>
              </a:buClr>
              <a:buFont typeface="Wingdings" panose="05000000000000000000" pitchFamily="2" charset="2"/>
              <a:buChar char="§"/>
            </a:pPr>
            <a:r>
              <a:rPr lang="en-AU" altLang="en-US">
                <a:solidFill>
                  <a:srgbClr val="001A4F"/>
                </a:solidFill>
              </a:rPr>
              <a:t>a[mid] = X // tìm thấy </a:t>
            </a:r>
            <a:r>
              <a:rPr lang="en-AU" altLang="en-US">
                <a:solidFill>
                  <a:srgbClr val="001A4F"/>
                </a:solidFill>
                <a:sym typeface="Wingdings" panose="05000000000000000000" pitchFamily="2" charset="2"/>
              </a:rPr>
              <a:t></a:t>
            </a:r>
            <a:r>
              <a:rPr lang="en-AU" altLang="en-US">
                <a:solidFill>
                  <a:srgbClr val="001A4F"/>
                </a:solidFill>
              </a:rPr>
              <a:t> dừng thuật toán</a:t>
            </a:r>
          </a:p>
          <a:p>
            <a:pPr lvl="1">
              <a:buClr>
                <a:srgbClr val="002776"/>
              </a:buClr>
              <a:buFont typeface="Wingdings" panose="05000000000000000000" pitchFamily="2" charset="2"/>
              <a:buChar char="§"/>
            </a:pPr>
            <a:r>
              <a:rPr lang="en-US" altLang="en-US">
                <a:solidFill>
                  <a:srgbClr val="001A4F"/>
                </a:solidFill>
              </a:rPr>
              <a:t>a[mid] &gt; X: high=mid-1 //tiếp tục tìm trong dãy a[low] </a:t>
            </a:r>
            <a:r>
              <a:rPr lang="en-US" altLang="en-US">
                <a:solidFill>
                  <a:srgbClr val="001A4F"/>
                </a:solidFill>
                <a:sym typeface="Wingdings" panose="05000000000000000000" pitchFamily="2" charset="2"/>
              </a:rPr>
              <a:t> </a:t>
            </a:r>
            <a:r>
              <a:rPr lang="en-US" altLang="en-US">
                <a:solidFill>
                  <a:srgbClr val="001A4F"/>
                </a:solidFill>
              </a:rPr>
              <a:t>a[high]</a:t>
            </a:r>
            <a:r>
              <a:rPr lang="vi-VN" altLang="en-US">
                <a:solidFill>
                  <a:srgbClr val="001A4F"/>
                </a:solidFill>
              </a:rPr>
              <a:t> (nửa trái)</a:t>
            </a:r>
            <a:endParaRPr lang="en-US" altLang="en-US">
              <a:solidFill>
                <a:srgbClr val="001A4F"/>
              </a:solidFill>
            </a:endParaRPr>
          </a:p>
          <a:p>
            <a:pPr lvl="1">
              <a:buClr>
                <a:srgbClr val="002776"/>
              </a:buClr>
              <a:buFont typeface="Wingdings" panose="05000000000000000000" pitchFamily="2" charset="2"/>
              <a:buChar char="§"/>
            </a:pPr>
            <a:r>
              <a:rPr lang="en-US" altLang="en-US">
                <a:solidFill>
                  <a:srgbClr val="001A4F"/>
                </a:solidFill>
              </a:rPr>
              <a:t>a[mid] &lt; X: low=mid+1 //tiếp tục tìm trong dãy a[low] </a:t>
            </a:r>
            <a:r>
              <a:rPr lang="en-US" altLang="en-US">
                <a:solidFill>
                  <a:srgbClr val="001A4F"/>
                </a:solidFill>
                <a:sym typeface="Wingdings" panose="05000000000000000000" pitchFamily="2" charset="2"/>
              </a:rPr>
              <a:t> </a:t>
            </a:r>
            <a:r>
              <a:rPr lang="en-US" altLang="en-US">
                <a:solidFill>
                  <a:srgbClr val="001A4F"/>
                </a:solidFill>
              </a:rPr>
              <a:t>a[high]</a:t>
            </a:r>
            <a:r>
              <a:rPr lang="vi-VN" altLang="en-US">
                <a:solidFill>
                  <a:srgbClr val="001A4F"/>
                </a:solidFill>
              </a:rPr>
              <a:t> (nửa phải)</a:t>
            </a:r>
            <a:endParaRPr lang="en-AU" altLang="en-US">
              <a:solidFill>
                <a:srgbClr val="001A4F"/>
              </a:solidFill>
            </a:endParaRPr>
          </a:p>
          <a:p>
            <a:pPr>
              <a:buClr>
                <a:srgbClr val="002776"/>
              </a:buClr>
            </a:pPr>
            <a:r>
              <a:rPr lang="en-AU" altLang="en-US">
                <a:solidFill>
                  <a:srgbClr val="001A4F"/>
                </a:solidFill>
              </a:rPr>
              <a:t>B4: </a:t>
            </a:r>
            <a:r>
              <a:rPr lang="vi-VN" altLang="en-US">
                <a:solidFill>
                  <a:srgbClr val="001A4F"/>
                </a:solidFill>
              </a:rPr>
              <a:t>Nếu (</a:t>
            </a:r>
            <a:r>
              <a:rPr lang="en-US" altLang="en-US">
                <a:solidFill>
                  <a:srgbClr val="001A4F"/>
                </a:solidFill>
              </a:rPr>
              <a:t>low</a:t>
            </a:r>
            <a:r>
              <a:rPr lang="vi-VN" altLang="en-US">
                <a:solidFill>
                  <a:srgbClr val="001A4F"/>
                </a:solidFill>
              </a:rPr>
              <a:t> ≤ </a:t>
            </a:r>
            <a:r>
              <a:rPr lang="en-US" altLang="en-US">
                <a:solidFill>
                  <a:srgbClr val="001A4F"/>
                </a:solidFill>
              </a:rPr>
              <a:t>high</a:t>
            </a:r>
            <a:r>
              <a:rPr lang="vi-VN" altLang="en-US">
                <a:solidFill>
                  <a:srgbClr val="001A4F"/>
                </a:solidFill>
              </a:rPr>
              <a:t>)</a:t>
            </a:r>
            <a:r>
              <a:rPr lang="en-US" altLang="en-US">
                <a:solidFill>
                  <a:srgbClr val="001A4F"/>
                </a:solidFill>
              </a:rPr>
              <a:t>: lặp lại B2</a:t>
            </a:r>
            <a:r>
              <a:rPr lang="vi-VN" altLang="en-US">
                <a:solidFill>
                  <a:srgbClr val="001A4F"/>
                </a:solidFill>
              </a:rPr>
              <a:t> </a:t>
            </a:r>
            <a:r>
              <a:rPr lang="en-US" altLang="en-US">
                <a:solidFill>
                  <a:srgbClr val="001A4F"/>
                </a:solidFill>
              </a:rPr>
              <a:t>(c</a:t>
            </a:r>
            <a:r>
              <a:rPr lang="vi-VN" altLang="en-US">
                <a:solidFill>
                  <a:srgbClr val="001A4F"/>
                </a:solidFill>
              </a:rPr>
              <a:t>òn p</a:t>
            </a:r>
            <a:r>
              <a:rPr lang="en-US" altLang="en-US">
                <a:solidFill>
                  <a:srgbClr val="001A4F"/>
                </a:solidFill>
              </a:rPr>
              <a:t>hần </a:t>
            </a:r>
            <a:r>
              <a:rPr lang="vi-VN" altLang="en-US">
                <a:solidFill>
                  <a:srgbClr val="001A4F"/>
                </a:solidFill>
              </a:rPr>
              <a:t>tử chưa xét</a:t>
            </a:r>
            <a:r>
              <a:rPr lang="en-US" altLang="en-US">
                <a:solidFill>
                  <a:srgbClr val="001A4F"/>
                </a:solidFill>
              </a:rPr>
              <a:t>), n</a:t>
            </a:r>
            <a:r>
              <a:rPr lang="vi-VN" altLang="en-US">
                <a:solidFill>
                  <a:srgbClr val="001A4F"/>
                </a:solidFill>
              </a:rPr>
              <a:t>gược lại: </a:t>
            </a:r>
            <a:r>
              <a:rPr lang="en-US" altLang="en-US">
                <a:solidFill>
                  <a:srgbClr val="001A4F"/>
                </a:solidFill>
              </a:rPr>
              <a:t>k</a:t>
            </a:r>
            <a:r>
              <a:rPr lang="vi-VN" altLang="en-US">
                <a:solidFill>
                  <a:srgbClr val="001A4F"/>
                </a:solidFill>
              </a:rPr>
              <a:t>ết thúc</a:t>
            </a:r>
            <a:endParaRPr lang="en-AU" altLang="en-US">
              <a:solidFill>
                <a:srgbClr val="001A4F"/>
              </a:solidFill>
            </a:endParaRPr>
          </a:p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1B2215-46B8-4556-9982-5E5B2F9D06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Cấu Trúc Dữ Liệu &amp; Giải Thuật (Data Structures &amp; Algorithms) - Tìm kiếm (Search)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056E14-D360-4DB9-A3F6-9E1DDF1D88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527A3-3DD0-4A14-BF1F-AB0C74493041}" type="datetime1">
              <a:rPr lang="en-US" smtClean="0"/>
              <a:t>10/7/2024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23A8F7-471D-4705-8F94-EB381F83A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82F98-F548-4E33-958E-D2A6C4BA8EFA}" type="slidenum">
              <a:rPr lang="en-US" smtClean="0"/>
              <a:t>11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9AE5AEF-8651-46B7-9AD7-579B9892FBDF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160833" y="4899735"/>
            <a:ext cx="6031167" cy="15486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941E4EDF-5320-4976-93C9-30CD59D8CA82}"/>
              </a:ext>
            </a:extLst>
          </p:cNvPr>
          <p:cNvSpPr/>
          <p:nvPr/>
        </p:nvSpPr>
        <p:spPr>
          <a:xfrm>
            <a:off x="5769205" y="1573217"/>
            <a:ext cx="6269620" cy="4031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>
                <a:solidFill>
                  <a:srgbClr val="C00000"/>
                </a:solidFill>
                <a:latin typeface="Consolas" panose="020B0609020204030204" pitchFamily="49" charset="0"/>
              </a:rPr>
              <a:t>int binary_search(int arr[], int low, int high, int x)</a:t>
            </a:r>
          </a:p>
          <a:p>
            <a:r>
              <a:rPr lang="en-US" sz="1600">
                <a:solidFill>
                  <a:srgbClr val="C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600">
                <a:solidFill>
                  <a:srgbClr val="C00000"/>
                </a:solidFill>
                <a:latin typeface="Consolas" panose="020B0609020204030204" pitchFamily="49" charset="0"/>
              </a:rPr>
              <a:t>    if (low &lt;= high)</a:t>
            </a:r>
          </a:p>
          <a:p>
            <a:r>
              <a:rPr lang="en-US" sz="1600">
                <a:solidFill>
                  <a:srgbClr val="C00000"/>
                </a:solidFill>
                <a:latin typeface="Consolas" panose="020B0609020204030204" pitchFamily="49" charset="0"/>
              </a:rPr>
              <a:t>    {</a:t>
            </a:r>
          </a:p>
          <a:p>
            <a:r>
              <a:rPr lang="en-US" sz="1600">
                <a:solidFill>
                  <a:srgbClr val="C00000"/>
                </a:solidFill>
                <a:latin typeface="Consolas" panose="020B0609020204030204" pitchFamily="49" charset="0"/>
              </a:rPr>
              <a:t>        int mid = (low + high) / 2;</a:t>
            </a:r>
          </a:p>
          <a:p>
            <a:r>
              <a:rPr lang="en-US" sz="1600">
                <a:solidFill>
                  <a:srgbClr val="C00000"/>
                </a:solidFill>
                <a:latin typeface="Consolas" panose="020B0609020204030204" pitchFamily="49" charset="0"/>
              </a:rPr>
              <a:t>        if (arr[mid] == x)</a:t>
            </a:r>
          </a:p>
          <a:p>
            <a:r>
              <a:rPr lang="en-US" sz="1600">
                <a:solidFill>
                  <a:srgbClr val="C00000"/>
                </a:solidFill>
                <a:latin typeface="Consolas" panose="020B0609020204030204" pitchFamily="49" charset="0"/>
              </a:rPr>
              <a:t>            return mid; </a:t>
            </a:r>
            <a:r>
              <a:rPr lang="en-US" sz="1600">
                <a:solidFill>
                  <a:srgbClr val="00B050"/>
                </a:solidFill>
                <a:latin typeface="Consolas" panose="020B0609020204030204" pitchFamily="49" charset="0"/>
              </a:rPr>
              <a:t>//tìm thấy</a:t>
            </a:r>
            <a:endParaRPr lang="en-US" sz="1600">
              <a:solidFill>
                <a:srgbClr val="C00000"/>
              </a:solidFill>
              <a:latin typeface="Consolas" panose="020B0609020204030204" pitchFamily="49" charset="0"/>
            </a:endParaRPr>
          </a:p>
          <a:p>
            <a:r>
              <a:rPr lang="en-US" sz="1600">
                <a:solidFill>
                  <a:srgbClr val="C00000"/>
                </a:solidFill>
                <a:latin typeface="Consolas" panose="020B0609020204030204" pitchFamily="49" charset="0"/>
              </a:rPr>
              <a:t>        else if (arr[mid] &lt; x)</a:t>
            </a:r>
          </a:p>
          <a:p>
            <a:r>
              <a:rPr lang="en-US" sz="1600">
                <a:solidFill>
                  <a:srgbClr val="00B050"/>
                </a:solidFill>
                <a:latin typeface="Consolas" panose="020B0609020204030204" pitchFamily="49" charset="0"/>
              </a:rPr>
              <a:t>	  //tìm tiếp ở nửa phải</a:t>
            </a:r>
            <a:endParaRPr lang="en-US" sz="1600">
              <a:solidFill>
                <a:srgbClr val="C00000"/>
              </a:solidFill>
              <a:latin typeface="Consolas" panose="020B0609020204030204" pitchFamily="49" charset="0"/>
            </a:endParaRPr>
          </a:p>
          <a:p>
            <a:r>
              <a:rPr lang="en-US" sz="1600">
                <a:solidFill>
                  <a:srgbClr val="C00000"/>
                </a:solidFill>
                <a:latin typeface="Consolas" panose="020B0609020204030204" pitchFamily="49" charset="0"/>
              </a:rPr>
              <a:t>            return binary_search(arr, mid+1, high, x);</a:t>
            </a:r>
          </a:p>
          <a:p>
            <a:r>
              <a:rPr lang="en-US" sz="1600">
                <a:solidFill>
                  <a:srgbClr val="C00000"/>
                </a:solidFill>
                <a:latin typeface="Consolas" panose="020B0609020204030204" pitchFamily="49" charset="0"/>
              </a:rPr>
              <a:t>        else</a:t>
            </a:r>
          </a:p>
          <a:p>
            <a:r>
              <a:rPr lang="en-US" sz="1600">
                <a:solidFill>
                  <a:srgbClr val="C00000"/>
                </a:solidFill>
                <a:latin typeface="Consolas" panose="020B0609020204030204" pitchFamily="49" charset="0"/>
              </a:rPr>
              <a:t>	  </a:t>
            </a:r>
            <a:r>
              <a:rPr lang="en-US" sz="1600">
                <a:solidFill>
                  <a:srgbClr val="00B050"/>
                </a:solidFill>
                <a:latin typeface="Consolas" panose="020B0609020204030204" pitchFamily="49" charset="0"/>
              </a:rPr>
              <a:t>//tìm tiếp ở nửa trái</a:t>
            </a:r>
            <a:endParaRPr lang="en-US" sz="1600">
              <a:solidFill>
                <a:srgbClr val="C00000"/>
              </a:solidFill>
              <a:latin typeface="Consolas" panose="020B0609020204030204" pitchFamily="49" charset="0"/>
            </a:endParaRPr>
          </a:p>
          <a:p>
            <a:r>
              <a:rPr lang="en-US" sz="1600">
                <a:solidFill>
                  <a:srgbClr val="C00000"/>
                </a:solidFill>
                <a:latin typeface="Consolas" panose="020B0609020204030204" pitchFamily="49" charset="0"/>
              </a:rPr>
              <a:t>            return binary_search(arr, low, mid-1, x);</a:t>
            </a:r>
          </a:p>
          <a:p>
            <a:r>
              <a:rPr lang="en-US" sz="1600">
                <a:solidFill>
                  <a:srgbClr val="C00000"/>
                </a:solidFill>
                <a:latin typeface="Consolas" panose="020B0609020204030204" pitchFamily="49" charset="0"/>
              </a:rPr>
              <a:t>    }</a:t>
            </a:r>
          </a:p>
          <a:p>
            <a:r>
              <a:rPr lang="en-US" sz="1600">
                <a:solidFill>
                  <a:srgbClr val="C00000"/>
                </a:solidFill>
                <a:latin typeface="Consolas" panose="020B0609020204030204" pitchFamily="49" charset="0"/>
              </a:rPr>
              <a:t>    return -1;</a:t>
            </a:r>
          </a:p>
          <a:p>
            <a:r>
              <a:rPr lang="en-US" sz="1600">
                <a:solidFill>
                  <a:srgbClr val="C00000"/>
                </a:solidFill>
                <a:latin typeface="Consolas" panose="020B0609020204030204" pitchFamily="49" charset="0"/>
              </a:rPr>
              <a:t>}</a:t>
            </a:r>
            <a:endParaRPr lang="en-US" sz="1600" b="0">
              <a:solidFill>
                <a:srgbClr val="C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3025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0576CD-CB78-4A5F-BE2D-338838DE21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Binary search – </a:t>
            </a:r>
            <a:r>
              <a:rPr lang="en-US"/>
              <a:t>Đánh giá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287265-7E02-476D-ACE6-09D2DA59AB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Clr>
                <a:srgbClr val="002776"/>
              </a:buClr>
            </a:pPr>
            <a:r>
              <a:rPr lang="en-AU" altLang="en-US" sz="2800">
                <a:solidFill>
                  <a:srgbClr val="001A4F"/>
                </a:solidFill>
              </a:rPr>
              <a:t>Trường hợp tốt nhất: phần tử giữa có giá trị X</a:t>
            </a:r>
          </a:p>
          <a:p>
            <a:pPr lvl="1">
              <a:buClr>
                <a:srgbClr val="002776"/>
              </a:buClr>
              <a:buFont typeface="Wingdings" panose="05000000000000000000" pitchFamily="2" charset="2"/>
              <a:buChar char="§"/>
            </a:pPr>
            <a:r>
              <a:rPr lang="en-AU" altLang="en-US" sz="2400">
                <a:solidFill>
                  <a:srgbClr val="001A4F"/>
                </a:solidFill>
              </a:rPr>
              <a:t>Số lần so sánh: 1</a:t>
            </a:r>
          </a:p>
          <a:p>
            <a:pPr>
              <a:buClr>
                <a:srgbClr val="002776"/>
              </a:buClr>
            </a:pPr>
            <a:r>
              <a:rPr lang="en-AU" altLang="en-US" sz="2800">
                <a:solidFill>
                  <a:srgbClr val="001A4F"/>
                </a:solidFill>
              </a:rPr>
              <a:t>Trường hợp xấu nhất: không có phần tử có giá trị X</a:t>
            </a:r>
          </a:p>
          <a:p>
            <a:pPr lvl="1">
              <a:buClr>
                <a:srgbClr val="002776"/>
              </a:buClr>
              <a:buFont typeface="Wingdings" panose="05000000000000000000" pitchFamily="2" charset="2"/>
              <a:buChar char="§"/>
            </a:pPr>
            <a:r>
              <a:rPr lang="en-AU" altLang="en-US" sz="2400">
                <a:solidFill>
                  <a:srgbClr val="001A4F"/>
                </a:solidFill>
              </a:rPr>
              <a:t>Số lần so sánh: log(n)</a:t>
            </a:r>
          </a:p>
          <a:p>
            <a:pPr>
              <a:buClr>
                <a:srgbClr val="002776"/>
              </a:buClr>
            </a:pPr>
            <a:r>
              <a:rPr lang="en-AU" altLang="en-US" sz="2800">
                <a:solidFill>
                  <a:srgbClr val="001A4F"/>
                </a:solidFill>
              </a:rPr>
              <a:t>Trường hợp trung bình: giả sử xác suất các phần tử có giá trị X là như nhau</a:t>
            </a:r>
          </a:p>
          <a:p>
            <a:pPr lvl="1">
              <a:buClr>
                <a:srgbClr val="002776"/>
              </a:buClr>
              <a:buFont typeface="Wingdings" panose="05000000000000000000" pitchFamily="2" charset="2"/>
              <a:buChar char="§"/>
            </a:pPr>
            <a:r>
              <a:rPr lang="en-AU" altLang="en-US" sz="2400">
                <a:solidFill>
                  <a:srgbClr val="001A4F"/>
                </a:solidFill>
              </a:rPr>
              <a:t>Số lần so sánh: log(n/2)</a:t>
            </a:r>
          </a:p>
          <a:p>
            <a:pPr>
              <a:buClr>
                <a:srgbClr val="002776"/>
              </a:buClr>
            </a:pPr>
            <a:r>
              <a:rPr lang="en-AU" altLang="en-US" sz="2800">
                <a:solidFill>
                  <a:srgbClr val="001A4F"/>
                </a:solidFill>
              </a:rPr>
              <a:t>Độ phức tạp: O(log(n))</a:t>
            </a:r>
          </a:p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4466DD-9D28-4976-B203-746517AF31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Cấu Trúc Dữ Liệu &amp; Giải Thuật (Data Structures &amp; Algorithms) - Tìm kiếm (Search)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7A6E60-AAE3-4413-A076-55340E2EFA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1662B-FA9D-43E5-8D76-1F2B7C524302}" type="datetime1">
              <a:rPr lang="en-US" smtClean="0"/>
              <a:t>10/7/2024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6F3F39-DBF9-40F1-9292-B08881768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82F98-F548-4E33-958E-D2A6C4BA8EFA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1389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E9A9227-4FCD-49DA-8983-D91FB422DD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1447800"/>
            <a:ext cx="10667999" cy="54102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31C454C-4158-489C-80C6-CD3EBF9D9C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Linear search vs Binary search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B67C0A-C6BD-4A71-80AF-DA1B60024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Cấu Trúc Dữ Liệu &amp; Giải Thuật (Data Structures &amp; Algorithms) - Tìm kiếm (Search)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88CC0A-0384-4E37-9CE1-0338ACEE38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A9844-5BD0-4634-A827-1EC665598CBE}" type="datetime1">
              <a:rPr lang="en-US" smtClean="0"/>
              <a:t>10/7/2024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E8B1C9-73E9-4548-B316-50005F65F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82F98-F548-4E33-958E-D2A6C4BA8EFA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30795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D3DA867-87AE-4E06-BCBE-F32E273922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9621" y="1371600"/>
            <a:ext cx="6072759" cy="3771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17314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HSU">
  <a:themeElements>
    <a:clrScheme name="Cooking_16x9">
      <a:dk1>
        <a:srgbClr val="000000"/>
      </a:dk1>
      <a:lt1>
        <a:sysClr val="window" lastClr="FFFFFF"/>
      </a:lt1>
      <a:dk2>
        <a:srgbClr val="7F7F7F"/>
      </a:dk2>
      <a:lt2>
        <a:srgbClr val="E6E6E6"/>
      </a:lt2>
      <a:accent1>
        <a:srgbClr val="89C01C"/>
      </a:accent1>
      <a:accent2>
        <a:srgbClr val="FCB22C"/>
      </a:accent2>
      <a:accent3>
        <a:srgbClr val="FE750E"/>
      </a:accent3>
      <a:accent4>
        <a:srgbClr val="F23610"/>
      </a:accent4>
      <a:accent5>
        <a:srgbClr val="7C283A"/>
      </a:accent5>
      <a:accent6>
        <a:srgbClr val="3E7520"/>
      </a:accent6>
      <a:hlink>
        <a:srgbClr val="89C01C"/>
      </a:hlink>
      <a:folHlink>
        <a:srgbClr val="A6A6A6"/>
      </a:folHlink>
    </a:clrScheme>
    <a:fontScheme name="Constantia">
      <a:majorFont>
        <a:latin typeface="Constant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nstant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1Subtle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180000"/>
              </a:schemeClr>
            </a:gs>
            <a:gs pos="100000">
              <a:schemeClr val="phClr">
                <a:shade val="45000"/>
                <a:satMod val="120000"/>
              </a:schemeClr>
            </a:gs>
          </a:gsLst>
          <a:path path="circle">
            <a:fillToRect r="100000" b="100000"/>
          </a:path>
        </a:gradFill>
        <a:gradFill rotWithShape="1">
          <a:gsLst>
            <a:gs pos="0">
              <a:schemeClr val="phClr">
                <a:tint val="50000"/>
                <a:satMod val="180000"/>
              </a:schemeClr>
            </a:gs>
            <a:gs pos="100000">
              <a:schemeClr val="phClr">
                <a:shade val="45000"/>
                <a:satMod val="120000"/>
              </a:schemeClr>
            </a:gs>
          </a:gsLst>
          <a:path path="circle">
            <a:fillToRect l="180000" t="50000" b="50000"/>
          </a:path>
        </a:gradFill>
      </a:bgFillStyleLst>
    </a:fmtScheme>
  </a:themeElements>
  <a:objectDefaults>
    <a:lnDef>
      <a:spPr>
        <a:ln w="28575">
          <a:solidFill>
            <a:srgbClr val="002060"/>
          </a:solidFill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HSU" id="{A63A0C5C-11F4-4574-9CEA-7651809D1C0D}" vid="{7CE2F1C4-7BBE-4197-8E6A-747A89601EF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HSU</Template>
  <TotalTime>2673</TotalTime>
  <Words>1236</Words>
  <Application>Microsoft Office PowerPoint</Application>
  <PresentationFormat>Widescreen</PresentationFormat>
  <Paragraphs>156</Paragraphs>
  <Slides>14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Calibri</vt:lpstr>
      <vt:lpstr>Consolas</vt:lpstr>
      <vt:lpstr>Constantia</vt:lpstr>
      <vt:lpstr>Verdana</vt:lpstr>
      <vt:lpstr>Wingdings</vt:lpstr>
      <vt:lpstr>HSU</vt:lpstr>
      <vt:lpstr> Cấu Trúc Dữ Liệu &amp; Giải Thuật</vt:lpstr>
      <vt:lpstr>Bài 3 – Tìm Kiếm (Search)</vt:lpstr>
      <vt:lpstr>Giới thiệu</vt:lpstr>
      <vt:lpstr>Linear search – Ý tưởng</vt:lpstr>
      <vt:lpstr>Linear search – Minh họa</vt:lpstr>
      <vt:lpstr>Linear search – Thuật toán &amp; cài đặt</vt:lpstr>
      <vt:lpstr>Linear search – Đánh giá</vt:lpstr>
      <vt:lpstr>Binary search – Ý tưởng</vt:lpstr>
      <vt:lpstr>Binary search – Minh họa</vt:lpstr>
      <vt:lpstr>Binary search Thuật toán &amp; cài đặt (không dùng đệ qui)</vt:lpstr>
      <vt:lpstr>Binary search Thuật toán &amp; cài đặt (dùng đệ qui)</vt:lpstr>
      <vt:lpstr>Binary search – Đánh giá</vt:lpstr>
      <vt:lpstr>Linear search vs Binary search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Cấu Trúc Dữ Liệu &amp; Giải Thuật</dc:title>
  <dc:creator>Trung Phan</dc:creator>
  <cp:lastModifiedBy>Trung Phan</cp:lastModifiedBy>
  <cp:revision>83</cp:revision>
  <dcterms:created xsi:type="dcterms:W3CDTF">2021-03-26T08:09:27Z</dcterms:created>
  <dcterms:modified xsi:type="dcterms:W3CDTF">2024-10-07T03:34:08Z</dcterms:modified>
</cp:coreProperties>
</file>