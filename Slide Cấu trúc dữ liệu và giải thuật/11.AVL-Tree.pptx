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sldIdLst>
    <p:sldId id="257" r:id="rId2"/>
    <p:sldId id="365" r:id="rId3"/>
    <p:sldId id="308" r:id="rId4"/>
    <p:sldId id="368" r:id="rId5"/>
    <p:sldId id="369" r:id="rId6"/>
    <p:sldId id="371" r:id="rId7"/>
    <p:sldId id="372" r:id="rId8"/>
    <p:sldId id="370" r:id="rId9"/>
    <p:sldId id="494" r:id="rId10"/>
    <p:sldId id="482" r:id="rId11"/>
    <p:sldId id="487" r:id="rId12"/>
    <p:sldId id="486" r:id="rId13"/>
    <p:sldId id="488" r:id="rId14"/>
    <p:sldId id="489" r:id="rId15"/>
    <p:sldId id="490" r:id="rId16"/>
    <p:sldId id="491" r:id="rId17"/>
    <p:sldId id="413" r:id="rId18"/>
    <p:sldId id="406" r:id="rId19"/>
    <p:sldId id="492" r:id="rId20"/>
    <p:sldId id="373" r:id="rId21"/>
    <p:sldId id="432" r:id="rId22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02" autoAdjust="0"/>
    <p:restoredTop sz="87952" autoAdjust="0"/>
  </p:normalViewPr>
  <p:slideViewPr>
    <p:cSldViewPr snapToGrid="0">
      <p:cViewPr varScale="1">
        <p:scale>
          <a:sx n="75" d="100"/>
          <a:sy n="75" d="100"/>
        </p:scale>
        <p:origin x="67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DF7F9-CFC5-4D89-8961-C0239DBDFAE0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FC458-15A8-473E-97CA-B466A563B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97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69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36589F88-528C-4A68-8413-9A584054EE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F46DB83A-BA48-4FF9-BF28-94526EB75C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A08AFAC1-A1C9-46C7-A595-18DC7FF44E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DA9CCAA1-2AF5-41F8-A591-B314AC24BF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6CEDBD29-C155-4F9E-9DF3-BE9DA388F2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735EDDD6-B767-4B56-923E-690ADE36BB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06A50150-AD69-4FD7-81F1-AEDFEFFD37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E360D388-65FB-4324-843E-FE65EEBE3F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7DA02503-6992-4577-96A4-060C6C223F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C949F36F-E6AC-4397-ADA3-15AF11B512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latin typeface="Arial" panose="020B0604020202020204" pitchFamily="34" charset="0"/>
              </a:rPr>
              <a:t>A -&gt; 0100 0001 -&gt; 65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33D55E54-88BB-489F-8F30-CA0B6ABDFF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7A46A637-03BC-48CC-AE70-72CC48F922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138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46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 &lt;= B,R &lt;= h+1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63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87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https://degas.en.kku.ac.th/courses/EN812303/visalg/avl.html</a:t>
            </a:r>
          </a:p>
          <a:p>
            <a:r>
              <a:rPr lang="en-US"/>
              <a:t>http://www.motleytech.net/balanced-binary-tree-avl-tree-animation.html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438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Độ phức tạp của các thao tác khác nhau trên cây AVL</a:t>
            </a:r>
          </a:p>
          <a:p>
            <a:r>
              <a:rPr lang="en-US">
                <a:effectLst/>
              </a:rPr>
              <a:t>Thao tác thêm phần tửThao tác xóa phần tửThao tác tìm kiếm phần tửO(log n)O(log n)O(log n)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68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77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56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2892" y="2047102"/>
            <a:ext cx="9594308" cy="16764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>
              <a:lnSpc>
                <a:spcPct val="80000"/>
              </a:lnSpc>
              <a:defRPr sz="6000" b="0" cap="none" spc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2892" y="3774301"/>
            <a:ext cx="9594308" cy="886344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 marL="0" indent="0" algn="l">
              <a:buNone/>
              <a:defRPr sz="2800">
                <a:solidFill>
                  <a:srgbClr val="002060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4129-8558-411E-A8AF-2BF463C6E9E7}" type="datetime1">
              <a:rPr lang="vi-VN" smtClean="0"/>
              <a:t>24/06/2021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9B8A27-3EA1-4728-A36E-35B620DF7691}"/>
              </a:ext>
            </a:extLst>
          </p:cNvPr>
          <p:cNvGrpSpPr/>
          <p:nvPr/>
        </p:nvGrpSpPr>
        <p:grpSpPr>
          <a:xfrm>
            <a:off x="9201323" y="1"/>
            <a:ext cx="2990677" cy="977265"/>
            <a:chOff x="3054154" y="4685464"/>
            <a:chExt cx="2989898" cy="97726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6329EE-CCCE-4AC0-9DB2-5F80B2AA0D83}"/>
                </a:ext>
              </a:extLst>
            </p:cNvPr>
            <p:cNvSpPr/>
            <p:nvPr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503A9F-91CA-4940-BAC2-D67FF53B17C5}"/>
                </a:ext>
              </a:extLst>
            </p:cNvPr>
            <p:cNvSpPr/>
            <p:nvPr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67EDA8-6C95-41BD-B178-C180F700E4B2}"/>
                </a:ext>
              </a:extLst>
            </p:cNvPr>
            <p:cNvSpPr/>
            <p:nvPr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8BF2221-00FE-4DF5-A069-2B837EDC39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4"/>
            <a:ext cx="1219199" cy="996436"/>
          </a:xfrm>
          <a:prstGeom prst="rect">
            <a:avLst/>
          </a:prstGeom>
        </p:spPr>
      </p:pic>
      <p:grpSp>
        <p:nvGrpSpPr>
          <p:cNvPr id="18" name="squares">
            <a:extLst>
              <a:ext uri="{FF2B5EF4-FFF2-40B4-BE49-F238E27FC236}">
                <a16:creationId xmlns:a16="http://schemas.microsoft.com/office/drawing/2014/main" id="{1B50D0F4-1489-4253-A226-715457F571D1}"/>
              </a:ext>
            </a:extLst>
          </p:cNvPr>
          <p:cNvGrpSpPr/>
          <p:nvPr/>
        </p:nvGrpSpPr>
        <p:grpSpPr>
          <a:xfrm>
            <a:off x="0" y="2918442"/>
            <a:ext cx="1622755" cy="805061"/>
            <a:chOff x="0" y="2343311"/>
            <a:chExt cx="1217066" cy="603796"/>
          </a:xfrm>
        </p:grpSpPr>
        <p:sp>
          <p:nvSpPr>
            <p:cNvPr id="19" name="Rounded Rectangle 7">
              <a:extLst>
                <a:ext uri="{FF2B5EF4-FFF2-40B4-BE49-F238E27FC236}">
                  <a16:creationId xmlns:a16="http://schemas.microsoft.com/office/drawing/2014/main" id="{EB5961F1-EADE-4873-B490-A198A56659CA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0" name="Rounded Rectangle 8">
              <a:extLst>
                <a:ext uri="{FF2B5EF4-FFF2-40B4-BE49-F238E27FC236}">
                  <a16:creationId xmlns:a16="http://schemas.microsoft.com/office/drawing/2014/main" id="{4B052CC2-AE5F-457A-9F64-599115C7860C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1" name="Round Same Side Corner Rectangle 9">
              <a:extLst>
                <a:ext uri="{FF2B5EF4-FFF2-40B4-BE49-F238E27FC236}">
                  <a16:creationId xmlns:a16="http://schemas.microsoft.com/office/drawing/2014/main" id="{4E90F40F-56E0-4ADC-A71D-BB8EB1E62E22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83752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4">
                  <a:lumMod val="50000"/>
                </a:schemeClr>
              </a:buClr>
              <a:defRPr/>
            </a:lvl1pPr>
            <a:lvl2pPr>
              <a:buClr>
                <a:schemeClr val="accent4">
                  <a:lumMod val="50000"/>
                </a:schemeClr>
              </a:buClr>
              <a:defRPr/>
            </a:lvl2pPr>
            <a:lvl3pPr>
              <a:buClr>
                <a:schemeClr val="accent4">
                  <a:lumMod val="50000"/>
                </a:schemeClr>
              </a:buClr>
              <a:defRPr/>
            </a:lvl3pPr>
            <a:lvl4pPr>
              <a:buClr>
                <a:schemeClr val="accent4">
                  <a:lumMod val="50000"/>
                </a:schemeClr>
              </a:buClr>
              <a:defRPr/>
            </a:lvl4pPr>
            <a:lvl5pPr>
              <a:buClr>
                <a:schemeClr val="accent4">
                  <a:lumMod val="50000"/>
                </a:schemeClr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2284-59D3-4D2C-AABB-172835E18FFF}" type="datetime1">
              <a:rPr lang="vi-VN" smtClean="0"/>
              <a:t>24/06/2021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5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3232825"/>
            <a:ext cx="1622755" cy="805061"/>
            <a:chOff x="0" y="2343311"/>
            <a:chExt cx="1217066" cy="603796"/>
          </a:xfrm>
        </p:grpSpPr>
        <p:sp>
          <p:nvSpPr>
            <p:cNvPr id="8" name="Rounded Rectangle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471" y="1263467"/>
            <a:ext cx="8339329" cy="166261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3471" y="2998623"/>
            <a:ext cx="8339330" cy="2880969"/>
          </a:xfrm>
        </p:spPr>
        <p:txBody>
          <a:bodyPr anchor="t">
            <a:normAutofit/>
          </a:bodyPr>
          <a:lstStyle>
            <a:lvl1pPr marL="457200" indent="-457200"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50E30-5047-4AD2-A5B2-3124E2FA4F71}" type="datetime1">
              <a:rPr lang="vi-VN" smtClean="0"/>
              <a:t>24/06/2021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AEF9CF-A1B6-4C1A-8CE3-C3BB79B039BC}"/>
              </a:ext>
            </a:extLst>
          </p:cNvPr>
          <p:cNvGrpSpPr/>
          <p:nvPr/>
        </p:nvGrpSpPr>
        <p:grpSpPr>
          <a:xfrm>
            <a:off x="9201323" y="1"/>
            <a:ext cx="2990677" cy="977265"/>
            <a:chOff x="3054154" y="4685464"/>
            <a:chExt cx="2989898" cy="9772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29AF9A-BFB1-433D-BABF-9882B69E5FB9}"/>
                </a:ext>
              </a:extLst>
            </p:cNvPr>
            <p:cNvSpPr/>
            <p:nvPr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22B2BC-C260-404D-AAFC-2E015E6C4DA6}"/>
                </a:ext>
              </a:extLst>
            </p:cNvPr>
            <p:cNvSpPr/>
            <p:nvPr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79C986-FCE1-4BC9-8ABC-DFCEDBD10D33}"/>
                </a:ext>
              </a:extLst>
            </p:cNvPr>
            <p:cNvSpPr/>
            <p:nvPr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8E096A75-8096-4EB1-9A83-06C91A2E34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4"/>
            <a:ext cx="1219199" cy="99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7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09" y="152400"/>
            <a:ext cx="9753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709" y="1600200"/>
            <a:ext cx="487680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9" y="1600200"/>
            <a:ext cx="487680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C4CA3-497D-476A-92EC-70DC3FDE7F15}" type="datetime1">
              <a:rPr lang="vi-VN" smtClean="0"/>
              <a:t>24/06/2021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0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09" y="152400"/>
            <a:ext cx="975360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709" y="1524001"/>
            <a:ext cx="487680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rgbClr val="002060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709" y="2413001"/>
            <a:ext cx="487680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5999" y="1524001"/>
            <a:ext cx="487680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rgbClr val="002060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5999" y="2413001"/>
            <a:ext cx="487680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928A-2F51-4E05-9DF2-C8206D0CC430}" type="datetime1">
              <a:rPr lang="vi-VN" smtClean="0"/>
              <a:t>24/06/2021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7A9E4-4751-4873-A98A-725F7DBAF8C5}" type="datetime1">
              <a:rPr lang="vi-VN" smtClean="0"/>
              <a:t>24/06/2021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7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6F87-EAB0-4B8F-9071-C5692CA34F81}" type="datetime1">
              <a:rPr lang="vi-VN" smtClean="0"/>
              <a:t>24/06/2021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C1564-F4CB-4080-B340-F91FCF920A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5"/>
            <a:ext cx="1068282" cy="882027"/>
          </a:xfrm>
          <a:prstGeom prst="rect">
            <a:avLst/>
          </a:prstGeom>
        </p:spPr>
      </p:pic>
      <p:grpSp>
        <p:nvGrpSpPr>
          <p:cNvPr id="7" name="squares">
            <a:extLst>
              <a:ext uri="{FF2B5EF4-FFF2-40B4-BE49-F238E27FC236}">
                <a16:creationId xmlns:a16="http://schemas.microsoft.com/office/drawing/2014/main" id="{47DEEE63-A1BC-4A43-A4AD-76951E5D7313}"/>
              </a:ext>
            </a:extLst>
          </p:cNvPr>
          <p:cNvGrpSpPr/>
          <p:nvPr userDrawn="1"/>
        </p:nvGrpSpPr>
        <p:grpSpPr>
          <a:xfrm>
            <a:off x="1523" y="5639016"/>
            <a:ext cx="1141709" cy="533185"/>
            <a:chOff x="0" y="2343311"/>
            <a:chExt cx="1217066" cy="603796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77A6632-F6E5-43A1-84B0-4AE988F94BFC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425D3A9-E201-49FC-8A02-A00F4FAA158A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 Same Side Corner Rectangle 9">
              <a:extLst>
                <a:ext uri="{FF2B5EF4-FFF2-40B4-BE49-F238E27FC236}">
                  <a16:creationId xmlns:a16="http://schemas.microsoft.com/office/drawing/2014/main" id="{476A3E42-3880-4E46-9109-3363DDD8FF50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AA3E34-53C5-4668-AF9A-A0EA9AF4B2C4}"/>
              </a:ext>
            </a:extLst>
          </p:cNvPr>
          <p:cNvCxnSpPr/>
          <p:nvPr userDrawn="1"/>
        </p:nvCxnSpPr>
        <p:spPr>
          <a:xfrm>
            <a:off x="1219200" y="1447800"/>
            <a:ext cx="10680243" cy="0"/>
          </a:xfrm>
          <a:prstGeom prst="line">
            <a:avLst/>
          </a:prstGeom>
          <a:ln w="19050">
            <a:solidFill>
              <a:srgbClr val="000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63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quares">
            <a:extLst>
              <a:ext uri="{FF2B5EF4-FFF2-40B4-BE49-F238E27FC236}">
                <a16:creationId xmlns:a16="http://schemas.microsoft.com/office/drawing/2014/main" id="{C57A4AB8-5D15-44AC-8A80-ED2E069BBD22}"/>
              </a:ext>
            </a:extLst>
          </p:cNvPr>
          <p:cNvGrpSpPr/>
          <p:nvPr/>
        </p:nvGrpSpPr>
        <p:grpSpPr>
          <a:xfrm>
            <a:off x="0" y="2918442"/>
            <a:ext cx="1622755" cy="805061"/>
            <a:chOff x="0" y="2343311"/>
            <a:chExt cx="1217066" cy="603796"/>
          </a:xfrm>
        </p:grpSpPr>
        <p:sp>
          <p:nvSpPr>
            <p:cNvPr id="3" name="Rounded Rectangle 7">
              <a:extLst>
                <a:ext uri="{FF2B5EF4-FFF2-40B4-BE49-F238E27FC236}">
                  <a16:creationId xmlns:a16="http://schemas.microsoft.com/office/drawing/2014/main" id="{478D5619-DEF4-4F6F-BC11-78D556BE6DF3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4" name="Rounded Rectangle 8">
              <a:extLst>
                <a:ext uri="{FF2B5EF4-FFF2-40B4-BE49-F238E27FC236}">
                  <a16:creationId xmlns:a16="http://schemas.microsoft.com/office/drawing/2014/main" id="{27B79603-57DF-4000-ACF1-94A257895CD9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5" name="Round Same Side Corner Rectangle 9">
              <a:extLst>
                <a:ext uri="{FF2B5EF4-FFF2-40B4-BE49-F238E27FC236}">
                  <a16:creationId xmlns:a16="http://schemas.microsoft.com/office/drawing/2014/main" id="{29F8B2DB-73B5-4BE9-9E44-64A2507214C4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76644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1600200"/>
            <a:ext cx="6096001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1600202"/>
            <a:ext cx="3454400" cy="45719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E586-3513-4425-BFAA-3CD7866A7E43}" type="datetime1">
              <a:rPr lang="vi-VN" smtClean="0"/>
              <a:t>24/06/2021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19205" y="1600200"/>
            <a:ext cx="6705596" cy="3657600"/>
          </a:xfrm>
          <a:prstGeom prst="roundRect">
            <a:avLst>
              <a:gd name="adj" fmla="val 309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0" y="1600200"/>
            <a:ext cx="2844800" cy="3759200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04AB3-82E2-48C1-B81F-DEC77E100A8F}" type="datetime1">
              <a:rPr lang="vi-VN" smtClean="0"/>
              <a:t>24/06/2021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9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4B7B-1503-4518-8B44-9BD875C336F9}" type="datetime1">
              <a:rPr lang="vi-VN" smtClean="0"/>
              <a:t>24/06/2021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0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 rot="5400000">
            <a:off x="9585642" y="233796"/>
            <a:ext cx="1063300" cy="524183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5" name="bottom graphic"/>
          <p:cNvGrpSpPr/>
          <p:nvPr/>
        </p:nvGrpSpPr>
        <p:grpSpPr>
          <a:xfrm>
            <a:off x="1" y="5395518"/>
            <a:ext cx="12192000" cy="1462483"/>
            <a:chOff x="0" y="4046638"/>
            <a:chExt cx="9144000" cy="1096862"/>
          </a:xfrm>
        </p:grpSpPr>
        <p:sp>
          <p:nvSpPr>
            <p:cNvPr id="16" name="Freeform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3600" y="1150515"/>
            <a:ext cx="1828800" cy="50216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1150515"/>
            <a:ext cx="8229600" cy="502168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E369B-0550-4D8F-B3B7-574EAA255DC8}" type="datetime1">
              <a:rPr lang="vi-VN" smtClean="0"/>
              <a:t>24/06/2021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2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77AEAD2-D5F9-4E1D-B0A6-604BACEE5E4E}"/>
              </a:ext>
            </a:extLst>
          </p:cNvPr>
          <p:cNvGrpSpPr/>
          <p:nvPr/>
        </p:nvGrpSpPr>
        <p:grpSpPr>
          <a:xfrm>
            <a:off x="9201323" y="1"/>
            <a:ext cx="2990677" cy="977265"/>
            <a:chOff x="3054154" y="4685464"/>
            <a:chExt cx="2989898" cy="97726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213D99B-2104-4A9F-BDE3-982717982595}"/>
                </a:ext>
              </a:extLst>
            </p:cNvPr>
            <p:cNvSpPr/>
            <p:nvPr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12289B9-AF49-4D19-8E64-44D48F3EDA25}"/>
                </a:ext>
              </a:extLst>
            </p:cNvPr>
            <p:cNvSpPr/>
            <p:nvPr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0CC91CA-C7FB-4A6F-9352-75B89CB56F9D}"/>
                </a:ext>
              </a:extLst>
            </p:cNvPr>
            <p:cNvSpPr/>
            <p:nvPr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A093B63-C705-43D6-A50C-B1CD2E6E94E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5"/>
            <a:ext cx="1068282" cy="88202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1" y="152400"/>
            <a:ext cx="10680242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600200"/>
            <a:ext cx="10667999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9201" y="6448425"/>
            <a:ext cx="829056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rgbClr val="002060"/>
                </a:solidFill>
              </a:defRPr>
            </a:lvl1pPr>
          </a:lstStyle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50400" y="6448425"/>
            <a:ext cx="142240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3527C58C-F6C7-40C9-9220-4F1E193CA40A}" type="datetime1">
              <a:rPr lang="vi-VN" smtClean="0"/>
              <a:t>24/06/2021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4400" y="6448425"/>
            <a:ext cx="81280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grpSp>
        <p:nvGrpSpPr>
          <p:cNvPr id="24" name="squares">
            <a:extLst>
              <a:ext uri="{FF2B5EF4-FFF2-40B4-BE49-F238E27FC236}">
                <a16:creationId xmlns:a16="http://schemas.microsoft.com/office/drawing/2014/main" id="{D12F9285-888D-4066-97B6-C5AFB2FF7829}"/>
              </a:ext>
            </a:extLst>
          </p:cNvPr>
          <p:cNvGrpSpPr/>
          <p:nvPr/>
        </p:nvGrpSpPr>
        <p:grpSpPr>
          <a:xfrm>
            <a:off x="1523" y="5639016"/>
            <a:ext cx="1141709" cy="533185"/>
            <a:chOff x="0" y="2343311"/>
            <a:chExt cx="1217066" cy="603796"/>
          </a:xfrm>
        </p:grpSpPr>
        <p:sp>
          <p:nvSpPr>
            <p:cNvPr id="25" name="Rounded Rectangle 7">
              <a:extLst>
                <a:ext uri="{FF2B5EF4-FFF2-40B4-BE49-F238E27FC236}">
                  <a16:creationId xmlns:a16="http://schemas.microsoft.com/office/drawing/2014/main" id="{0C599B0C-42A9-4F5A-A15F-B95B1EF9248D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6" name="Rounded Rectangle 8">
              <a:extLst>
                <a:ext uri="{FF2B5EF4-FFF2-40B4-BE49-F238E27FC236}">
                  <a16:creationId xmlns:a16="http://schemas.microsoft.com/office/drawing/2014/main" id="{E527A34F-7FEF-4267-86B1-646FD0EC10D2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7" name="Round Same Side Corner Rectangle 9">
              <a:extLst>
                <a:ext uri="{FF2B5EF4-FFF2-40B4-BE49-F238E27FC236}">
                  <a16:creationId xmlns:a16="http://schemas.microsoft.com/office/drawing/2014/main" id="{A279244A-E685-4D66-95DE-1CF0D73BE881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E68FC5-648F-42FD-B3A1-4A4175E6CA61}"/>
              </a:ext>
            </a:extLst>
          </p:cNvPr>
          <p:cNvCxnSpPr/>
          <p:nvPr/>
        </p:nvCxnSpPr>
        <p:spPr>
          <a:xfrm>
            <a:off x="1219200" y="1447800"/>
            <a:ext cx="10680243" cy="0"/>
          </a:xfrm>
          <a:prstGeom prst="line">
            <a:avLst/>
          </a:prstGeom>
          <a:ln w="19050">
            <a:solidFill>
              <a:srgbClr val="000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32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2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accent3">
              <a:lumMod val="7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304747" indent="-304747" algn="just" defTabSz="1218987" rtl="0" eaLnBrk="1" latinLnBrk="0" hangingPunct="1">
        <a:lnSpc>
          <a:spcPct val="110000"/>
        </a:lnSpc>
        <a:spcBef>
          <a:spcPts val="1800"/>
        </a:spcBef>
        <a:buClr>
          <a:schemeClr val="accent4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755772" indent="-304747" algn="just" defTabSz="1218987" rtl="0" eaLnBrk="1" latinLnBrk="0" hangingPunct="1">
        <a:lnSpc>
          <a:spcPct val="110000"/>
        </a:lnSpc>
        <a:spcBef>
          <a:spcPts val="1200"/>
        </a:spcBef>
        <a:buClr>
          <a:schemeClr val="accent4">
            <a:lumMod val="50000"/>
          </a:schemeClr>
        </a:buClr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206797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Verdana" panose="020B0604030504040204" pitchFamily="34" charset="0"/>
        <a:buChar char="−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57822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108847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1" y="1905000"/>
            <a:ext cx="10666492" cy="2209800"/>
          </a:xfrm>
        </p:spPr>
        <p:txBody>
          <a:bodyPr/>
          <a:lstStyle/>
          <a:p>
            <a:pPr algn="r"/>
            <a:br>
              <a:rPr lang="en-US" sz="7200">
                <a:solidFill>
                  <a:schemeClr val="accent4"/>
                </a:solidFill>
              </a:rPr>
            </a:br>
            <a:r>
              <a:rPr lang="en-US" sz="7200">
                <a:solidFill>
                  <a:schemeClr val="accent4"/>
                </a:solidFill>
              </a:rPr>
              <a:t>Cấu Trúc Dữ Liệu</a:t>
            </a:r>
            <a:br>
              <a:rPr lang="en-US" sz="7200">
                <a:solidFill>
                  <a:schemeClr val="accent4"/>
                </a:solidFill>
              </a:rPr>
            </a:br>
            <a:r>
              <a:rPr lang="en-US" sz="7200">
                <a:solidFill>
                  <a:schemeClr val="accent4"/>
                </a:solidFill>
              </a:rPr>
              <a:t>&amp; Giải Thuật</a:t>
            </a:r>
            <a:endParaRPr lang="en-US" sz="13800">
              <a:solidFill>
                <a:schemeClr val="accent4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3885" y="5410200"/>
            <a:ext cx="9591809" cy="88634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0000AC"/>
                </a:solidFill>
              </a:rPr>
              <a:t>GV: Phan Hồng Trung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EA06A3-8B8E-4F32-A4A5-E44F102A338C}"/>
              </a:ext>
            </a:extLst>
          </p:cNvPr>
          <p:cNvSpPr txBox="1">
            <a:spLocks/>
          </p:cNvSpPr>
          <p:nvPr/>
        </p:nvSpPr>
        <p:spPr>
          <a:xfrm>
            <a:off x="1219201" y="4114800"/>
            <a:ext cx="10666492" cy="647700"/>
          </a:xfrm>
          <a:prstGeom prst="rect">
            <a:avLst/>
          </a:prstGeom>
        </p:spPr>
        <p:txBody>
          <a:bodyPr vert="horz" lIns="121899" tIns="60949" rIns="121899" bIns="60949" rtlCol="0" anchor="b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 algn="l" defTabSz="121898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0" kern="1200" cap="none" spc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algn="r"/>
            <a:br>
              <a:rPr lang="en-US" sz="2800">
                <a:solidFill>
                  <a:srgbClr val="0070C0"/>
                </a:solidFill>
              </a:rPr>
            </a:br>
            <a:r>
              <a:rPr lang="en-US" sz="2800">
                <a:solidFill>
                  <a:srgbClr val="0000AC"/>
                </a:solidFill>
              </a:rPr>
              <a:t>Data Structures &amp; Algorithms</a:t>
            </a:r>
          </a:p>
        </p:txBody>
      </p:sp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0000" t="20000" r="20000" b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8 – Cây (Tree) – Phần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Cây (Tree)</a:t>
            </a:r>
          </a:p>
          <a:p>
            <a:r>
              <a:rPr lang="en-AU"/>
              <a:t>Cây nhị phân (Binary Tree)</a:t>
            </a:r>
          </a:p>
          <a:p>
            <a:r>
              <a:rPr lang="en-AU"/>
              <a:t>Cây tìm kiếm nhị phân (Binary Search Tree)</a:t>
            </a:r>
          </a:p>
          <a:p>
            <a:r>
              <a:rPr lang="en-AU"/>
              <a:t>Cây tìm kiếm nhị phân t</a:t>
            </a:r>
            <a:r>
              <a:rPr lang="en-US"/>
              <a:t>ự </a:t>
            </a:r>
            <a:r>
              <a:rPr lang="en-AU"/>
              <a:t>cân bằng (AVL Tree)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8E5B5EA-DA4D-4351-B612-B4B2D445A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A7054D4-2248-41F3-BD34-57A501E5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</a:t>
            </a:fld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5D6CB7FA-BDB3-495E-8AFD-F6D2311B6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E6DF-F9EF-4231-A485-4FBC744A7ADF}" type="datetime1">
              <a:rPr lang="vi-VN" smtClean="0"/>
              <a:t>24/06/2021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0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393E-39E5-4CF9-97ED-3B01F4EC4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Cây </a:t>
            </a:r>
            <a:r>
              <a:rPr lang="en-AU" dirty="0"/>
              <a:t>AVL</a:t>
            </a:r>
          </a:p>
        </p:txBody>
      </p:sp>
      <p:sp>
        <p:nvSpPr>
          <p:cNvPr id="137222" name="Content Placeholder 2">
            <a:extLst>
              <a:ext uri="{FF2B5EF4-FFF2-40B4-BE49-F238E27FC236}">
                <a16:creationId xmlns:a16="http://schemas.microsoft.com/office/drawing/2014/main" id="{03EC16C6-7022-434C-8420-3311248B5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altLang="en-US"/>
              <a:t>Khái niệm về cây AVL</a:t>
            </a:r>
          </a:p>
          <a:p>
            <a:r>
              <a:rPr lang="en-AU" altLang="en-US"/>
              <a:t>Tổ chức lưu trữ</a:t>
            </a:r>
          </a:p>
          <a:p>
            <a:r>
              <a:rPr lang="en-AU" altLang="en-US"/>
              <a:t>Các thao tác trên cây AVL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D1053CD-13A5-4B96-9CE3-92EC4D9FF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A1263A-7E7F-4B34-BB31-78F2C511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</a:t>
            </a:fld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E100FA2-BB94-4D6E-818D-3C16D25A2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055DC-BC9A-48F4-ABAA-B0AE83081744}" type="datetime1">
              <a:rPr lang="vi-VN" smtClean="0"/>
              <a:t>24/06/2021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6CD0-3B25-4301-889D-FFE331351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Khái niệm về cây </a:t>
            </a:r>
            <a:r>
              <a:rPr lang="en-AU" dirty="0"/>
              <a:t>AVL</a:t>
            </a:r>
          </a:p>
        </p:txBody>
      </p:sp>
      <p:sp>
        <p:nvSpPr>
          <p:cNvPr id="139270" name="Content Placeholder 2">
            <a:extLst>
              <a:ext uri="{FF2B5EF4-FFF2-40B4-BE49-F238E27FC236}">
                <a16:creationId xmlns:a16="http://schemas.microsoft.com/office/drawing/2014/main" id="{AC1D38C4-2A0D-4304-AA99-0527DDDD1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1600200"/>
            <a:ext cx="7607298" cy="3909349"/>
          </a:xfrm>
        </p:spPr>
        <p:txBody>
          <a:bodyPr>
            <a:normAutofit fontScale="92500" lnSpcReduction="20000"/>
          </a:bodyPr>
          <a:lstStyle/>
          <a:p>
            <a:r>
              <a:rPr lang="en-AU" altLang="en-US"/>
              <a:t>Khi cây tìm kiếm nhị phân bị lệch, chi phí tìm kiếm là O(n) </a:t>
            </a:r>
            <a:r>
              <a:rPr lang="en-AU" altLang="en-US">
                <a:sym typeface="Wingdings" panose="05000000000000000000" pitchFamily="2" charset="2"/>
              </a:rPr>
              <a:t> không hiệu quả  cần phải duy trì độ cân bằng của cây.</a:t>
            </a:r>
          </a:p>
          <a:p>
            <a:r>
              <a:rPr lang="en-AU" altLang="en-US"/>
              <a:t>Cây AVL:</a:t>
            </a:r>
          </a:p>
          <a:p>
            <a:pPr lvl="1"/>
            <a:r>
              <a:rPr lang="en-US"/>
              <a:t>Là cây tìm kiếm nhị phân tự cân bằng, và là cấu trúc dữ liệu đầu tiên có khả năng này. </a:t>
            </a:r>
          </a:p>
          <a:p>
            <a:pPr lvl="1"/>
            <a:r>
              <a:rPr lang="en-US"/>
              <a:t>Đ</a:t>
            </a:r>
            <a:r>
              <a:rPr lang="vi-VN"/>
              <a:t>ược đặt theo tên của các nhà phát minh </a:t>
            </a:r>
            <a:r>
              <a:rPr lang="vi-VN">
                <a:solidFill>
                  <a:srgbClr val="C00000"/>
                </a:solidFill>
              </a:rPr>
              <a:t>A</a:t>
            </a:r>
            <a:r>
              <a:rPr lang="vi-VN"/>
              <a:t>delson-</a:t>
            </a:r>
            <a:r>
              <a:rPr lang="vi-VN">
                <a:solidFill>
                  <a:srgbClr val="C00000"/>
                </a:solidFill>
              </a:rPr>
              <a:t>V</a:t>
            </a:r>
            <a:r>
              <a:rPr lang="vi-VN"/>
              <a:t>elsky và </a:t>
            </a:r>
            <a:r>
              <a:rPr lang="vi-VN">
                <a:solidFill>
                  <a:srgbClr val="C00000"/>
                </a:solidFill>
              </a:rPr>
              <a:t>L</a:t>
            </a:r>
            <a:r>
              <a:rPr lang="vi-VN"/>
              <a:t>andis</a:t>
            </a:r>
            <a:r>
              <a:rPr lang="en-AU"/>
              <a:t>.</a:t>
            </a:r>
            <a:endParaRPr lang="en-AU" altLang="en-US">
              <a:sym typeface="Wingdings" panose="05000000000000000000" pitchFamily="2" charset="2"/>
            </a:endParaRPr>
          </a:p>
          <a:p>
            <a:pPr lvl="1"/>
            <a:r>
              <a:rPr lang="en-AU" altLang="en-US"/>
              <a:t>Là cây nhị phân tìm kiếm mà tại mỗi nút, chiều cao của cây con trái và chiều cao của cây con phải chênh lệch nhau không quá 1.</a:t>
            </a:r>
          </a:p>
        </p:txBody>
      </p:sp>
      <p:pic>
        <p:nvPicPr>
          <p:cNvPr id="139272" name="Picture 4">
            <a:extLst>
              <a:ext uri="{FF2B5EF4-FFF2-40B4-BE49-F238E27FC236}">
                <a16:creationId xmlns:a16="http://schemas.microsoft.com/office/drawing/2014/main" id="{99AA3D99-624E-4D3A-AF4F-8BD292A28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499" y="3349625"/>
            <a:ext cx="254317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9271" name="Picture 3">
            <a:extLst>
              <a:ext uri="{FF2B5EF4-FFF2-40B4-BE49-F238E27FC236}">
                <a16:creationId xmlns:a16="http://schemas.microsoft.com/office/drawing/2014/main" id="{FF15079E-2941-4344-AB18-9A2C5668A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1189" y="1600200"/>
            <a:ext cx="2286000" cy="278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9273" name="Picture 6">
            <a:extLst>
              <a:ext uri="{FF2B5EF4-FFF2-40B4-BE49-F238E27FC236}">
                <a16:creationId xmlns:a16="http://schemas.microsoft.com/office/drawing/2014/main" id="{46348909-8927-48C1-B271-CF33CA41C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106" y="5509549"/>
            <a:ext cx="447675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0EDCCA46-C66A-492B-A53C-5837DBEA6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5259FCC-B261-4CE6-8412-C09E4C89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4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387ABAF-7EC9-4356-A6DF-D2424EE22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61ACB-AA1D-4436-8A62-4E2E3D52326B}" type="datetime1">
              <a:rPr lang="vi-VN" smtClean="0"/>
              <a:t>24/06/2021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6436-F2DD-4A0B-8483-0040083C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Ví dụ về cây </a:t>
            </a:r>
            <a:r>
              <a:rPr lang="en-AU" dirty="0"/>
              <a:t>AVL</a:t>
            </a:r>
          </a:p>
        </p:txBody>
      </p:sp>
      <p:pic>
        <p:nvPicPr>
          <p:cNvPr id="141319" name="Picture 2">
            <a:extLst>
              <a:ext uri="{FF2B5EF4-FFF2-40B4-BE49-F238E27FC236}">
                <a16:creationId xmlns:a16="http://schemas.microsoft.com/office/drawing/2014/main" id="{1A3F62B9-1B11-4D33-8D4E-00CBFEB10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00" y="1816704"/>
            <a:ext cx="6654800" cy="446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FA89B1D-B121-45A5-A855-74D2FEFA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BE9A566-C82A-4D5C-83C8-51E14711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5</a:t>
            </a:fld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01FE29A-E1CA-40C3-B950-550A252BB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39B3-9E59-4BF0-92A1-DB0C4D6B3B7A}" type="datetime1">
              <a:rPr lang="vi-VN" smtClean="0"/>
              <a:t>24/06/2021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82B28-C8CA-4296-952A-290DBC3FD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Tổ chức lưu trữ</a:t>
            </a:r>
            <a:endParaRPr lang="en-AU" dirty="0"/>
          </a:p>
        </p:txBody>
      </p:sp>
      <p:sp>
        <p:nvSpPr>
          <p:cNvPr id="143366" name="Content Placeholder 2">
            <a:extLst>
              <a:ext uri="{FF2B5EF4-FFF2-40B4-BE49-F238E27FC236}">
                <a16:creationId xmlns:a16="http://schemas.microsoft.com/office/drawing/2014/main" id="{DB9C755F-E1D0-49ED-8A88-75435F5D4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00200"/>
            <a:ext cx="7075055" cy="4572000"/>
          </a:xfrm>
        </p:spPr>
        <p:txBody>
          <a:bodyPr>
            <a:normAutofit/>
          </a:bodyPr>
          <a:lstStyle/>
          <a:p>
            <a:r>
              <a:rPr lang="vi-VN" altLang="en-US"/>
              <a:t>Thêm vào mỗi nút trong cây một thuộc tính </a:t>
            </a:r>
            <a:r>
              <a:rPr lang="en-US" altLang="en-US"/>
              <a:t>hệ số c</a:t>
            </a:r>
            <a:r>
              <a:rPr lang="vi-VN" altLang="en-US"/>
              <a:t>ân bằng </a:t>
            </a:r>
            <a:r>
              <a:rPr lang="en-US" altLang="en-US"/>
              <a:t>BF (balancing factor)</a:t>
            </a:r>
            <a:r>
              <a:rPr lang="vi-VN" altLang="en-US"/>
              <a:t>, cho </a:t>
            </a:r>
            <a:r>
              <a:rPr lang="en-US" altLang="en-US"/>
              <a:t>biết </a:t>
            </a:r>
            <a:r>
              <a:rPr lang="vi-VN" altLang="en-US"/>
              <a:t>trạng thái cân bằng tại nút đó.</a:t>
            </a:r>
            <a:endParaRPr lang="en-US" altLang="en-US"/>
          </a:p>
          <a:p>
            <a:r>
              <a:rPr lang="en-AU" altLang="en-US"/>
              <a:t>BF = hRight – hLeft </a:t>
            </a:r>
          </a:p>
          <a:p>
            <a:pPr lvl="1"/>
            <a:r>
              <a:rPr lang="en-US" altLang="en-US"/>
              <a:t>BF</a:t>
            </a:r>
            <a:r>
              <a:rPr lang="vi-VN" altLang="en-US"/>
              <a:t> = 0: độ cao cây con trái = độ cao cây con phải</a:t>
            </a:r>
            <a:endParaRPr lang="en-US" altLang="en-US"/>
          </a:p>
          <a:p>
            <a:pPr lvl="1"/>
            <a:r>
              <a:rPr lang="en-US" altLang="en-US"/>
              <a:t>BF</a:t>
            </a:r>
            <a:r>
              <a:rPr lang="vi-VN" altLang="en-US"/>
              <a:t> = 1: độ cao cây con trái &lt; độ cao cây con phải</a:t>
            </a:r>
            <a:endParaRPr lang="en-US" altLang="en-US"/>
          </a:p>
          <a:p>
            <a:pPr lvl="1"/>
            <a:r>
              <a:rPr lang="en-US" altLang="en-US"/>
              <a:t>BF</a:t>
            </a:r>
            <a:r>
              <a:rPr lang="vi-VN" altLang="en-US"/>
              <a:t> = -1: độ cao cây con trái &gt; độ cao cây con phải</a:t>
            </a:r>
            <a:endParaRPr lang="en-AU" alt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2E6B5E5-6ABB-4759-A570-1E9285927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03FF3B9-FB66-4A9E-9C5F-A34773972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6</a:t>
            </a:fld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3777285-9A62-485E-9DB5-C0E3E352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91FAF-CC7D-4A9D-BDB5-F93D289BFB36}" type="datetime1">
              <a:rPr lang="vi-VN" smtClean="0"/>
              <a:t>24/06/2021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B7538DA-A21E-42E3-8DFF-026305E57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1406" y="1792287"/>
            <a:ext cx="3100387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1C63E-486C-4A78-936C-2B7512420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Tổ chức lưu trữ</a:t>
            </a:r>
            <a:endParaRPr lang="en-AU" dirty="0"/>
          </a:p>
        </p:txBody>
      </p:sp>
      <p:pic>
        <p:nvPicPr>
          <p:cNvPr id="145415" name="Picture 2">
            <a:extLst>
              <a:ext uri="{FF2B5EF4-FFF2-40B4-BE49-F238E27FC236}">
                <a16:creationId xmlns:a16="http://schemas.microsoft.com/office/drawing/2014/main" id="{18F1A121-C2E3-4589-AB87-8A9808A73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008" y="1820663"/>
            <a:ext cx="3100387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7C8DE56-EF91-40B6-B835-54C3C3CAC16E}"/>
              </a:ext>
            </a:extLst>
          </p:cNvPr>
          <p:cNvSpPr/>
          <p:nvPr/>
        </p:nvSpPr>
        <p:spPr>
          <a:xfrm>
            <a:off x="1259840" y="1685955"/>
            <a:ext cx="619982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>
                <a:solidFill>
                  <a:srgbClr val="AF00DB"/>
                </a:solidFill>
                <a:latin typeface="Consolas" panose="020B0609020204030204" pitchFamily="49" charset="0"/>
              </a:rPr>
              <a:t>#define</a:t>
            </a:r>
            <a:r>
              <a:rPr lang="vi-VN" sz="2000">
                <a:solidFill>
                  <a:srgbClr val="0000FF"/>
                </a:solidFill>
                <a:latin typeface="Consolas" panose="020B0609020204030204" pitchFamily="49" charset="0"/>
              </a:rPr>
              <a:t> LH </a:t>
            </a:r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vi-VN" sz="2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vi-VN" sz="2000">
                <a:solidFill>
                  <a:srgbClr val="008000"/>
                </a:solidFill>
                <a:latin typeface="Consolas" panose="020B0609020204030204" pitchFamily="49" charset="0"/>
              </a:rPr>
              <a:t> // cây con trái cao hơn</a:t>
            </a:r>
            <a:endParaRPr lang="vi-VN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 sz="2000">
                <a:solidFill>
                  <a:srgbClr val="AF00DB"/>
                </a:solidFill>
                <a:latin typeface="Consolas" panose="020B0609020204030204" pitchFamily="49" charset="0"/>
              </a:rPr>
              <a:t>#define</a:t>
            </a:r>
            <a:r>
              <a:rPr lang="vi-VN" sz="2000">
                <a:solidFill>
                  <a:srgbClr val="0000FF"/>
                </a:solidFill>
                <a:latin typeface="Consolas" panose="020B0609020204030204" pitchFamily="49" charset="0"/>
              </a:rPr>
              <a:t> EH </a:t>
            </a:r>
            <a:r>
              <a:rPr lang="vi-VN" sz="20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vi-VN" sz="2000">
                <a:solidFill>
                  <a:srgbClr val="008000"/>
                </a:solidFill>
                <a:latin typeface="Consolas" panose="020B0609020204030204" pitchFamily="49" charset="0"/>
              </a:rPr>
              <a:t>  // hai cây con bằng nhau</a:t>
            </a:r>
            <a:endParaRPr lang="vi-VN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 sz="2000">
                <a:solidFill>
                  <a:srgbClr val="AF00DB"/>
                </a:solidFill>
                <a:latin typeface="Consolas" panose="020B0609020204030204" pitchFamily="49" charset="0"/>
              </a:rPr>
              <a:t>#define</a:t>
            </a:r>
            <a:r>
              <a:rPr lang="vi-VN" sz="2000">
                <a:solidFill>
                  <a:srgbClr val="0000FF"/>
                </a:solidFill>
                <a:latin typeface="Consolas" panose="020B0609020204030204" pitchFamily="49" charset="0"/>
              </a:rPr>
              <a:t> RH </a:t>
            </a:r>
            <a:r>
              <a:rPr lang="vi-VN" sz="2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vi-VN" sz="2000">
                <a:solidFill>
                  <a:srgbClr val="008000"/>
                </a:solidFill>
                <a:latin typeface="Consolas" panose="020B0609020204030204" pitchFamily="49" charset="0"/>
              </a:rPr>
              <a:t>  // cây con phải cao hơn</a:t>
            </a:r>
            <a:endParaRPr lang="vi-VN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vi-VN" sz="2000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 sz="200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 sz="2000">
                <a:solidFill>
                  <a:srgbClr val="267F99"/>
                </a:solidFill>
                <a:latin typeface="Consolas" panose="020B0609020204030204" pitchFamily="49" charset="0"/>
              </a:rPr>
              <a:t>AVLNODE</a:t>
            </a:r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 sz="2000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 sz="2000">
                <a:solidFill>
                  <a:srgbClr val="267F99"/>
                </a:solidFill>
                <a:latin typeface="Consolas" panose="020B0609020204030204" pitchFamily="49" charset="0"/>
              </a:rPr>
              <a:t>AVLNODE</a:t>
            </a:r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vi-VN" sz="2000">
                <a:solidFill>
                  <a:srgbClr val="001080"/>
                </a:solidFill>
                <a:latin typeface="Consolas" panose="020B0609020204030204" pitchFamily="49" charset="0"/>
              </a:rPr>
              <a:t>left</a:t>
            </a:r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 sz="2000">
                <a:solidFill>
                  <a:srgbClr val="267F99"/>
                </a:solidFill>
                <a:latin typeface="Consolas" panose="020B0609020204030204" pitchFamily="49" charset="0"/>
              </a:rPr>
              <a:t>AVLNODE</a:t>
            </a:r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vi-VN" sz="2000">
                <a:solidFill>
                  <a:srgbClr val="001080"/>
                </a:solidFill>
                <a:latin typeface="Consolas" panose="020B0609020204030204" pitchFamily="49" charset="0"/>
              </a:rPr>
              <a:t>right</a:t>
            </a:r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 sz="200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BF</a:t>
            </a:r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vi-VN" sz="200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endParaRPr lang="en-US" sz="200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vi-VN" sz="2000">
                <a:solidFill>
                  <a:srgbClr val="267F99"/>
                </a:solidFill>
                <a:latin typeface="Consolas" panose="020B0609020204030204" pitchFamily="49" charset="0"/>
              </a:rPr>
              <a:t>AVLNODE</a:t>
            </a:r>
            <a:r>
              <a:rPr lang="vi-VN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99DCC46-B18B-4FA5-BF1C-80FBFFECB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776D37C-FA0C-4FE3-8701-9E6D7371C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7</a:t>
            </a:fld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AF52232-6B5F-483C-B1E0-3BBB7D023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8C131-CC18-48DC-9383-E2190F50F657}" type="datetime1">
              <a:rPr lang="vi-VN" smtClean="0"/>
              <a:t>24/06/2021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2BB8F-8663-4C37-9FA7-9A84D492B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Các thao tác trên cây AVL</a:t>
            </a:r>
            <a:endParaRPr lang="en-AU" dirty="0"/>
          </a:p>
        </p:txBody>
      </p:sp>
      <p:sp>
        <p:nvSpPr>
          <p:cNvPr id="147462" name="Content Placeholder 2">
            <a:extLst>
              <a:ext uri="{FF2B5EF4-FFF2-40B4-BE49-F238E27FC236}">
                <a16:creationId xmlns:a16="http://schemas.microsoft.com/office/drawing/2014/main" id="{CE74D871-BF18-4367-978E-B90AC44CD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/>
              <a:t>Các thao tác đặc trưng của cây AVL:</a:t>
            </a:r>
            <a:endParaRPr lang="en-US" altLang="en-US"/>
          </a:p>
          <a:p>
            <a:pPr lvl="1"/>
            <a:r>
              <a:rPr lang="en-AU" altLang="en-US"/>
              <a:t>Thêm một phần tử vào cây.</a:t>
            </a:r>
          </a:p>
          <a:p>
            <a:pPr lvl="1"/>
            <a:r>
              <a:rPr lang="en-AU" altLang="en-US"/>
              <a:t>Hủy một phần tử trên cây.</a:t>
            </a:r>
          </a:p>
          <a:p>
            <a:pPr lvl="1"/>
            <a:r>
              <a:rPr lang="en-AU" altLang="en-US"/>
              <a:t>Cân bằng lại một cây vừa bị mất cân bằng.</a:t>
            </a:r>
          </a:p>
          <a:p>
            <a:r>
              <a:rPr lang="vi-VN" altLang="en-US"/>
              <a:t>Trường hợp thêm hay hủy một phần tử trên cây có thể làm cây tăng hay giảm chiều cao,</a:t>
            </a:r>
            <a:r>
              <a:rPr lang="en-US" altLang="en-US"/>
              <a:t> dẫn đến cây có thể bị mất tính cân bằng,</a:t>
            </a:r>
            <a:r>
              <a:rPr lang="vi-VN" altLang="en-US"/>
              <a:t> khi đó phải cân bằng lại cây.</a:t>
            </a:r>
            <a:endParaRPr lang="en-US" altLang="en-US"/>
          </a:p>
          <a:p>
            <a:r>
              <a:rPr lang="vi-VN" altLang="en-US"/>
              <a:t>Việc cân bằng lại một cây sẽ phải thực hiện sao cho chỉ ảnh hưởng tối thiểu đến cây, nhằm giảm thiểu chi phí cân bằng.</a:t>
            </a:r>
            <a:endParaRPr lang="en-US" altLang="en-US"/>
          </a:p>
          <a:p>
            <a:endParaRPr lang="en-AU" alt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43EAE7A-6E32-4390-AB47-2DA14DB6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36C7971-7042-4E23-BB40-ABC0C8431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8</a:t>
            </a:fld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E15CD3C-587E-464F-BAFE-A4E2A6F04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D223-0C4F-49AA-995D-3CC5C4954FA4}" type="datetime1">
              <a:rPr lang="vi-VN" smtClean="0"/>
              <a:t>24/06/2021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095A8C68-51B9-44E1-913B-91E406D49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Thêm một phần tử vào cây</a:t>
            </a:r>
            <a:endParaRPr lang="en-US" dirty="0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94726A22-937A-43E9-BF99-D387743664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Việc thêm một phần tử diễn ra tương tự như cây nhị phân tìm kiếm.</a:t>
            </a:r>
          </a:p>
          <a:p>
            <a:r>
              <a:rPr lang="en-US" altLang="en-US"/>
              <a:t>Sau khi thêm xong, nếu chiều cao của cây thay đổi: từ vị trí thêm vào, ta phải lần ngược lên gốc để kiểm tra xem có nút nào bị mất cân bằng không. Nếu có, ta phải cân bằng lại ở nút này.</a:t>
            </a:r>
          </a:p>
          <a:p>
            <a:r>
              <a:rPr lang="en-US" altLang="en-US"/>
              <a:t>Việc cân bằng lại chỉ cần thực hiện lại 1 lần tại nơi mất cân bằng.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AFF03-BB01-49C5-9404-CC1F9F123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7A2C9-1E9C-4A1D-B3F3-6C0A29FB4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9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F69445-5665-4B63-B4FF-8D4490420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5C89-0716-4AFA-808B-50003641B509}" type="datetime1">
              <a:rPr lang="vi-VN" smtClean="0"/>
              <a:t>24/06/2021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1812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1B03-8B34-4152-B39F-B15C13F3F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Thêm một phần tử vào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E0CD2-3067-47FC-B487-EB42C0B69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/>
              <a:t>Giả sử </a:t>
            </a:r>
            <a:r>
              <a:rPr lang="en-US"/>
              <a:t>T là </a:t>
            </a:r>
            <a:r>
              <a:rPr lang="vi-VN"/>
              <a:t>cây AVL</a:t>
            </a:r>
            <a:r>
              <a:rPr lang="en-US"/>
              <a:t>,</a:t>
            </a:r>
            <a:r>
              <a:rPr lang="vi-VN"/>
              <a:t> u là một nút của T và </a:t>
            </a:r>
            <a:r>
              <a:rPr lang="en-US"/>
              <a:t>v là</a:t>
            </a:r>
            <a:r>
              <a:rPr lang="vi-VN"/>
              <a:t> nút mới được </a:t>
            </a:r>
            <a:r>
              <a:rPr lang="en-US"/>
              <a:t>thêm</a:t>
            </a:r>
            <a:r>
              <a:rPr lang="vi-VN"/>
              <a:t> vào </a:t>
            </a:r>
            <a:r>
              <a:rPr lang="en-US"/>
              <a:t>cây con của </a:t>
            </a:r>
            <a:r>
              <a:rPr lang="vi-VN"/>
              <a:t>u. </a:t>
            </a:r>
            <a:endParaRPr lang="en-US"/>
          </a:p>
          <a:p>
            <a:r>
              <a:rPr lang="vi-VN"/>
              <a:t>Tính cân bằng tại u </a:t>
            </a:r>
            <a:r>
              <a:rPr lang="en-US"/>
              <a:t>có thể </a:t>
            </a:r>
            <a:r>
              <a:rPr lang="vi-VN"/>
              <a:t>bị phá vỡ khi v làm tăng chiều cao của cây con của u.</a:t>
            </a:r>
          </a:p>
          <a:p>
            <a:endParaRPr lang="vi-VN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B974F-28F6-41AE-849B-D6A094BC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1D967-6D1B-413F-B846-A94F8AE5D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2284-59D3-4D2C-AABB-172835E18FFF}" type="datetime1">
              <a:rPr lang="vi-VN" smtClean="0"/>
              <a:t>24/06/2021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6FE3E-DC90-4F9D-8E2B-D72CA45F0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7D082C-83D9-468A-BDAA-47A36753A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073" y="3324466"/>
            <a:ext cx="38290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7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1B03-8B34-4152-B39F-B15C13F3F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Thêm một phần tử vào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E0CD2-3067-47FC-B487-EB42C0B69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00200"/>
            <a:ext cx="5332071" cy="4572000"/>
          </a:xfrm>
        </p:spPr>
        <p:txBody>
          <a:bodyPr>
            <a:normAutofit lnSpcReduction="10000"/>
          </a:bodyPr>
          <a:lstStyle/>
          <a:p>
            <a:r>
              <a:rPr lang="en-US" sz="1800"/>
              <a:t>Gọi u là đỉnh tiền bối của v có mức cao nhất mà tính cân bằng bị phá vỡ. Có b</a:t>
            </a:r>
            <a:r>
              <a:rPr lang="vi-VN" sz="1800"/>
              <a:t>ốn trường hợp phá vỡ tính cân bằng</a:t>
            </a:r>
            <a:r>
              <a:rPr lang="en-US" sz="1800"/>
              <a:t> tại u.</a:t>
            </a:r>
          </a:p>
          <a:p>
            <a:r>
              <a:rPr lang="vi-VN" sz="1800"/>
              <a:t>Trước khi chèn cây con gốc u lệch trái và v làm tăng chiều cao của cây con trái</a:t>
            </a:r>
            <a:r>
              <a:rPr lang="en-US" sz="1800"/>
              <a:t>:</a:t>
            </a:r>
            <a:endParaRPr lang="vi-VN" sz="1800"/>
          </a:p>
          <a:p>
            <a:pPr marL="451025" lvl="1" indent="0">
              <a:buNone/>
            </a:pPr>
            <a:r>
              <a:rPr lang="en-US" sz="1600"/>
              <a:t>1. </a:t>
            </a:r>
            <a:r>
              <a:rPr lang="vi-VN" sz="1600"/>
              <a:t>Sau khi chèn cây con trái lệch trái (LL)</a:t>
            </a:r>
          </a:p>
          <a:p>
            <a:pPr marL="451025" lvl="1" indent="0">
              <a:buNone/>
            </a:pPr>
            <a:r>
              <a:rPr lang="en-US" sz="1600"/>
              <a:t>2. </a:t>
            </a:r>
            <a:r>
              <a:rPr lang="vi-VN" sz="1600"/>
              <a:t>Sau khi chèn cây con trái lệch phải (LR)</a:t>
            </a:r>
          </a:p>
          <a:p>
            <a:r>
              <a:rPr lang="vi-VN" sz="1800"/>
              <a:t>Trước khi chèn cây con gốc u lệch phải và v làm tăng chiều cao của cây con phải</a:t>
            </a:r>
            <a:r>
              <a:rPr lang="en-US" sz="1800"/>
              <a:t>:</a:t>
            </a:r>
            <a:endParaRPr lang="vi-VN" sz="1800"/>
          </a:p>
          <a:p>
            <a:pPr marL="451025" lvl="1" indent="0">
              <a:buNone/>
            </a:pPr>
            <a:r>
              <a:rPr lang="en-US" sz="1600"/>
              <a:t>3. </a:t>
            </a:r>
            <a:r>
              <a:rPr lang="vi-VN" sz="1600"/>
              <a:t>Sau khi chèn cây con phải lệch phải (RR)</a:t>
            </a:r>
            <a:endParaRPr lang="en-US" sz="1600"/>
          </a:p>
          <a:p>
            <a:pPr marL="451025" lvl="1" indent="0">
              <a:buNone/>
            </a:pPr>
            <a:r>
              <a:rPr lang="en-US" sz="1600"/>
              <a:t>4. </a:t>
            </a:r>
            <a:r>
              <a:rPr lang="vi-VN" sz="1600"/>
              <a:t>Sau khi chèn cây con phải lệch trái (RL)</a:t>
            </a:r>
          </a:p>
          <a:p>
            <a:endParaRPr lang="en-US" sz="1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B974F-28F6-41AE-849B-D6A094BC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1D967-6D1B-413F-B846-A94F8AE5D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2284-59D3-4D2C-AABB-172835E18FFF}" type="datetime1">
              <a:rPr lang="vi-VN" smtClean="0"/>
              <a:t>24/06/2021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6FE3E-DC90-4F9D-8E2B-D72CA45F0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38AB42-3331-4937-BFE9-0D167C8F2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543" y="1902836"/>
            <a:ext cx="2468880" cy="17319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440A87-845D-4921-93DB-3098CBEB16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400" y="1902837"/>
            <a:ext cx="2468880" cy="1731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B1C49D-F300-4191-B7A8-728D2EF582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400" y="3981464"/>
            <a:ext cx="2468880" cy="17319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7A0BB8-4D70-4CB8-9FAB-96A69C9F733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697" y="3981464"/>
            <a:ext cx="2468880" cy="17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834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0A83F-6503-4180-969D-D69407E9E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Thêm một phần tử vào cây</a:t>
            </a:r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DE1D2DA3-5610-4501-A1B5-E9669F3EA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4971506"/>
            <a:ext cx="10667999" cy="1200694"/>
          </a:xfrm>
        </p:spPr>
        <p:txBody>
          <a:bodyPr/>
          <a:lstStyle/>
          <a:p>
            <a:r>
              <a:rPr lang="en-US"/>
              <a:t>Với u là đỉnh tiền bối của v có mức cao nhất mà tính cân bằng bị phá vỡ.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D0431-8339-4DE6-91AB-D9CDAC630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2B40B-393A-4738-9712-82FF517CD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2284-59D3-4D2C-AABB-172835E18FFF}" type="datetime1">
              <a:rPr lang="vi-VN" smtClean="0"/>
              <a:pPr/>
              <a:t>24/06/2021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6D5C7-3ABD-494B-BED9-176D3FD4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B8CBD574-A37A-45B3-B704-9280BC0C9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199608"/>
              </p:ext>
            </p:extLst>
          </p:nvPr>
        </p:nvGraphicFramePr>
        <p:xfrm>
          <a:off x="1219200" y="1662111"/>
          <a:ext cx="10668000" cy="3095084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604752">
                  <a:extLst>
                    <a:ext uri="{9D8B030D-6E8A-4147-A177-3AD203B41FA5}">
                      <a16:colId xmlns:a16="http://schemas.microsoft.com/office/drawing/2014/main" val="1071287559"/>
                    </a:ext>
                  </a:extLst>
                </a:gridCol>
                <a:gridCol w="757028">
                  <a:extLst>
                    <a:ext uri="{9D8B030D-6E8A-4147-A177-3AD203B41FA5}">
                      <a16:colId xmlns:a16="http://schemas.microsoft.com/office/drawing/2014/main" val="961280257"/>
                    </a:ext>
                  </a:extLst>
                </a:gridCol>
                <a:gridCol w="6794514">
                  <a:extLst>
                    <a:ext uri="{9D8B030D-6E8A-4147-A177-3AD203B41FA5}">
                      <a16:colId xmlns:a16="http://schemas.microsoft.com/office/drawing/2014/main" val="4073183077"/>
                    </a:ext>
                  </a:extLst>
                </a:gridCol>
                <a:gridCol w="2511706">
                  <a:extLst>
                    <a:ext uri="{9D8B030D-6E8A-4147-A177-3AD203B41FA5}">
                      <a16:colId xmlns:a16="http://schemas.microsoft.com/office/drawing/2014/main" val="2156627756"/>
                    </a:ext>
                  </a:extLst>
                </a:gridCol>
              </a:tblGrid>
              <a:tr h="468952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Tái cân bằng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Nói tắt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519732"/>
                  </a:ext>
                </a:extLst>
              </a:tr>
              <a:tr h="468952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i="0" u="none" strike="noStrike" kern="120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Quay</a:t>
                      </a:r>
                      <a:r>
                        <a:rPr lang="en-US" sz="2200" b="0" i="0" kern="120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 phải tại u</a:t>
                      </a:r>
                      <a:endParaRPr lang="en-US" sz="2200">
                        <a:solidFill>
                          <a:srgbClr val="00206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Quay phải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27021"/>
                  </a:ext>
                </a:extLst>
              </a:tr>
              <a:tr h="844114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AutoNum type="arabicPeriod"/>
                      </a:pPr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</a:t>
                      </a:r>
                      <a:r>
                        <a:rPr lang="vi-VN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uay trái tại u.left để đưa về TH1 (LL)</a:t>
                      </a:r>
                      <a:endParaRPr lang="en-US" sz="2200">
                        <a:solidFill>
                          <a:srgbClr val="00206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457200" indent="-457200">
                        <a:buAutoNum type="arabicPeriod"/>
                      </a:pPr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</a:t>
                      </a:r>
                      <a:r>
                        <a:rPr lang="vi-VN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uay phải tại u</a:t>
                      </a:r>
                      <a:endParaRPr lang="en-US" sz="2200">
                        <a:solidFill>
                          <a:srgbClr val="00206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Quay trái – phải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479202"/>
                  </a:ext>
                </a:extLst>
              </a:tr>
              <a:tr h="468952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i="0" kern="120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Quay trái tại u</a:t>
                      </a:r>
                      <a:endParaRPr lang="en-US" sz="2200">
                        <a:solidFill>
                          <a:srgbClr val="00206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Quay trái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0492"/>
                  </a:ext>
                </a:extLst>
              </a:tr>
              <a:tr h="844114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AutoNum type="arabicPeriod"/>
                      </a:pPr>
                      <a:r>
                        <a:rPr lang="en-US" sz="2200" b="0" i="0" kern="120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Q</a:t>
                      </a:r>
                      <a:r>
                        <a:rPr lang="vi-VN" sz="2200" b="0" i="0" kern="120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uay phải tại u.right để đưa về TH3 (RR) </a:t>
                      </a:r>
                      <a:endParaRPr lang="en-US" sz="2200" b="0" i="0" kern="1200">
                        <a:solidFill>
                          <a:srgbClr val="00206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  <a:p>
                      <a:pPr marL="457200" indent="-457200">
                        <a:buAutoNum type="arabicPeriod"/>
                      </a:pPr>
                      <a:r>
                        <a:rPr lang="en-US" sz="2200" b="0" i="0" kern="120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Q</a:t>
                      </a:r>
                      <a:r>
                        <a:rPr lang="vi-VN" sz="2200" b="0" i="0" kern="120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uay trái tại u</a:t>
                      </a:r>
                      <a:endParaRPr lang="en-US" sz="2200">
                        <a:solidFill>
                          <a:srgbClr val="00206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Quay phải – trái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524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80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9182-C5BD-46E9-A2FA-D81AA5C51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</a:t>
            </a:r>
            <a:r>
              <a:rPr lang="vi-VN"/>
              <a:t>ư</a:t>
            </a:r>
            <a:r>
              <a:rPr lang="en-US"/>
              <a:t>ờng hợp 1 (LL): Quay phải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921DF-DB05-4082-91B9-21779ED1F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44424-236D-499A-9136-CDE2171F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2284-59D3-4D2C-AABB-172835E18FFF}" type="datetime1">
              <a:rPr lang="vi-VN" smtClean="0"/>
              <a:t>24/06/2021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290D1-826C-4CE4-8E30-E724B9FD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13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1FF15A-DF1D-41F4-8008-2B4D1A687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739" y="1666680"/>
            <a:ext cx="8604521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5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9182-C5BD-46E9-A2FA-D81AA5C51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</a:t>
            </a:r>
            <a:r>
              <a:rPr lang="vi-VN"/>
              <a:t>ư</a:t>
            </a:r>
            <a:r>
              <a:rPr lang="en-US"/>
              <a:t>ờng hợp 3 (RR): Quay trái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921DF-DB05-4082-91B9-21779ED1F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44424-236D-499A-9136-CDE2171F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2284-59D3-4D2C-AABB-172835E18FFF}" type="datetime1">
              <a:rPr lang="vi-VN" smtClean="0"/>
              <a:t>24/06/2021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290D1-826C-4CE4-8E30-E724B9FD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3D462E-3089-4FE0-A365-15B63B3CD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739" y="1666680"/>
            <a:ext cx="8604521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5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9182-C5BD-46E9-A2FA-D81AA5C51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</a:t>
            </a:r>
            <a:r>
              <a:rPr lang="vi-VN"/>
              <a:t>ư</a:t>
            </a:r>
            <a:r>
              <a:rPr lang="en-US"/>
              <a:t>ờng hợp 2 (LR): Quay trái – phải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921DF-DB05-4082-91B9-21779ED1F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44424-236D-499A-9136-CDE2171F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2284-59D3-4D2C-AABB-172835E18FFF}" type="datetime1">
              <a:rPr lang="vi-VN" smtClean="0"/>
              <a:t>24/06/2021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290D1-826C-4CE4-8E30-E724B9FD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FE1CF-EA92-48D9-AF5B-E90F730E8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303" y="1712400"/>
            <a:ext cx="8723393" cy="447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34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9182-C5BD-46E9-A2FA-D81AA5C51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</a:t>
            </a:r>
            <a:r>
              <a:rPr lang="vi-VN"/>
              <a:t>ư</a:t>
            </a:r>
            <a:r>
              <a:rPr lang="en-US"/>
              <a:t>ờng hợp 4 (RL): Quay phải – trái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921DF-DB05-4082-91B9-21779ED1F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44424-236D-499A-9136-CDE2171F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2284-59D3-4D2C-AABB-172835E18FFF}" type="datetime1">
              <a:rPr lang="vi-VN" smtClean="0"/>
              <a:t>24/06/2021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290D1-826C-4CE4-8E30-E724B9FD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847C47-7C2E-4717-BBBF-17567885D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303" y="1712400"/>
            <a:ext cx="8723393" cy="447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8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570DC56A-470A-46DB-B1F1-C384CC6A10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Hủy một phần tử khỏi cây AVL</a:t>
            </a:r>
            <a:endParaRPr lang="en-US" dirty="0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DCF1B502-9120-4DEC-9246-1D8B6C5321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Hủy 1 phần tử khỏi cây AVL tương tự trên cây tìm kiếm nhị phân.</a:t>
            </a:r>
          </a:p>
          <a:p>
            <a:r>
              <a:rPr lang="en-US" altLang="en-US"/>
              <a:t>Sau khi hủy, nếu tính cân bằng của cây bị mất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/>
              <a:t>thực hiện cân bằng lại.</a:t>
            </a:r>
          </a:p>
          <a:p>
            <a:r>
              <a:rPr lang="en-US" altLang="en-US"/>
              <a:t>Việc cân bằng lại trong thao tác hủy phức tạp hơn do có thể xảy ra phản ứng dây chuyền (lan truyền ngược về gốc).</a:t>
            </a:r>
          </a:p>
          <a:p>
            <a:pPr lvl="1"/>
            <a:endParaRPr lang="vi-VN" altLang="en-US"/>
          </a:p>
          <a:p>
            <a:endParaRPr lang="en-US" altLang="en-US"/>
          </a:p>
          <a:p>
            <a:endParaRPr lang="vi-V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28A8E-9AFA-4AA9-95E8-40FF350E2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AE96D-E99C-483F-ACFE-C49E2370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17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08D958-22BF-410E-AD3F-E4E1531B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0875E-FF41-4DF5-84B3-5286B1A0BA6D}" type="datetime1">
              <a:rPr lang="vi-VN" smtClean="0"/>
              <a:t>24/06/2021</a:t>
            </a:fld>
            <a:endParaRPr 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095A8C68-51B9-44E1-913B-91E406D49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  <a:endParaRPr lang="en-US" dirty="0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94726A22-937A-43E9-BF99-D387743664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Lần l</a:t>
            </a:r>
            <a:r>
              <a:rPr lang="vi-VN" altLang="en-US"/>
              <a:t>ư</a:t>
            </a:r>
            <a:r>
              <a:rPr lang="en-US" altLang="en-US"/>
              <a:t>ợt thêm các phần tử sau vào cây AVL: </a:t>
            </a:r>
            <a:r>
              <a:rPr lang="en-US"/>
              <a:t>17 20 30 41 43 45 46 48 49 55</a:t>
            </a:r>
          </a:p>
          <a:p>
            <a:r>
              <a:rPr lang="en-US"/>
              <a:t>Lần l</a:t>
            </a:r>
            <a:r>
              <a:rPr lang="vi-VN"/>
              <a:t>ư</a:t>
            </a:r>
            <a:r>
              <a:rPr lang="en-US"/>
              <a:t>ợt hủy các phần tử: 20 43 55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AFF03-BB01-49C5-9404-CC1F9F123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F69445-5665-4B63-B4FF-8D4490420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5C89-0716-4AFA-808B-50003641B509}" type="datetime1">
              <a:rPr lang="vi-VN" smtClean="0"/>
              <a:pPr/>
              <a:t>24/06/2021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7A2C9-1E9C-4A1D-B3F3-6C0A29FB4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21EB8-F082-4B3C-9798-B5638D622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Độ phức tạp của các thao tác trên cây AVL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90F87-533F-4894-BDFB-F07ABD91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2D5FE-7557-44D6-80F6-536C4B9A4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2284-59D3-4D2C-AABB-172835E18FFF}" type="datetime1">
              <a:rPr lang="vi-VN" smtClean="0"/>
              <a:t>24/06/2021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115A5-9E75-4606-97DC-B34366AAE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3220F00B-4B4B-42CB-904E-A5F63183C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573755"/>
              </p:ext>
            </p:extLst>
          </p:nvPr>
        </p:nvGraphicFramePr>
        <p:xfrm>
          <a:off x="1219200" y="1600200"/>
          <a:ext cx="10668000" cy="228889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115733883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536333735"/>
                    </a:ext>
                  </a:extLst>
                </a:gridCol>
              </a:tblGrid>
              <a:tr h="57222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Thao tác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Độ phức tạp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223488"/>
                  </a:ext>
                </a:extLst>
              </a:tr>
              <a:tr h="57222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Thêm phần tử</a:t>
                      </a:r>
                      <a:endParaRPr lang="en-US">
                        <a:solidFill>
                          <a:srgbClr val="00206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O(logN)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267059"/>
                  </a:ext>
                </a:extLst>
              </a:tr>
              <a:tr h="57222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Xóa phần tử</a:t>
                      </a:r>
                      <a:endParaRPr lang="en-US">
                        <a:solidFill>
                          <a:srgbClr val="00206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O(logN)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142881"/>
                  </a:ext>
                </a:extLst>
              </a:tr>
              <a:tr h="57222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Tìm kiếm phần tử</a:t>
                      </a:r>
                      <a:endParaRPr lang="en-US">
                        <a:solidFill>
                          <a:srgbClr val="00206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00206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O(logN)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391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06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3DA867-87AE-4E06-BCBE-F32E27392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621" y="1371600"/>
            <a:ext cx="6072759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3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DFE5-A7CF-4E6A-87D7-A2209599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8470D-DE22-496C-A44F-273A0E48A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Tạo </a:t>
            </a:r>
            <a:r>
              <a:rPr lang="en-US" err="1"/>
              <a:t>cây</a:t>
            </a:r>
            <a:r>
              <a:rPr lang="en-US"/>
              <a:t> AVL từ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err="1"/>
              <a:t>sau</a:t>
            </a:r>
            <a:r>
              <a:rPr lang="en-US"/>
              <a:t>: 4 6 9 12 7 5 10 17 22 14.</a:t>
            </a:r>
            <a:endParaRPr lang="en-US" dirty="0"/>
          </a:p>
          <a:p>
            <a:pPr marL="908225" lvl="1" indent="-457200">
              <a:buFont typeface="+mj-lt"/>
              <a:buAutoNum type="alphaLcPeriod"/>
            </a:pPr>
            <a:r>
              <a:rPr lang="en-US"/>
              <a:t>Xóa </a:t>
            </a:r>
            <a:r>
              <a:rPr lang="en-US" err="1"/>
              <a:t>các</a:t>
            </a:r>
            <a:r>
              <a:rPr lang="en-US"/>
              <a:t> nút: 17 7.</a:t>
            </a:r>
            <a:endParaRPr lang="en-US" dirty="0"/>
          </a:p>
          <a:p>
            <a:pPr marL="908225" lvl="1" indent="-457200">
              <a:buFont typeface="+mj-lt"/>
              <a:buAutoNum type="alphaLcPeriod"/>
            </a:pPr>
            <a:r>
              <a:rPr lang="en-US"/>
              <a:t>Thêm các nút: </a:t>
            </a:r>
            <a:r>
              <a:rPr lang="en-US" dirty="0"/>
              <a:t>40 </a:t>
            </a:r>
            <a:r>
              <a:rPr lang="en-US"/>
              <a:t>30 35.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B6C07B6-77A2-4E1C-B41B-765B8A0CD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12CDA31-065B-4F87-9C1B-4DA06891D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21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FC0415-AA0F-4C6C-869C-2BB02DFD4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D1734-A26E-4EB6-A079-EB1EE6CCDD46}" type="datetime1">
              <a:rPr lang="vi-VN" smtClean="0"/>
              <a:t>24/06/2021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SU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>
    <a:lnDef>
      <a:spPr>
        <a:ln w="28575">
          <a:solidFill>
            <a:srgbClr val="00206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SU" id="{A63A0C5C-11F4-4574-9CEA-7651809D1C0D}" vid="{7CE2F1C4-7BBE-4197-8E6A-747A89601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HSU</Template>
  <TotalTime>11571</TotalTime>
  <Words>1203</Words>
  <Application>Microsoft Office PowerPoint</Application>
  <PresentationFormat>Widescreen</PresentationFormat>
  <Paragraphs>178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Consolas</vt:lpstr>
      <vt:lpstr>Constantia</vt:lpstr>
      <vt:lpstr>Verdana</vt:lpstr>
      <vt:lpstr>Wingdings</vt:lpstr>
      <vt:lpstr>HSU</vt:lpstr>
      <vt:lpstr> Cấu Trúc Dữ Liệu &amp; Giải Thuật</vt:lpstr>
      <vt:lpstr>Bài 8 – Cây (Tree) – Phần 2</vt:lpstr>
      <vt:lpstr>Cây AVL</vt:lpstr>
      <vt:lpstr>Khái niệm về cây AVL</vt:lpstr>
      <vt:lpstr>Ví dụ về cây AVL</vt:lpstr>
      <vt:lpstr>Tổ chức lưu trữ</vt:lpstr>
      <vt:lpstr>Tổ chức lưu trữ</vt:lpstr>
      <vt:lpstr>Các thao tác trên cây AVL</vt:lpstr>
      <vt:lpstr>Thêm một phần tử vào cây</vt:lpstr>
      <vt:lpstr>Thêm một phần tử vào cây</vt:lpstr>
      <vt:lpstr>Thêm một phần tử vào cây</vt:lpstr>
      <vt:lpstr>Thêm một phần tử vào cây</vt:lpstr>
      <vt:lpstr>Trường hợp 1 (LL): Quay phải</vt:lpstr>
      <vt:lpstr>Trường hợp 3 (RR): Quay trái</vt:lpstr>
      <vt:lpstr>Trường hợp 2 (LR): Quay trái – phải</vt:lpstr>
      <vt:lpstr>Trường hợp 4 (RL): Quay phải – trái</vt:lpstr>
      <vt:lpstr>Hủy một phần tử khỏi cây AVL</vt:lpstr>
      <vt:lpstr>Ví dụ</vt:lpstr>
      <vt:lpstr>Độ phức tạp của các thao tác trên cây AVL</vt:lpstr>
      <vt:lpstr>PowerPoint Presentation</vt:lpstr>
      <vt:lpstr>Bài Tập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Cấu Trúc Dữ Liệu &amp; Giải Thuật</dc:title>
  <dc:creator>Trung Phan</dc:creator>
  <cp:lastModifiedBy>Trung Phan</cp:lastModifiedBy>
  <cp:revision>265</cp:revision>
  <dcterms:created xsi:type="dcterms:W3CDTF">2021-03-26T08:09:27Z</dcterms:created>
  <dcterms:modified xsi:type="dcterms:W3CDTF">2021-06-24T07:52:26Z</dcterms:modified>
</cp:coreProperties>
</file>