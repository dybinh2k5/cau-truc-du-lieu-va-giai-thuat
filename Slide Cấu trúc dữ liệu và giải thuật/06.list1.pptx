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6"/>
  </p:notesMasterIdLst>
  <p:sldIdLst>
    <p:sldId id="257" r:id="rId2"/>
    <p:sldId id="365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398" r:id="rId27"/>
    <p:sldId id="399" r:id="rId28"/>
    <p:sldId id="400" r:id="rId29"/>
    <p:sldId id="41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11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419" r:id="rId47"/>
    <p:sldId id="420" r:id="rId48"/>
    <p:sldId id="421" r:id="rId49"/>
    <p:sldId id="422" r:id="rId50"/>
    <p:sldId id="423" r:id="rId51"/>
    <p:sldId id="424" r:id="rId52"/>
    <p:sldId id="425" r:id="rId53"/>
    <p:sldId id="426" r:id="rId54"/>
    <p:sldId id="373" r:id="rId55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299" autoAdjust="0"/>
  </p:normalViewPr>
  <p:slideViewPr>
    <p:cSldViewPr snapToGrid="0">
      <p:cViewPr varScale="1">
        <p:scale>
          <a:sx n="75" d="100"/>
          <a:sy n="75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DF7F9-CFC5-4D89-8961-C0239DBDFAE0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FC458-15A8-473E-97CA-B466A563B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https://codelearn.io/sharing/cac-thuat-toan-sap-xep-trong-cpp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 chỗ trực tiếp (Interchange sort)</a:t>
            </a:r>
          </a:p>
          <a:p>
            <a:r>
              <a:rPr lang="vi-V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Nổi bọt (Bubble sort)</a:t>
            </a:r>
          </a:p>
          <a:p>
            <a:r>
              <a:rPr lang="vi-V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Chèn trực tiếp (Insertion sort)</a:t>
            </a:r>
          </a:p>
          <a:p>
            <a:r>
              <a:rPr lang="vi-V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 trực tiếp (Selection sort)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6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51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892" y="2047102"/>
            <a:ext cx="9594308" cy="16764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>
              <a:lnSpc>
                <a:spcPct val="80000"/>
              </a:lnSpc>
              <a:defRPr sz="6000" b="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892" y="3774301"/>
            <a:ext cx="9594308" cy="88634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marL="0" indent="0" algn="l">
              <a:buNone/>
              <a:defRPr sz="2800">
                <a:solidFill>
                  <a:srgbClr val="002060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FD910-7737-43E5-99B2-FB7DEA038DBD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9B8A27-3EA1-4728-A36E-35B620DF7691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6329EE-CCCE-4AC0-9DB2-5F80B2AA0D83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503A9F-91CA-4940-BAC2-D67FF53B17C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67EDA8-6C95-41BD-B178-C180F700E4B2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8BF2221-00FE-4DF5-A069-2B837EDC3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  <p:grpSp>
        <p:nvGrpSpPr>
          <p:cNvPr id="18" name="squares">
            <a:extLst>
              <a:ext uri="{FF2B5EF4-FFF2-40B4-BE49-F238E27FC236}">
                <a16:creationId xmlns:a16="http://schemas.microsoft.com/office/drawing/2014/main" id="{1B50D0F4-1489-4253-A226-715457F571D1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EB5961F1-EADE-4873-B490-A198A56659CA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4B052CC2-AE5F-457A-9F64-599115C7860C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 Same Side Corner Rectangle 9">
              <a:extLst>
                <a:ext uri="{FF2B5EF4-FFF2-40B4-BE49-F238E27FC236}">
                  <a16:creationId xmlns:a16="http://schemas.microsoft.com/office/drawing/2014/main" id="{4E90F40F-56E0-4ADC-A71D-BB8EB1E62E22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752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232825"/>
            <a:ext cx="1622755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1932519"/>
            <a:ext cx="9144000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4084265"/>
            <a:ext cx="9144000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A3EC-2690-4C38-88B4-F3E9EC5CC91B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AEF9CF-A1B6-4C1A-8CE3-C3BB79B039BC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29AF9A-BFB1-433D-BABF-9882B69E5FB9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22B2BC-C260-404D-AAFC-2E015E6C4DA6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79C986-FCE1-4BC9-8ABC-DFCEDBD10D33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E096A75-8096-4EB1-9A83-06C91A2E34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70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6E1FF-59F9-451A-83CF-B48F88921579}" type="datetime1">
              <a:rPr lang="en-US" smtClean="0"/>
              <a:t>10/14/2024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70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70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97B6-FBC4-4D9E-AF4F-0D865AC23AE9}" type="datetime1">
              <a:rPr lang="en-US" smtClean="0"/>
              <a:t>10/14/2024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4B792-D838-4369-B9F2-495A8CF0EA61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1564-F4CB-4080-B340-F91FCF920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grpSp>
        <p:nvGrpSpPr>
          <p:cNvPr id="7" name="squares">
            <a:extLst>
              <a:ext uri="{FF2B5EF4-FFF2-40B4-BE49-F238E27FC236}">
                <a16:creationId xmlns:a16="http://schemas.microsoft.com/office/drawing/2014/main" id="{47DEEE63-A1BC-4A43-A4AD-76951E5D7313}"/>
              </a:ext>
            </a:extLst>
          </p:cNvPr>
          <p:cNvGrpSpPr/>
          <p:nvPr userDrawn="1"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7A6632-F6E5-43A1-84B0-4AE988F94BFC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425D3A9-E201-49FC-8A02-A00F4FAA158A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476A3E42-3880-4E46-9109-3363DDD8FF50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AA3E34-53C5-4668-AF9A-A0EA9AF4B2C4}"/>
              </a:ext>
            </a:extLst>
          </p:cNvPr>
          <p:cNvCxnSpPr/>
          <p:nvPr userDrawn="1"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6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>
            <a:extLst>
              <a:ext uri="{FF2B5EF4-FFF2-40B4-BE49-F238E27FC236}">
                <a16:creationId xmlns:a16="http://schemas.microsoft.com/office/drawing/2014/main" id="{C57A4AB8-5D15-44AC-8A80-ED2E069BBD22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478D5619-DEF4-4F6F-BC11-78D556BE6DF3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" name="Rounded Rectangle 8">
              <a:extLst>
                <a:ext uri="{FF2B5EF4-FFF2-40B4-BE49-F238E27FC236}">
                  <a16:creationId xmlns:a16="http://schemas.microsoft.com/office/drawing/2014/main" id="{27B79603-57DF-4000-ACF1-94A257895CD9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5" name="Round Same Side Corner Rectangle 9">
              <a:extLst>
                <a:ext uri="{FF2B5EF4-FFF2-40B4-BE49-F238E27FC236}">
                  <a16:creationId xmlns:a16="http://schemas.microsoft.com/office/drawing/2014/main" id="{29F8B2DB-73B5-4BE9-9E44-64A2507214C4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6644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600200"/>
            <a:ext cx="6096001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1600202"/>
            <a:ext cx="34544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70381-83AB-4CF5-9840-4C119F8903DB}" type="datetime1">
              <a:rPr lang="en-US" smtClean="0"/>
              <a:t>10/14/2024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9205" y="1600200"/>
            <a:ext cx="6705596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0" y="1600200"/>
            <a:ext cx="2844800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D47F-2240-4132-9D4E-FAB15377784D}" type="datetime1">
              <a:rPr lang="en-US" smtClean="0"/>
              <a:t>10/14/2024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0987-BA89-4E01-8248-6052E12937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5642" y="233796"/>
            <a:ext cx="1063300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1" y="5395518"/>
            <a:ext cx="12192000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1150515"/>
            <a:ext cx="1828800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1150515"/>
            <a:ext cx="8229600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AB2B-F6C8-4C08-8821-DAFA6ACB6A6A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2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7AEAD2-D5F9-4E1D-B0A6-604BACEE5E4E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13D99B-2104-4A9F-BDE3-982717982595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2289B9-AF49-4D19-8E64-44D48F3EDA2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CC91CA-C7FB-4A6F-9352-75B89CB56F9D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A093B63-C705-43D6-A50C-B1CD2E6E94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152400"/>
            <a:ext cx="10680242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600200"/>
            <a:ext cx="10667999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1" y="6448425"/>
            <a:ext cx="829056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0400" y="6448425"/>
            <a:ext cx="14224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CFF8CB06-66B7-4C11-9D59-46A7CC05D9E0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4400" y="6448425"/>
            <a:ext cx="8128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squares">
            <a:extLst>
              <a:ext uri="{FF2B5EF4-FFF2-40B4-BE49-F238E27FC236}">
                <a16:creationId xmlns:a16="http://schemas.microsoft.com/office/drawing/2014/main" id="{D12F9285-888D-4066-97B6-C5AFB2FF7829}"/>
              </a:ext>
            </a:extLst>
          </p:cNvPr>
          <p:cNvGrpSpPr/>
          <p:nvPr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25" name="Rounded Rectangle 7">
              <a:extLst>
                <a:ext uri="{FF2B5EF4-FFF2-40B4-BE49-F238E27FC236}">
                  <a16:creationId xmlns:a16="http://schemas.microsoft.com/office/drawing/2014/main" id="{0C599B0C-42A9-4F5A-A15F-B95B1EF9248D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6" name="Rounded Rectangle 8">
              <a:extLst>
                <a:ext uri="{FF2B5EF4-FFF2-40B4-BE49-F238E27FC236}">
                  <a16:creationId xmlns:a16="http://schemas.microsoft.com/office/drawing/2014/main" id="{E527A34F-7FEF-4267-86B1-646FD0EC10D2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 Same Side Corner Rectangle 9">
              <a:extLst>
                <a:ext uri="{FF2B5EF4-FFF2-40B4-BE49-F238E27FC236}">
                  <a16:creationId xmlns:a16="http://schemas.microsoft.com/office/drawing/2014/main" id="{A279244A-E685-4D66-95DE-1CF0D73BE881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E68FC5-648F-42FD-B3A1-4A4175E6CA61}"/>
              </a:ext>
            </a:extLst>
          </p:cNvPr>
          <p:cNvCxnSpPr/>
          <p:nvPr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2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accent3">
              <a:lumMod val="7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304747" indent="-304747" algn="just" defTabSz="1218987" rtl="0" eaLnBrk="1" latinLnBrk="0" hangingPunct="1">
        <a:lnSpc>
          <a:spcPct val="110000"/>
        </a:lnSpc>
        <a:spcBef>
          <a:spcPts val="1800"/>
        </a:spcBef>
        <a:buClr>
          <a:schemeClr val="accent4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755772" indent="-304747" algn="just" defTabSz="1218987" rtl="0" eaLnBrk="1" latinLnBrk="0" hangingPunct="1">
        <a:lnSpc>
          <a:spcPct val="110000"/>
        </a:lnSpc>
        <a:spcBef>
          <a:spcPts val="1200"/>
        </a:spcBef>
        <a:buClr>
          <a:schemeClr val="accent4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20679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Verdana" panose="020B0604030504040204" pitchFamily="34" charset="0"/>
        <a:buChar char="−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57822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10884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1" y="1905000"/>
            <a:ext cx="10666492" cy="2209800"/>
          </a:xfrm>
        </p:spPr>
        <p:txBody>
          <a:bodyPr/>
          <a:lstStyle/>
          <a:p>
            <a:pPr algn="r"/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Cấu Trúc Dữ Liệu</a:t>
            </a:r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&amp; Giải Thuật</a:t>
            </a:r>
            <a:endParaRPr lang="en-US" sz="13800"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3885" y="5410200"/>
            <a:ext cx="9591809" cy="88634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0000AC"/>
                </a:solidFill>
              </a:rPr>
              <a:t>GV: Phan Hồng Trung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EA06A3-8B8E-4F32-A4A5-E44F102A338C}"/>
              </a:ext>
            </a:extLst>
          </p:cNvPr>
          <p:cNvSpPr txBox="1">
            <a:spLocks/>
          </p:cNvSpPr>
          <p:nvPr/>
        </p:nvSpPr>
        <p:spPr>
          <a:xfrm>
            <a:off x="1219201" y="4114800"/>
            <a:ext cx="10666492" cy="647700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l" defTabSz="121898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0" kern="120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r"/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00AC"/>
                </a:solidFill>
              </a:rPr>
              <a:t>Data Structures &amp; Algorithms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0000" t="20000" r="2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6 – Danh Sách (List) – Phần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Danh sách đặc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Danh sách liên kết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Danh sách hạn chế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0D748-ADCB-4DF1-B1F3-A6D1A0741C9B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67E11AF-724B-48D8-A487-DC2490D8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DB705-135B-480B-9AC1-6AE9AF2D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Danh sách </a:t>
            </a:r>
            <a:r>
              <a:rPr lang="en-AU" altLang="en-US"/>
              <a:t>là một tập hợp hữu hạn các phần tử có cùng kiểu dữ liệu.</a:t>
            </a:r>
          </a:p>
          <a:p>
            <a:r>
              <a:rPr lang="en-AU" altLang="en-US"/>
              <a:t>Các tính chất của danh sách:</a:t>
            </a:r>
          </a:p>
          <a:p>
            <a:pPr lvl="1"/>
            <a:r>
              <a:rPr lang="en-AU" altLang="en-US"/>
              <a:t>Chiều dài của danh sách là số phần tử trong danh sách.</a:t>
            </a:r>
          </a:p>
          <a:p>
            <a:pPr lvl="1"/>
            <a:r>
              <a:rPr lang="en-AU" altLang="en-US"/>
              <a:t>Danh sách rỗng là danh sách có chiều dài bằng 0.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9B1CB-A611-4C9C-863F-C4D8EB35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59CD-F8EC-4913-8DFA-F952E6CA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2F9A-D0AB-4E15-854D-557C454A8788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0FC18-3C71-40B2-AB8C-3EA48E58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0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D6BB229-F8DA-4815-BCD4-92FA99B9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Danh sách vs Dãy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A1FA1-E27B-4B2A-98C1-C8B0E5D26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Giống nhau: là một tập hợp các phần tử có cùng kiểu dữ liệu.</a:t>
            </a:r>
          </a:p>
          <a:p>
            <a:r>
              <a:rPr lang="en-AU" altLang="en-US"/>
              <a:t>Khác nhau:</a:t>
            </a:r>
          </a:p>
          <a:p>
            <a:pPr lvl="1"/>
            <a:r>
              <a:rPr lang="en-AU" altLang="en-US"/>
              <a:t>Dãy: cố định số phần tử, không cho phép bổ sung hay loại bỏ phần tử.</a:t>
            </a:r>
          </a:p>
          <a:p>
            <a:pPr lvl="1"/>
            <a:r>
              <a:rPr lang="en-AU" altLang="en-US"/>
              <a:t>Danh sách: không cố định số phần tử, cho phép bổ sung hay loại bỏ phần tử.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D713E-586D-4315-97CB-9A00F1CA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03D2E-70C6-44A7-B58D-D090D3E1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2F71-9062-4514-9309-3891B6B5BEE4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6F9EB-D540-4847-A9BE-F8DCA310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9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13ADA7C-2DD6-442F-B649-46B50EEC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Các thao tác cơ bản trên danh sách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E8149-8682-420F-964A-5E7AB1E7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altLang="en-US"/>
              <a:t>Khởi tạo danh sách rỗng</a:t>
            </a:r>
          </a:p>
          <a:p>
            <a:r>
              <a:rPr lang="en-AU" altLang="en-US"/>
              <a:t>Kiểm tra danh sách có rỗng hay không</a:t>
            </a:r>
          </a:p>
          <a:p>
            <a:r>
              <a:rPr lang="en-AU" altLang="en-US"/>
              <a:t>Kiểm tra danh sách có đầy hay chưa</a:t>
            </a:r>
          </a:p>
          <a:p>
            <a:r>
              <a:rPr lang="en-AU" altLang="en-US"/>
              <a:t>Duyệt danh sách</a:t>
            </a:r>
          </a:p>
          <a:p>
            <a:r>
              <a:rPr lang="en-AU" altLang="en-US"/>
              <a:t>Tìm kiếm một phần tử trong danh sách</a:t>
            </a:r>
          </a:p>
          <a:p>
            <a:r>
              <a:rPr lang="en-AU" altLang="en-US"/>
              <a:t>Thêm một phần tử vào danh sách</a:t>
            </a:r>
          </a:p>
          <a:p>
            <a:r>
              <a:rPr lang="en-AU" altLang="en-US"/>
              <a:t>Xóa một phần tử khỏi danh sách</a:t>
            </a:r>
          </a:p>
          <a:p>
            <a:r>
              <a:rPr lang="en-AU" altLang="en-US"/>
              <a:t>Hủy toàn bộ danh sách</a:t>
            </a:r>
          </a:p>
          <a:p>
            <a:r>
              <a:rPr lang="en-AU" altLang="en-US"/>
              <a:t>Sắp xếp thứ tự danh sách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7CF69-4EBD-462F-A4ED-02701C4C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C20F9-5217-46D5-9164-8C34A479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E8F8-7588-474A-A854-C8A1C219A47F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07D6B-6FD1-45C7-BE94-B6EEFC5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7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7A1B-C288-418C-ADA5-77A8758C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Danh sách đặc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8C35A-78E5-45EF-B78C-DF7769EC4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Định nghĩa</a:t>
            </a:r>
          </a:p>
          <a:p>
            <a:r>
              <a:rPr lang="en-US" altLang="en-US"/>
              <a:t>Tổ chức lưu trữ</a:t>
            </a:r>
          </a:p>
          <a:p>
            <a:r>
              <a:rPr lang="en-US" altLang="en-US"/>
              <a:t>Các thao tác cơ bản</a:t>
            </a:r>
          </a:p>
          <a:p>
            <a:r>
              <a:rPr lang="en-US" altLang="en-US"/>
              <a:t>Đánh giá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F2D8C-526B-4D59-9BEA-D6CB5319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7E06-321B-4916-AEAC-777312B1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44C41-928A-4CFC-832E-7E9D89A3DE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CBD2F-F528-429A-BF16-FD7C23C5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9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CFBF055-D0B5-44BE-8289-261204F6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751A6-D2A5-4B80-920F-7DA4B977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Danh sách đặc (DSĐ) là một danh sách mà các phần tử được </a:t>
            </a:r>
            <a:r>
              <a:rPr lang="en-AU" altLang="en-US"/>
              <a:t>lưu trữ liên tiếp trên bộ nhớ</a:t>
            </a:r>
            <a:r>
              <a:rPr lang="en-US" altLang="en-US"/>
              <a:t> </a:t>
            </a:r>
            <a:r>
              <a:rPr lang="en-US" altLang="en-US">
                <a:sym typeface="Wingdings" panose="05000000000000000000" pitchFamily="2" charset="2"/>
              </a:rPr>
              <a:t> đ</a:t>
            </a:r>
            <a:r>
              <a:rPr lang="en-US" altLang="en-US"/>
              <a:t>ứng ngay sau vị trí của phần tử a</a:t>
            </a:r>
            <a:r>
              <a:rPr lang="en-US" altLang="en-US" baseline="-25000"/>
              <a:t>i</a:t>
            </a:r>
            <a:r>
              <a:rPr lang="en-US" altLang="en-US"/>
              <a:t> là a</a:t>
            </a:r>
            <a:r>
              <a:rPr lang="en-US" altLang="en-US" baseline="-25000"/>
              <a:t>i+1</a:t>
            </a:r>
          </a:p>
          <a:p>
            <a:r>
              <a:rPr lang="en-US" altLang="en-US"/>
              <a:t>DSĐ được biểu diễn dưới dạng là một dãy các phần tử, có kiểu dữ liệu là kiểu dữ liệu của các phần tử trong danh sách.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CEBC1-162C-480E-801F-5226A8C3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5DCB3-228D-4FD5-997C-55808E62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302EF-6D41-4FDC-8FC1-FC17196F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29491D-9401-4035-BD74-B99AB9543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2" y="4094705"/>
            <a:ext cx="4003675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413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09EB-35C8-4C49-BD1D-9E155291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 chức lưu trữ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59C23-587B-4E3C-908C-0F685A5D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US" altLang="en-US"/>
              <a:t>Cần biết trước phần tử tối đa của danh sách thông qua một </a:t>
            </a:r>
            <a:r>
              <a:rPr lang="en-US" altLang="en-US" b="1"/>
              <a:t>hằng số nguyên MAX</a:t>
            </a:r>
            <a:r>
              <a:rPr lang="en-US" altLang="en-US"/>
              <a:t>.</a:t>
            </a:r>
          </a:p>
          <a:p>
            <a:pPr>
              <a:buClr>
                <a:srgbClr val="002776"/>
              </a:buClr>
            </a:pPr>
            <a:r>
              <a:rPr lang="en-US" altLang="en-US"/>
              <a:t>Do chiều dài của danh sách luôn biến động cho nên cần quản lý chiều dài thực của danh sách thông qua một </a:t>
            </a:r>
            <a:r>
              <a:rPr lang="en-US" altLang="en-US" b="1"/>
              <a:t>biến số nguyên n</a:t>
            </a:r>
            <a:r>
              <a:rPr lang="en-US" altLang="en-US"/>
              <a:t>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FDC28-BE83-4A54-B181-771310C3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4B6A9-3747-4293-8095-7BED4B0F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202FA-53DA-493D-8C28-825F0517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1BEA3C-F543-440F-92C1-3702BFFB64EC}"/>
              </a:ext>
            </a:extLst>
          </p:cNvPr>
          <p:cNvSpPr/>
          <p:nvPr/>
        </p:nvSpPr>
        <p:spPr>
          <a:xfrm>
            <a:off x="2689184" y="3722731"/>
            <a:ext cx="77280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#define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 MAX </a:t>
            </a:r>
            <a:r>
              <a:rPr lang="vi-VN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//số lượng phần tử tối đa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//số lượng phần tử thực sự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MAX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//dãy các phần tử kiểu int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vi-VN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0276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Khởi tạo danh sách rỗng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82160C-12E4-4AD3-AE67-8D1C1F53E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2" y="2357799"/>
            <a:ext cx="601027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3457BAE-071A-4A03-B4EB-DF132B472586}"/>
              </a:ext>
            </a:extLst>
          </p:cNvPr>
          <p:cNvSpPr/>
          <p:nvPr/>
        </p:nvSpPr>
        <p:spPr>
          <a:xfrm>
            <a:off x="3048000" y="40574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initialize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413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Kiểm tra danh sách có rỗng hay không:</a:t>
            </a:r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962535-258E-4B23-82F0-B210D588E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2324100"/>
            <a:ext cx="596265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9F61A0-CE39-4167-A759-FA13D1666C5D}"/>
              </a:ext>
            </a:extLst>
          </p:cNvPr>
          <p:cNvSpPr/>
          <p:nvPr/>
        </p:nvSpPr>
        <p:spPr>
          <a:xfrm>
            <a:off x="3048000" y="370522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isEmpty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952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Kiểm tra danh sách có đầy hay </a:t>
            </a:r>
            <a:r>
              <a:rPr lang="en-US" altLang="en-US"/>
              <a:t>không</a:t>
            </a:r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D9856B-F92E-44CC-94BC-3AE05ECA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2362200"/>
            <a:ext cx="600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6E9F8-8F98-4755-9ED3-6A202B1154F7}"/>
              </a:ext>
            </a:extLst>
          </p:cNvPr>
          <p:cNvSpPr/>
          <p:nvPr/>
        </p:nvSpPr>
        <p:spPr>
          <a:xfrm>
            <a:off x="3048000" y="415290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isFull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MAX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01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Thêm một phần tử vào danh sách</a:t>
            </a:r>
            <a:r>
              <a:rPr lang="en-US" altLang="en-US"/>
              <a:t> tại vị trí k</a:t>
            </a:r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B6D8E-04F0-4828-A048-D3EB7B9C0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3854370"/>
            <a:ext cx="4700588" cy="190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D68D74B-065F-4DDF-86E3-D5D9A2BFF99C}"/>
              </a:ext>
            </a:extLst>
          </p:cNvPr>
          <p:cNvSpPr/>
          <p:nvPr/>
        </p:nvSpPr>
        <p:spPr>
          <a:xfrm>
            <a:off x="1219200" y="2255371"/>
            <a:ext cx="95182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newinfo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 !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isFull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&amp;&amp; (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) {</a:t>
            </a:r>
          </a:p>
          <a:p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       //di chuyển các phần tử từ vị trí k ra phía sau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&gt;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--)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newinfo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73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Xóa một phần tử khỏi danh sách</a:t>
            </a:r>
            <a:r>
              <a:rPr lang="en-US" altLang="en-US"/>
              <a:t> tại vị trí k</a:t>
            </a:r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99EF0-14BD-4566-B0F4-24292AF9056A}"/>
              </a:ext>
            </a:extLst>
          </p:cNvPr>
          <p:cNvSpPr/>
          <p:nvPr/>
        </p:nvSpPr>
        <p:spPr>
          <a:xfrm>
            <a:off x="1219200" y="2169616"/>
            <a:ext cx="105445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795E26"/>
                </a:solidFill>
                <a:latin typeface="Consolas" panose="020B0609020204030204" pitchFamily="49" charset="0"/>
              </a:rPr>
              <a:t>Delete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(!</a:t>
            </a:r>
            <a:r>
              <a:rPr lang="vi-VN">
                <a:solidFill>
                  <a:srgbClr val="795E26"/>
                </a:solidFill>
                <a:latin typeface="Consolas" panose="020B0609020204030204" pitchFamily="49" charset="0"/>
              </a:rPr>
              <a:t>IsEmpty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 &amp;&amp; (</a:t>
            </a:r>
            <a:r>
              <a:rPr lang="vi-VN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)) {</a:t>
            </a:r>
          </a:p>
          <a:p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       //di chuyển các phần tử từ vị trí k+1 về phía trước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vi-VN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++) {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vi-VN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7DF724-6A0A-4B47-BD68-3386362B0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62" y="4247108"/>
            <a:ext cx="4719638" cy="228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86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Tìm giá trị X có trong danh sách không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204D4-0D35-420F-861E-96E8FF4904CA}"/>
              </a:ext>
            </a:extLst>
          </p:cNvPr>
          <p:cNvSpPr/>
          <p:nvPr/>
        </p:nvSpPr>
        <p:spPr>
          <a:xfrm>
            <a:off x="1263184" y="2293829"/>
            <a:ext cx="820259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CLIST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++)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] ==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//trả về vị trí tìm thấy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-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557DDB5-985A-47F8-9CE7-E98D5C26A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891" y="4133285"/>
            <a:ext cx="4733925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6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Đánh giá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Ưu điểm:</a:t>
            </a:r>
          </a:p>
          <a:p>
            <a:pPr lvl="1"/>
            <a:r>
              <a:rPr lang="vi-VN" altLang="en-US"/>
              <a:t>Mật độ sử dụng bộ nhớ của </a:t>
            </a:r>
            <a:r>
              <a:rPr lang="en-US" altLang="en-US"/>
              <a:t>DSĐ</a:t>
            </a:r>
            <a:r>
              <a:rPr lang="vi-VN" altLang="en-US"/>
              <a:t> là tối ưu tuyệt đối 100%</a:t>
            </a:r>
            <a:r>
              <a:rPr lang="en-US" altLang="en-US"/>
              <a:t>,</a:t>
            </a:r>
            <a:r>
              <a:rPr lang="vi-VN" altLang="en-US"/>
              <a:t> </a:t>
            </a:r>
            <a:r>
              <a:rPr lang="en-US" altLang="en-US"/>
              <a:t>d</a:t>
            </a:r>
            <a:r>
              <a:rPr lang="vi-VN" altLang="en-US"/>
              <a:t>o các phần tử được lưu trữ liên tiếp nhau trong bộ nhớ</a:t>
            </a:r>
            <a:r>
              <a:rPr lang="en-US" altLang="en-US"/>
              <a:t>.</a:t>
            </a:r>
          </a:p>
          <a:p>
            <a:pPr lvl="1"/>
            <a:r>
              <a:rPr lang="vi-VN" altLang="en-US"/>
              <a:t>Việc truy xuất </a:t>
            </a:r>
            <a:r>
              <a:rPr lang="en-US" altLang="en-US"/>
              <a:t>(O(1)) </a:t>
            </a:r>
            <a:r>
              <a:rPr lang="vi-VN" altLang="en-US"/>
              <a:t>và tìm kiếm</a:t>
            </a:r>
            <a:r>
              <a:rPr lang="en-US" altLang="en-US"/>
              <a:t> (O(n))</a:t>
            </a:r>
            <a:r>
              <a:rPr lang="vi-VN" altLang="en-US"/>
              <a:t> các phần tử của </a:t>
            </a:r>
            <a:r>
              <a:rPr lang="en-US" altLang="en-US"/>
              <a:t>DSĐ</a:t>
            </a:r>
            <a:r>
              <a:rPr lang="vi-VN" altLang="en-US"/>
              <a:t> là dễ dàng vì các phần tử đứng liền nhau</a:t>
            </a:r>
            <a:r>
              <a:rPr lang="en-US" altLang="en-US"/>
              <a:t>.</a:t>
            </a:r>
            <a:endParaRPr lang="en-AU" altLang="en-US"/>
          </a:p>
          <a:p>
            <a:r>
              <a:rPr lang="en-AU" altLang="en-US"/>
              <a:t>Nhược điểm:</a:t>
            </a:r>
          </a:p>
          <a:p>
            <a:pPr lvl="1"/>
            <a:r>
              <a:rPr lang="en-US" altLang="en-US"/>
              <a:t>Thao tác</a:t>
            </a:r>
            <a:r>
              <a:rPr lang="vi-VN" altLang="en-US"/>
              <a:t> thêm vào và loại bỏ một phần tử có chi phí cao O(n)</a:t>
            </a:r>
            <a:r>
              <a:rPr lang="en-US" altLang="en-US"/>
              <a:t>,</a:t>
            </a:r>
            <a:r>
              <a:rPr lang="vi-VN" altLang="en-US"/>
              <a:t> do phải di dời các phần tử đi chỗ khác</a:t>
            </a:r>
            <a:r>
              <a:rPr lang="en-US" altLang="en-US"/>
              <a:t>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D470-D334-4D06-B434-76729B8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Danh sách liên kết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34C9-133E-4150-A38F-7456426F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Định nghĩa</a:t>
            </a:r>
          </a:p>
          <a:p>
            <a:r>
              <a:rPr lang="vi-VN" altLang="en-US"/>
              <a:t>Tổ chức lưu trữ</a:t>
            </a:r>
            <a:endParaRPr lang="en-US" altLang="en-US"/>
          </a:p>
          <a:p>
            <a:r>
              <a:rPr lang="en-US" altLang="en-US"/>
              <a:t>Các kiểu tổ chức liên kết:</a:t>
            </a:r>
          </a:p>
          <a:p>
            <a:pPr lvl="1"/>
            <a:r>
              <a:rPr lang="en-US" altLang="en-US"/>
              <a:t>Danh sách liên kết đơn</a:t>
            </a:r>
          </a:p>
          <a:p>
            <a:pPr lvl="1"/>
            <a:r>
              <a:rPr lang="en-US" altLang="en-US"/>
              <a:t>Danh sách liên kết kép</a:t>
            </a:r>
          </a:p>
          <a:p>
            <a:pPr lvl="1"/>
            <a:r>
              <a:rPr lang="en-US" altLang="en-US"/>
              <a:t>Danh sách liên kết vòng</a:t>
            </a:r>
          </a:p>
          <a:p>
            <a:r>
              <a:rPr lang="en-US" altLang="en-US"/>
              <a:t>Đánh giá</a:t>
            </a:r>
          </a:p>
          <a:p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DE139-D9A4-4FAA-81D7-58AA8260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8E75B-0E39-4D27-9DFD-92E7A7CE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A84A-136C-44F9-81B4-988BDC06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1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097CC34-21B6-45F3-A3D1-FCA38217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B3BA-D655-4FEC-8604-060510AC4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Danh sách liên kết (DSLK) là một danh sách mà các phần tử được kết nối với nhau nhờ vào vùng liên kết của chúng.</a:t>
            </a:r>
            <a:endParaRPr lang="en-US" altLang="en-US"/>
          </a:p>
          <a:p>
            <a:r>
              <a:rPr lang="vi-VN" altLang="en-US"/>
              <a:t>DSLK là một loại cấu trúc đơn giản và thích hợp với các </a:t>
            </a:r>
            <a:r>
              <a:rPr lang="en-US" altLang="en-US"/>
              <a:t>thao tác </a:t>
            </a:r>
            <a:r>
              <a:rPr lang="vi-VN" altLang="en-US"/>
              <a:t>thêm vào, loại bỏ, ghép nhiều </a:t>
            </a:r>
            <a:r>
              <a:rPr lang="en-US" altLang="en-US"/>
              <a:t>danh sách</a:t>
            </a:r>
            <a:r>
              <a:rPr lang="vi-VN" altLang="en-US"/>
              <a:t> mà các </a:t>
            </a:r>
            <a:r>
              <a:rPr lang="en-US" altLang="en-US"/>
              <a:t>thao tác</a:t>
            </a:r>
            <a:r>
              <a:rPr lang="vi-VN" altLang="en-US"/>
              <a:t> này lại không thích hợp cho </a:t>
            </a:r>
            <a:r>
              <a:rPr lang="en-US" altLang="en-US"/>
              <a:t>DSĐ (do chi phí cao)</a:t>
            </a:r>
            <a:r>
              <a:rPr lang="vi-VN" altLang="en-US"/>
              <a:t>.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2D728-9471-4D93-A9AF-65B74361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8C490-4A51-47B9-B8AB-EE69E01B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71B5B-B05C-4571-8709-74F7E99D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5E3FFE8E-E565-4996-9944-B822B60485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42149" y="4547142"/>
            <a:ext cx="8822100" cy="706196"/>
            <a:chOff x="1616" y="2656"/>
            <a:chExt cx="5150" cy="414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A8C76E1E-4AF2-447C-A960-6AE719B74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0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03C17DDB-B175-434B-A7B8-03243EA773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AC166D2-3AD9-42D7-8809-9C524EEB3B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31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9AE954F7-C297-4A9C-A8BA-0740023651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378E3249-EA34-448D-A9A4-244AC074D1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89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Oval 10">
              <a:extLst>
                <a:ext uri="{FF2B5EF4-FFF2-40B4-BE49-F238E27FC236}">
                  <a16:creationId xmlns:a16="http://schemas.microsoft.com/office/drawing/2014/main" id="{8A0D56DF-FAC8-49F4-BAF3-C17A7159C8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6" y="2720"/>
              <a:ext cx="332" cy="285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B16F90DD-2234-454A-9009-B9C9BDD832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45" y="2752"/>
              <a:ext cx="221" cy="221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4FBBB9AB-3D93-4479-83DB-C3AFF6632A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863"/>
              <a:ext cx="3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CC356A4F-13E8-4BCC-ABDF-59761B5ECC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2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9F93D9FA-614D-490A-AF16-D2CBF385DAD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60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A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F2BF4F47-36F7-4A89-89BC-51DE321C340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44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B</a:t>
              </a:r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3B86C6E1-7FC9-4C63-9CF5-ECAAAB282AB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29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X</a:t>
              </a: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67585853-CBEE-4000-A3B7-13A489881A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3" y="2656"/>
              <a:ext cx="508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Z</a:t>
              </a: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E5D66B74-6288-460E-98F8-52B69088B13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87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Y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2F20D7E6-8BDE-49F5-A1F5-41E0DBFCF8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6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45649D32-2F8A-4806-93F1-323769AC336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9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689144A0-C135-422C-831D-D7A10D29A4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79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7843E02B-7062-4401-96D4-D9ADDAA1C0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26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053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B481-0BF5-4A3D-BAE3-8BC6EEE7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 chức lưu trữ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D4C8-3491-4D61-BFC0-4FD5FCFC1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US" altLang="en-US"/>
              <a:t>Một phần tử của DSLK bao gồm 2 vùng chính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Vùng chứa thông tin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US" altLang="en-US"/>
              <a:t>Vùng chứa địa chỉ, còn gọi là vùng liên kết</a:t>
            </a:r>
          </a:p>
          <a:p>
            <a:pPr>
              <a:buClr>
                <a:srgbClr val="002776"/>
              </a:buClr>
            </a:pPr>
            <a:r>
              <a:rPr lang="en-US" altLang="en-US"/>
              <a:t>V</a:t>
            </a:r>
            <a:r>
              <a:rPr lang="vi-VN" altLang="en-US"/>
              <a:t>iệc lưu trữ </a:t>
            </a:r>
            <a:r>
              <a:rPr lang="en-US" altLang="en-US"/>
              <a:t>DSLK </a:t>
            </a:r>
            <a:r>
              <a:rPr lang="vi-VN" altLang="en-US"/>
              <a:t>tốn bộ nhớ hơn </a:t>
            </a:r>
            <a:r>
              <a:rPr lang="en-US" altLang="en-US"/>
              <a:t>DSĐ</a:t>
            </a:r>
            <a:r>
              <a:rPr lang="vi-VN" altLang="en-US"/>
              <a:t> vì</a:t>
            </a:r>
            <a:r>
              <a:rPr lang="en-US" altLang="en-US"/>
              <a:t> phải</a:t>
            </a:r>
            <a:r>
              <a:rPr lang="vi-VN" altLang="en-US"/>
              <a:t> chứa thêm </a:t>
            </a:r>
            <a:r>
              <a:rPr lang="en-US" altLang="en-US"/>
              <a:t>phần </a:t>
            </a:r>
            <a:r>
              <a:rPr lang="vi-VN" altLang="en-US"/>
              <a:t>liên kết.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15361-5A57-482D-9F9F-B4C3CF95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0C291-6D43-4CE1-B173-FF1A8C0EE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C90C-26DB-4768-9D23-E6962948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18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EF9BFDA0-AE2E-482B-9C4A-908EEFB4BC9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42149" y="4547142"/>
            <a:ext cx="8822100" cy="706196"/>
            <a:chOff x="1616" y="2656"/>
            <a:chExt cx="5150" cy="414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4DB45E49-4D18-4C7F-ABFB-6B564150C9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0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608BEE70-61C5-479B-8CB5-B6647EDD58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1AFEECD3-DE4A-4733-99BC-2FF6BA1490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31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323F277-ECB4-49BD-917C-2A0AC779E4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D4112BF7-0E3D-4764-BD11-1230808B1D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89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4D180E4D-E11A-4098-9854-C92171508A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6" y="2720"/>
              <a:ext cx="332" cy="285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5900A20E-B06E-49FE-8E07-8A0C484908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45" y="2752"/>
              <a:ext cx="221" cy="221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0B26ED9-D72C-4DAE-92B7-C6FFD8EFE3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863"/>
              <a:ext cx="3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723DD357-06FA-4FE1-A216-B6FADBBB74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2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B388DBA6-1E3F-4D37-BB0C-23ED94EC85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60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A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127EE9D2-E052-4902-9DF7-47A009E25A2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44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B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C01A1EBF-6490-4083-8B1F-B0C097562F2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29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X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FA323158-7202-4DDE-AAE1-50E7AA14555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3" y="2656"/>
              <a:ext cx="508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Z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A862E9D7-D1E1-4480-91AA-BE1A564AE9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87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Y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FA866BFA-EC2F-423D-869A-FB38541DD5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6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B4D730E8-CE9E-4C1B-8A31-D326B04A07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9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FDA3E5AA-2470-4146-B3F9-4FC7889436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79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2EAD4FFF-AF0F-4B00-9DF5-E9BE528DB0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26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52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CF1A-29A8-4951-B9F6-3766D3F2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loại danh sách liên kết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6B002-B4A8-42D1-AB64-646C96E1A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  <a:defRPr/>
            </a:pPr>
            <a:r>
              <a:rPr lang="en-US"/>
              <a:t>DSLK đơn</a:t>
            </a:r>
          </a:p>
          <a:p>
            <a:pPr marL="457200" lvl="1" indent="0">
              <a:buClr>
                <a:srgbClr val="002776"/>
              </a:buClr>
              <a:buNone/>
              <a:defRPr/>
            </a:pPr>
            <a:endParaRPr lang="en-US"/>
          </a:p>
          <a:p>
            <a:pPr>
              <a:buClr>
                <a:srgbClr val="002776"/>
              </a:buClr>
              <a:defRPr/>
            </a:pPr>
            <a:r>
              <a:rPr lang="en-US"/>
              <a:t>DSLK kép</a:t>
            </a:r>
          </a:p>
          <a:p>
            <a:pPr lvl="1">
              <a:buClr>
                <a:srgbClr val="002776"/>
              </a:buClr>
              <a:buFont typeface="Wingdings" pitchFamily="2" charset="2"/>
              <a:buChar char="§"/>
              <a:defRPr/>
            </a:pPr>
            <a:endParaRPr lang="en-US"/>
          </a:p>
          <a:p>
            <a:pPr>
              <a:buClr>
                <a:srgbClr val="002776"/>
              </a:buClr>
              <a:defRPr/>
            </a:pPr>
            <a:r>
              <a:rPr lang="en-US"/>
              <a:t>DSLK vòng đơn</a:t>
            </a:r>
          </a:p>
          <a:p>
            <a:pPr lvl="1">
              <a:buClr>
                <a:srgbClr val="002776"/>
              </a:buClr>
              <a:buFont typeface="Wingdings" pitchFamily="2" charset="2"/>
              <a:buChar char="§"/>
              <a:defRPr/>
            </a:pPr>
            <a:endParaRPr lang="en-US"/>
          </a:p>
          <a:p>
            <a:pPr>
              <a:buClr>
                <a:srgbClr val="002776"/>
              </a:buClr>
              <a:defRPr/>
            </a:pPr>
            <a:r>
              <a:rPr lang="en-US"/>
              <a:t>DSLK vòng kép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A0979-2416-44AE-9F72-9C812E0E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0511A-D7CD-48E0-8031-ADEA27E1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92138-FD0F-4F64-AB00-B0698935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19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5081C18-C529-4FA4-AEE3-8256B5C1D2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66042" y="1702149"/>
            <a:ext cx="5235575" cy="419100"/>
            <a:chOff x="1616" y="2656"/>
            <a:chExt cx="5150" cy="414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4C3EF71C-01C9-4AD7-982B-09F350ACEE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0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4ED8E337-7347-41A1-856C-3943E0917A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F3E3834B-F846-4F47-95B6-244F19E89C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31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164C24D-25B1-4F23-8D75-E5F1610115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93E6DAA3-EFA5-4891-8E55-960A5662019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89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F78EB0F8-289A-410C-A321-4C0973808F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6" y="2720"/>
              <a:ext cx="332" cy="285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3E8B626F-B99D-46C0-8D49-96E5721AFD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45" y="2752"/>
              <a:ext cx="221" cy="221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16E05D53-C699-44C3-9A9C-52C1557CC8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863"/>
              <a:ext cx="3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E9F0518E-B358-4F42-9C69-DB24C09A6A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2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5660C8C1-489C-4113-B75C-771337ABAE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60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A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FBE06675-CD59-47B4-999C-FBABF7A055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44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B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5473B58B-50C1-4510-BAC3-84086E751BD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29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X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C5C8763C-8CBE-4551-960B-90EF9EFE834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3" y="2656"/>
              <a:ext cx="508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Z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047342F5-59EE-4F4B-A923-7B01D69BBA6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87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Y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7D2E8D89-943D-442E-A8BB-0C42A246CC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6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5B7E86C-E9D2-434A-B2A4-9C8B69911E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9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875506C9-53FB-4CDD-A0AB-911535ACBA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79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8F10E6B1-7ECB-4E47-B779-B52EF2B796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26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26" name="Group 55">
            <a:extLst>
              <a:ext uri="{FF2B5EF4-FFF2-40B4-BE49-F238E27FC236}">
                <a16:creationId xmlns:a16="http://schemas.microsoft.com/office/drawing/2014/main" id="{29B8066A-9709-40F6-9A6F-4209DB2E6A79}"/>
              </a:ext>
            </a:extLst>
          </p:cNvPr>
          <p:cNvGrpSpPr>
            <a:grpSpLocks/>
          </p:cNvGrpSpPr>
          <p:nvPr/>
        </p:nvGrpSpPr>
        <p:grpSpPr bwMode="auto">
          <a:xfrm>
            <a:off x="4920773" y="2715029"/>
            <a:ext cx="5726112" cy="420688"/>
            <a:chOff x="816" y="2862"/>
            <a:chExt cx="4394" cy="375"/>
          </a:xfrm>
        </p:grpSpPr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3F1824F3-E571-4518-97F5-64AB27E179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3009"/>
              <a:ext cx="266" cy="228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061B36D3-509D-4A75-BC7E-94D0F726A7F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14" y="3039"/>
              <a:ext cx="177" cy="177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3801D2EB-2073-4DBF-8374-EF7BD30932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960" y="3123"/>
              <a:ext cx="54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30" name="Group 27">
              <a:extLst>
                <a:ext uri="{FF2B5EF4-FFF2-40B4-BE49-F238E27FC236}">
                  <a16:creationId xmlns:a16="http://schemas.microsoft.com/office/drawing/2014/main" id="{B1887E77-F686-412D-87E5-E357410AC9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97" y="2880"/>
              <a:ext cx="825" cy="334"/>
              <a:chOff x="2619" y="3568"/>
              <a:chExt cx="1032" cy="417"/>
            </a:xfrm>
          </p:grpSpPr>
          <p:sp>
            <p:nvSpPr>
              <p:cNvPr id="52" name="Rectangle 28">
                <a:extLst>
                  <a:ext uri="{FF2B5EF4-FFF2-40B4-BE49-F238E27FC236}">
                    <a16:creationId xmlns:a16="http://schemas.microsoft.com/office/drawing/2014/main" id="{451488C5-DE6B-4FDB-BC7C-9B4C504242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6" y="3568"/>
                <a:ext cx="139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3" name="Text Box 29">
                <a:extLst>
                  <a:ext uri="{FF2B5EF4-FFF2-40B4-BE49-F238E27FC236}">
                    <a16:creationId xmlns:a16="http://schemas.microsoft.com/office/drawing/2014/main" id="{3A38C389-124E-4779-A8DB-84679007252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763" y="3571"/>
                <a:ext cx="508" cy="414"/>
              </a:xfrm>
              <a:prstGeom prst="rect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2520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latin typeface="VNI-Avo" pitchFamily="2" charset="0"/>
                  </a:rPr>
                  <a:t>A</a:t>
                </a:r>
              </a:p>
            </p:txBody>
          </p:sp>
          <p:sp>
            <p:nvSpPr>
              <p:cNvPr id="54" name="Line 30">
                <a:extLst>
                  <a:ext uri="{FF2B5EF4-FFF2-40B4-BE49-F238E27FC236}">
                    <a16:creationId xmlns:a16="http://schemas.microsoft.com/office/drawing/2014/main" id="{A78D3F6A-0972-45BD-9A7E-E475B4DB720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339" y="3868"/>
                <a:ext cx="31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sm" len="sm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55" name="Rectangle 31">
                <a:extLst>
                  <a:ext uri="{FF2B5EF4-FFF2-40B4-BE49-F238E27FC236}">
                    <a16:creationId xmlns:a16="http://schemas.microsoft.com/office/drawing/2014/main" id="{3E61A883-ECC3-4C21-AFEF-6A62A34C4B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19" y="3568"/>
                <a:ext cx="138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" name="Group 32">
              <a:extLst>
                <a:ext uri="{FF2B5EF4-FFF2-40B4-BE49-F238E27FC236}">
                  <a16:creationId xmlns:a16="http://schemas.microsoft.com/office/drawing/2014/main" id="{F6B33985-2615-458E-8D56-D14F735F29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128" y="2880"/>
              <a:ext cx="1005" cy="334"/>
              <a:chOff x="3339" y="3568"/>
              <a:chExt cx="1257" cy="417"/>
            </a:xfrm>
          </p:grpSpPr>
          <p:sp>
            <p:nvSpPr>
              <p:cNvPr id="47" name="Rectangle 33">
                <a:extLst>
                  <a:ext uri="{FF2B5EF4-FFF2-40B4-BE49-F238E27FC236}">
                    <a16:creationId xmlns:a16="http://schemas.microsoft.com/office/drawing/2014/main" id="{F470FEED-F768-4C09-9FB8-83D0D4D22C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11" y="3568"/>
                <a:ext cx="139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" name="Text Box 34">
                <a:extLst>
                  <a:ext uri="{FF2B5EF4-FFF2-40B4-BE49-F238E27FC236}">
                    <a16:creationId xmlns:a16="http://schemas.microsoft.com/office/drawing/2014/main" id="{0EB85D61-1A93-49A4-B9EC-C0257192855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708" y="3571"/>
                <a:ext cx="508" cy="414"/>
              </a:xfrm>
              <a:prstGeom prst="rect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2520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latin typeface="VNI-Avo" pitchFamily="2" charset="0"/>
                  </a:rPr>
                  <a:t>B</a:t>
                </a:r>
              </a:p>
            </p:txBody>
          </p:sp>
          <p:sp>
            <p:nvSpPr>
              <p:cNvPr id="49" name="Line 35">
                <a:extLst>
                  <a:ext uri="{FF2B5EF4-FFF2-40B4-BE49-F238E27FC236}">
                    <a16:creationId xmlns:a16="http://schemas.microsoft.com/office/drawing/2014/main" id="{9E15960C-E38B-4692-A738-7011D72C9C0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284" y="3868"/>
                <a:ext cx="31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sm" len="sm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50" name="Rectangle 36">
                <a:extLst>
                  <a:ext uri="{FF2B5EF4-FFF2-40B4-BE49-F238E27FC236}">
                    <a16:creationId xmlns:a16="http://schemas.microsoft.com/office/drawing/2014/main" id="{12840D10-E205-4E8D-ACB6-88CF4DC973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64" y="3568"/>
                <a:ext cx="138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1" name="Line 37">
                <a:extLst>
                  <a:ext uri="{FF2B5EF4-FFF2-40B4-BE49-F238E27FC236}">
                    <a16:creationId xmlns:a16="http://schemas.microsoft.com/office/drawing/2014/main" id="{7CFC7AC0-F26E-4DC0-A2B1-D5E21EA1B66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0800000">
                <a:off x="3339" y="3673"/>
                <a:ext cx="31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sm" len="sm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32" name="Group 38">
              <a:extLst>
                <a:ext uri="{FF2B5EF4-FFF2-40B4-BE49-F238E27FC236}">
                  <a16:creationId xmlns:a16="http://schemas.microsoft.com/office/drawing/2014/main" id="{8BDD211B-ECE7-47A2-89FA-B6F4CB4F36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49" y="2880"/>
              <a:ext cx="1005" cy="334"/>
              <a:chOff x="4299" y="3568"/>
              <a:chExt cx="1257" cy="417"/>
            </a:xfrm>
          </p:grpSpPr>
          <p:sp>
            <p:nvSpPr>
              <p:cNvPr id="42" name="Rectangle 39">
                <a:extLst>
                  <a:ext uri="{FF2B5EF4-FFF2-40B4-BE49-F238E27FC236}">
                    <a16:creationId xmlns:a16="http://schemas.microsoft.com/office/drawing/2014/main" id="{6FAA93B2-1D2C-466D-B56C-EA21426608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171" y="3568"/>
                <a:ext cx="139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3" name="Text Box 40">
                <a:extLst>
                  <a:ext uri="{FF2B5EF4-FFF2-40B4-BE49-F238E27FC236}">
                    <a16:creationId xmlns:a16="http://schemas.microsoft.com/office/drawing/2014/main" id="{D6DF91FA-DBDE-4D62-A9A9-DA43D42431F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668" y="3571"/>
                <a:ext cx="508" cy="414"/>
              </a:xfrm>
              <a:prstGeom prst="rect">
                <a:avLst/>
              </a:prstGeom>
              <a:gradFill rotWithShape="0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25200" rIns="0" bIns="0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chemeClr val="tx1"/>
                    </a:solidFill>
                    <a:latin typeface="VNI-Avo" pitchFamily="2" charset="0"/>
                  </a:rPr>
                  <a:t>C</a:t>
                </a:r>
              </a:p>
            </p:txBody>
          </p:sp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F605DDEB-D3B6-43F9-BC3A-8321707F4AA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244" y="3868"/>
                <a:ext cx="31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sm" len="sm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5" name="Rectangle 42">
                <a:extLst>
                  <a:ext uri="{FF2B5EF4-FFF2-40B4-BE49-F238E27FC236}">
                    <a16:creationId xmlns:a16="http://schemas.microsoft.com/office/drawing/2014/main" id="{1C1FA4A9-26D7-4D8E-820B-C4E6D24937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24" y="3568"/>
                <a:ext cx="138" cy="41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rgbClr val="002060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43">
                <a:extLst>
                  <a:ext uri="{FF2B5EF4-FFF2-40B4-BE49-F238E27FC236}">
                    <a16:creationId xmlns:a16="http://schemas.microsoft.com/office/drawing/2014/main" id="{58D9FAD4-3B58-4601-963E-AB06F862DFB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0800000">
                <a:off x="4299" y="3673"/>
                <a:ext cx="312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sm" len="sm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33" name="Rectangle 45">
              <a:extLst>
                <a:ext uri="{FF2B5EF4-FFF2-40B4-BE49-F238E27FC236}">
                  <a16:creationId xmlns:a16="http://schemas.microsoft.com/office/drawing/2014/main" id="{06E21588-B570-4255-8AFF-7A84287675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7" y="2880"/>
              <a:ext cx="111" cy="3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Text Box 46">
              <a:extLst>
                <a:ext uri="{FF2B5EF4-FFF2-40B4-BE49-F238E27FC236}">
                  <a16:creationId xmlns:a16="http://schemas.microsoft.com/office/drawing/2014/main" id="{5FE9F534-FB81-4D29-813F-6D561AED74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64" y="2882"/>
              <a:ext cx="407" cy="332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D</a:t>
              </a:r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793AD89B-804F-4E14-AF72-CFBA77FBC0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25" y="3126"/>
              <a:ext cx="2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sm" len="sm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" name="Rectangle 48">
              <a:extLst>
                <a:ext uri="{FF2B5EF4-FFF2-40B4-BE49-F238E27FC236}">
                  <a16:creationId xmlns:a16="http://schemas.microsoft.com/office/drawing/2014/main" id="{A70694E7-752E-41E3-8F9F-BE412ABE80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49" y="2880"/>
              <a:ext cx="111" cy="33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Line 49">
              <a:extLst>
                <a:ext uri="{FF2B5EF4-FFF2-40B4-BE49-F238E27FC236}">
                  <a16:creationId xmlns:a16="http://schemas.microsoft.com/office/drawing/2014/main" id="{A556E087-4FA7-4234-9D05-779C5F09C1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769" y="2962"/>
              <a:ext cx="2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sm" len="sm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5500E19C-315C-45BB-8FD2-001CD18B9F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9" y="2886"/>
              <a:ext cx="177" cy="177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Oval 52">
              <a:extLst>
                <a:ext uri="{FF2B5EF4-FFF2-40B4-BE49-F238E27FC236}">
                  <a16:creationId xmlns:a16="http://schemas.microsoft.com/office/drawing/2014/main" id="{C3D7B495-93AC-42F0-B5AF-6BB58ACDF9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" y="2862"/>
              <a:ext cx="266" cy="228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4157852B-4053-49AC-882D-456EC58D17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560" y="2976"/>
              <a:ext cx="54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4B1B6CC6-AFF4-47EE-8493-F0356B5AA2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96" y="2976"/>
              <a:ext cx="2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sm" len="sm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A84C1D99-3D01-4B0D-91CF-E31E4A21F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067" y="3615841"/>
            <a:ext cx="5343525" cy="102870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EB84A60B-DF79-43EC-B689-5EB4D683C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317" y="4710606"/>
            <a:ext cx="51530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9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9264-AA3E-4C17-A005-BA70C7CA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8FA62-D3AD-4715-91AE-74485FAB8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US" altLang="en-US"/>
              <a:t>Định nghĩa</a:t>
            </a:r>
          </a:p>
          <a:p>
            <a:pPr>
              <a:buClr>
                <a:srgbClr val="002776"/>
              </a:buClr>
            </a:pPr>
            <a:r>
              <a:rPr lang="vi-VN" altLang="en-US"/>
              <a:t>Tổ chức lưu trữ</a:t>
            </a:r>
            <a:endParaRPr lang="en-US" altLang="en-US"/>
          </a:p>
          <a:p>
            <a:pPr>
              <a:buClr>
                <a:srgbClr val="002776"/>
              </a:buClr>
            </a:pPr>
            <a:r>
              <a:rPr lang="en-US" altLang="en-US"/>
              <a:t>Các thao tác cơ bản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80B29-2901-498E-B8F8-027D7EF8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87078-8945-4F89-BB75-52903937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51D9-C0D7-4BF8-BDEF-27B2FCA6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20</a:t>
            </a:fld>
            <a:endParaRPr 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4BCABD1-B7BF-4343-AC0E-68C8EC7894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56954" y="4269350"/>
            <a:ext cx="8822100" cy="706196"/>
            <a:chOff x="1616" y="2656"/>
            <a:chExt cx="5150" cy="414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7F1F499-1C42-42E4-8753-3729F6BD63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0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C53EF39E-4B80-4920-BCBD-88604C167E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4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808F5780-E44A-4C21-A2B1-2513038A48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31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B2E61E84-9217-446E-8407-9A0281910C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06" y="2656"/>
              <a:ext cx="139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F6A74B1B-2535-4772-A748-AAA067BEA6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89" y="2656"/>
              <a:ext cx="138" cy="4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F9327C5E-5845-4461-BD54-C255116D4E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6" y="2720"/>
              <a:ext cx="332" cy="285"/>
            </a:xfrm>
            <a:prstGeom prst="ellipse">
              <a:avLst/>
            </a:prstGeom>
            <a:gradFill rotWithShape="0">
              <a:gsLst>
                <a:gs pos="0">
                  <a:srgbClr val="000080"/>
                </a:gs>
                <a:gs pos="100000">
                  <a:srgbClr val="3366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6CB7A4F9-ED1D-4999-B18B-E4863AB7DF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45" y="2752"/>
              <a:ext cx="221" cy="221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lin ang="27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9C44ABB4-0F5E-4CCB-8C57-4DEEB10C3F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91" y="2863"/>
              <a:ext cx="38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2A68BB2D-E1B1-4979-8E47-E9D36C40D2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32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D98B0435-CCC8-445C-9BFE-DCD3B487268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160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A</a:t>
              </a: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DF3EE1A5-D3C6-4A36-96A6-1FAFB34A680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44" y="2656"/>
              <a:ext cx="507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B</a:t>
              </a:r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2F9BCE9E-B466-4FB3-A10D-DC0D4BABEA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29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X</a:t>
              </a:r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F963358B-254A-4EDF-B6EA-EC49D1C1AA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03" y="2656"/>
              <a:ext cx="508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Z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E6DF65EE-B8DE-4612-A4EC-7D242A8030A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687" y="2656"/>
              <a:ext cx="506" cy="41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2520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002060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rgbClr val="002060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rgbClr val="002060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rgbClr val="002060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chemeClr val="tx1"/>
                  </a:solidFill>
                  <a:latin typeface="VNI-Avo" pitchFamily="2" charset="0"/>
                </a:rPr>
                <a:t>Y</a:t>
              </a: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D11E1AF-93AB-4E15-9745-655A3B47BA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16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DA68E965-B204-46B4-AA4A-F77F0FEA5A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9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A1B044C5-777F-4DCF-B5EE-7FDF7D72888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79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A6C2DDB0-861C-44C7-823D-19EE445546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264" y="2863"/>
              <a:ext cx="31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 type="oval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812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Định nghĩa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8A63-9496-459C-80BE-4DDD68F4B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US" altLang="en-US"/>
              <a:t>DSLK đơn là loại DSLK mà vùng liên kết của mỗi phần tử chỉ chứa duy nhất một địa chỉ của phần tử tiếp theo.</a:t>
            </a:r>
          </a:p>
          <a:p>
            <a:pPr>
              <a:buClr>
                <a:srgbClr val="002776"/>
              </a:buClr>
            </a:pPr>
            <a:r>
              <a:rPr lang="en-US" altLang="en-US"/>
              <a:t>Phần tử cuối cùng của DSLK đơn sẽ trỏ đến NULL.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A9902FA-DE80-4549-9968-BDFDC90B9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4" y="3505200"/>
            <a:ext cx="82486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931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Ví dụ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8A63-9496-459C-80BE-4DDD68F4B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 algn="ctr">
              <a:buNone/>
            </a:pPr>
            <a:r>
              <a:rPr lang="en-US"/>
              <a:t>Joe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Marta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Bill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Koch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Sahra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8" name="Group 66">
            <a:extLst>
              <a:ext uri="{FF2B5EF4-FFF2-40B4-BE49-F238E27FC236}">
                <a16:creationId xmlns:a16="http://schemas.microsoft.com/office/drawing/2014/main" id="{C6FB1BD7-6930-4AC3-9C05-ED24E62167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108171"/>
              </p:ext>
            </p:extLst>
          </p:nvPr>
        </p:nvGraphicFramePr>
        <p:xfrm>
          <a:off x="3300527" y="1815778"/>
          <a:ext cx="6505343" cy="3226443"/>
        </p:xfrm>
        <a:graphic>
          <a:graphicData uri="http://schemas.openxmlformats.org/drawingml/2006/table">
            <a:tbl>
              <a:tblPr firstRow="1" firstCol="1" lastCol="1" bandRow="1">
                <a:tableStyleId>{9DCAF9ED-07DC-4A11-8D7F-57B35C25682E}</a:tableStyleId>
              </a:tblPr>
              <a:tblGrid>
                <a:gridCol w="186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2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Address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Age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Link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Joe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140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110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Bill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42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500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140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Marta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27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110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230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Sahra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25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NULL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…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…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…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500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Koch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31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230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NI-Times" pitchFamily="2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20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065920-7BF7-49E7-B8A9-B3BC868B965B}"/>
              </a:ext>
            </a:extLst>
          </p:cNvPr>
          <p:cNvSpPr/>
          <p:nvPr/>
        </p:nvSpPr>
        <p:spPr>
          <a:xfrm>
            <a:off x="1219200" y="1755035"/>
            <a:ext cx="1005454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DATA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//DATA t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ư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ợng trưng cho kiểu dữ liệu bất kỳ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Tổ chức l</a:t>
            </a:r>
            <a:r>
              <a:rPr lang="vi-VN" sz="2800">
                <a:solidFill>
                  <a:srgbClr val="002060"/>
                </a:solidFill>
              </a:rPr>
              <a:t>ư</a:t>
            </a:r>
            <a:r>
              <a:rPr lang="en-US" sz="2800">
                <a:solidFill>
                  <a:srgbClr val="002060"/>
                </a:solidFill>
              </a:rPr>
              <a:t>u trữ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7364D00-20C5-4EE7-9892-851EED25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746" y="2942010"/>
            <a:ext cx="2857500" cy="166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01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8CC6-B963-4BE9-91EF-26CEE43B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Tổ chức l</a:t>
            </a:r>
            <a:r>
              <a:rPr lang="vi-VN" sz="2800">
                <a:solidFill>
                  <a:srgbClr val="002060"/>
                </a:solidFill>
              </a:rPr>
              <a:t>ư</a:t>
            </a:r>
            <a:r>
              <a:rPr lang="en-US" sz="2800">
                <a:solidFill>
                  <a:srgbClr val="002060"/>
                </a:solidFill>
              </a:rPr>
              <a:t>u trữ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26E83-0361-4E00-8780-F5839717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51B0E-0ECE-4181-84A4-01C183E6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4D7E0-3B4E-4F78-A054-17491EAF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FAA8A02-C8AF-4D07-A437-80578B9EB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683" y="2907286"/>
            <a:ext cx="2857500" cy="166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A47AF4-51EA-4EAB-A41D-DD70F8C603D7}"/>
              </a:ext>
            </a:extLst>
          </p:cNvPr>
          <p:cNvSpPr/>
          <p:nvPr/>
        </p:nvSpPr>
        <p:spPr>
          <a:xfrm>
            <a:off x="1219201" y="193779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score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8F8A4-5186-4D99-99A0-8C9C67848E71}"/>
              </a:ext>
            </a:extLst>
          </p:cNvPr>
          <p:cNvSpPr/>
          <p:nvPr/>
        </p:nvSpPr>
        <p:spPr>
          <a:xfrm>
            <a:off x="4780385" y="1937790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STUDENT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9702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US" altLang="en-US"/>
              <a:t>Khởi tạo danh sách rỗng </a:t>
            </a:r>
            <a:r>
              <a:rPr lang="en-US" altLang="en-US">
                <a:sym typeface="Wingdings" panose="05000000000000000000" pitchFamily="2" charset="2"/>
              </a:rPr>
              <a:t> gán pHead = NULL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1E27-8C79-48CD-AC6D-15E1D4029129}"/>
              </a:ext>
            </a:extLst>
          </p:cNvPr>
          <p:cNvSpPr/>
          <p:nvPr/>
        </p:nvSpPr>
        <p:spPr>
          <a:xfrm>
            <a:off x="1219200" y="292143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Initialize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03AF396-12B2-49F2-A4B6-43D0C3A87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05" y="2921433"/>
            <a:ext cx="19526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05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Kiểm tra danh sách có rỗng hay không: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Kiểm tra pHead có bằng NULL hay không</a:t>
            </a:r>
          </a:p>
          <a:p>
            <a:endParaRPr lang="en-US" altLang="en-US">
              <a:sym typeface="Wingdings" panose="05000000000000000000" pitchFamily="2" charset="2"/>
            </a:endParaRPr>
          </a:p>
          <a:p>
            <a:endParaRPr lang="en-US" altLang="en-US">
              <a:sym typeface="Wingdings" panose="05000000000000000000" pitchFamily="2" charset="2"/>
            </a:endParaRPr>
          </a:p>
          <a:p>
            <a:endParaRPr lang="en-US" altLang="en-US">
              <a:sym typeface="Wingdings" panose="05000000000000000000" pitchFamily="2" charset="2"/>
            </a:endParaRPr>
          </a:p>
          <a:p>
            <a:r>
              <a:rPr lang="vi-VN" altLang="en-US"/>
              <a:t>Kiểm tra danh sách có đầy hay </a:t>
            </a:r>
            <a:r>
              <a:rPr lang="en-US" altLang="en-US"/>
              <a:t>không: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không cần kiểm tra vì DSLK không giới hạn số l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ợng phần tử trong danh sách. Số phần tử trong DSLK chỉ phụ thuộc vào dung l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ợng bộ nhớ.</a:t>
            </a:r>
          </a:p>
          <a:p>
            <a:endParaRPr lang="en-US" altLang="en-US">
              <a:sym typeface="Wingdings" panose="05000000000000000000" pitchFamily="2" charset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667066-E978-4045-8B04-0596E4B7BF2B}"/>
              </a:ext>
            </a:extLst>
          </p:cNvPr>
          <p:cNvSpPr/>
          <p:nvPr/>
        </p:nvSpPr>
        <p:spPr>
          <a:xfrm>
            <a:off x="1983129" y="2765253"/>
            <a:ext cx="740393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IsEmpty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2923CD53-144C-4324-A11A-9AB785EBB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2921433"/>
            <a:ext cx="19526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365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Duyệt danh sách:</a:t>
            </a:r>
          </a:p>
          <a:p>
            <a:pPr lvl="1"/>
            <a:r>
              <a:rPr lang="en-US" altLang="en-US"/>
              <a:t>Là đi qua mỗi phần tử trong danh sách 1 lần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Cho con trỏ p chạy từ đầu đến cuối danh sách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31FDA-768B-48FB-905A-CD9E739BEC2A}"/>
              </a:ext>
            </a:extLst>
          </p:cNvPr>
          <p:cNvSpPr/>
          <p:nvPr/>
        </p:nvSpPr>
        <p:spPr>
          <a:xfrm>
            <a:off x="2041002" y="3328663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Process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       //xử lý cụ thể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65941B0-CCFC-4E05-91AD-6DA0A8DDF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689" y="5395912"/>
            <a:ext cx="6668625" cy="748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2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F39C1F4-BC7C-4D0B-8637-362D640F4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564" y="4876800"/>
            <a:ext cx="6240463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Tìm kiếm một phần tử trong danh sách: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Nếu tìm thấy trả về con trỏ p (địa chỉ của phần tử đ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ợc tìm thấy), ngược lại trả về NULL.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60E988-2470-4EE6-BDDF-1C98E4D7B984}"/>
              </a:ext>
            </a:extLst>
          </p:cNvPr>
          <p:cNvSpPr/>
          <p:nvPr/>
        </p:nvSpPr>
        <p:spPr>
          <a:xfrm>
            <a:off x="2006279" y="312521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20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F39C1F4-BC7C-4D0B-8637-362D640F4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564" y="4876800"/>
            <a:ext cx="6240463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Tìm kiếm một phần tử trong danh sách: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Nếu tìm thấy trả về con trỏ p (địa chỉ của phần tử đ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ợc tìm thấy) và con trỏ q (địa chỉ của phần tử đứng tr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ớc phần tử đ</a:t>
            </a:r>
            <a:r>
              <a:rPr lang="vi-VN" altLang="en-US">
                <a:sym typeface="Wingdings" panose="05000000000000000000" pitchFamily="2" charset="2"/>
              </a:rPr>
              <a:t>ư</a:t>
            </a:r>
            <a:r>
              <a:rPr lang="en-US" altLang="en-US">
                <a:sym typeface="Wingdings" panose="05000000000000000000" pitchFamily="2" charset="2"/>
              </a:rPr>
              <a:t>ợc tìm thấy), ngược lại trả về NULL.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89BBB-F21E-49D9-B680-DE9B316E58A7}"/>
              </a:ext>
            </a:extLst>
          </p:cNvPr>
          <p:cNvSpPr/>
          <p:nvPr/>
        </p:nvSpPr>
        <p:spPr>
          <a:xfrm>
            <a:off x="2006277" y="3429000"/>
            <a:ext cx="84225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break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147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ym typeface="Wingdings" panose="05000000000000000000" pitchFamily="2" charset="2"/>
              </a:rPr>
              <a:t>Tạo một phần tử trong bộ nhớ:</a:t>
            </a:r>
          </a:p>
          <a:p>
            <a:pPr lvl="1"/>
            <a:r>
              <a:rPr lang="en-US"/>
              <a:t>Trả về địa chỉ của node mới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AEDEF-3FD7-4FDD-AD25-CF077A46CF82}"/>
              </a:ext>
            </a:extLst>
          </p:cNvPr>
          <p:cNvSpPr/>
          <p:nvPr/>
        </p:nvSpPr>
        <p:spPr>
          <a:xfrm>
            <a:off x="2052578" y="2755880"/>
            <a:ext cx="49269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   //cấp phát động bộ nhớ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54DA579-27D8-4DE2-90B3-6B672607A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265" y="3144094"/>
            <a:ext cx="30765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04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một phần tử vào danh sách:</a:t>
            </a:r>
          </a:p>
          <a:p>
            <a:pPr lvl="1"/>
            <a:r>
              <a:rPr lang="en-US" altLang="en-US"/>
              <a:t>B1:</a:t>
            </a:r>
            <a:r>
              <a:rPr lang="en-US" altLang="en-US">
                <a:sym typeface="Wingdings" panose="05000000000000000000" pitchFamily="2" charset="2"/>
              </a:rPr>
              <a:t> Tạo phần tử cần thêm trong bộ nhớ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B2: Gắn phần tử vừa tạo vào danh sách:</a:t>
            </a:r>
          </a:p>
          <a:p>
            <a:pPr lvl="2"/>
            <a:r>
              <a:rPr lang="en-US" altLang="en-US">
                <a:sym typeface="Wingdings" panose="05000000000000000000" pitchFamily="2" charset="2"/>
              </a:rPr>
              <a:t>Gắn vào đầu danh sách</a:t>
            </a:r>
          </a:p>
          <a:p>
            <a:pPr lvl="2"/>
            <a:r>
              <a:rPr lang="en-US" altLang="en-US">
                <a:sym typeface="Wingdings" panose="05000000000000000000" pitchFamily="2" charset="2"/>
              </a:rPr>
              <a:t>Gắn vào sau phần tử q</a:t>
            </a:r>
            <a:endParaRPr lang="en-US" altLang="en-US"/>
          </a:p>
          <a:p>
            <a:pPr lvl="2"/>
            <a:r>
              <a:rPr lang="en-US" altLang="en-US">
                <a:sym typeface="Wingdings" panose="05000000000000000000" pitchFamily="2" charset="2"/>
              </a:rPr>
              <a:t>[Gắn vào cuối danh sách]</a:t>
            </a:r>
          </a:p>
          <a:p>
            <a:pPr lvl="2"/>
            <a:endParaRPr lang="en-US" altLang="en-US">
              <a:sym typeface="Wingdings" panose="05000000000000000000" pitchFamily="2" charset="2"/>
            </a:endParaRPr>
          </a:p>
          <a:p>
            <a:pPr lvl="1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7504864-9CF6-48F7-9510-E8AFEEF35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952" y="3194894"/>
            <a:ext cx="6334125" cy="117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DA32B25C-07BF-4479-94A1-9A2533A43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302" y="4732338"/>
            <a:ext cx="6200775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983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3E71-DC8F-43D0-8264-CF5233E4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 sz="320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343-46F4-4D0E-867E-E7A66097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vào đầu danh sách: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DE2C0-5F84-49B5-B71A-8EE84016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DCEA7-1EF9-4367-8963-3E691641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E5F98-4235-4B70-A74E-0D592A5F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EA808D5-A104-4B6A-AF6A-E6A27388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4757747"/>
            <a:ext cx="6334125" cy="117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1D9B28-6A53-41EF-88C1-1CFACCEA8E41}"/>
              </a:ext>
            </a:extLst>
          </p:cNvPr>
          <p:cNvSpPr/>
          <p:nvPr/>
        </p:nvSpPr>
        <p:spPr>
          <a:xfrm>
            <a:off x="1578015" y="2239952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InsertHead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034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D9A5-C372-4CFE-B44D-E4B7C28E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3D1A-1E10-4CCC-8D64-1C349C819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vào sau phần tử q: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874499-E74E-4BC9-BB72-E182ECE1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F5CDB-8D93-42E7-B7EE-2F828433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974E2-9AA9-40E4-9CE6-67058611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31532-DDD9-435D-A5C6-371899557BED}"/>
              </a:ext>
            </a:extLst>
          </p:cNvPr>
          <p:cNvSpPr/>
          <p:nvPr/>
        </p:nvSpPr>
        <p:spPr>
          <a:xfrm>
            <a:off x="1598851" y="2210812"/>
            <a:ext cx="82164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InsertAfter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8982573-4D2C-4EF1-80A4-79770406D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680" y="4275138"/>
            <a:ext cx="6200775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249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ADDF9CE-659A-4BBF-94F1-4942B0EB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2DD6F-8556-42F4-95FA-E11A2B81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một phần tử khỏi danh sách:</a:t>
            </a:r>
          </a:p>
          <a:p>
            <a:pPr lvl="1"/>
            <a:r>
              <a:rPr lang="en-US" altLang="en-US"/>
              <a:t>Xóa phần tử ở đầu danh sách: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Xóa phần tử đứng sau phần tử q: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Xóa phần tử có giá trị X: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81377-90FE-4DD1-AFC8-8F71BA13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4C9B3-BD4B-4B61-B653-AE6F048C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500C5-9909-4011-95DC-B5C64C51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C3647227-4D7F-4A7A-A979-ED0A1F475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56" y="2646022"/>
            <a:ext cx="4891088" cy="103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0347CB93-E6A2-423F-B2A0-1CC92DDCF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56" y="4128688"/>
            <a:ext cx="5275262" cy="105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AC954DBC-A890-4620-A740-61571046E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656" y="5476052"/>
            <a:ext cx="4881563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02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68CE-96DD-4D93-9574-B11C95DB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36927-5F25-426D-A052-976263E9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Xóa phần tử ở đầu danh sách</a:t>
            </a:r>
            <a:r>
              <a:rPr lang="en-US" altLang="en-US"/>
              <a:t>: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656EE-843E-4DB2-9BBB-D66C72B1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28B76-ABA0-4104-A6BB-1AAB3DA1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DAB8-37DB-4764-A2E5-928D563F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32B1F-7D6B-4472-8F09-232E28053B80}"/>
              </a:ext>
            </a:extLst>
          </p:cNvPr>
          <p:cNvSpPr/>
          <p:nvPr/>
        </p:nvSpPr>
        <p:spPr>
          <a:xfrm>
            <a:off x="1554865" y="2239952"/>
            <a:ext cx="725346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(!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IsEmpty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8888C9A-5310-4BA3-AB72-209011B1B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37" y="4207780"/>
            <a:ext cx="5707063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248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75D8-4D47-4D80-843B-A14B44BC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28E8A-2634-4790-827E-A80849A89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Xóa phần tử đứng sau phần tử q</a:t>
            </a:r>
            <a:r>
              <a:rPr lang="en-US" altLang="en-US"/>
              <a:t>: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F9530-92E0-4E08-B80C-E5E08965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FBCB9-5A83-453C-81AC-DD7B5196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7E0F1-3FA0-4725-BF4D-375FAF0E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F87E4E-64C6-4301-91F5-C7F9A10CFCC9}"/>
              </a:ext>
            </a:extLst>
          </p:cNvPr>
          <p:cNvSpPr/>
          <p:nvPr/>
        </p:nvSpPr>
        <p:spPr>
          <a:xfrm>
            <a:off x="1554865" y="2155329"/>
            <a:ext cx="702197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DeleteAfter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3788004-FD96-4316-9BA5-A3D64125C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265" y="4945063"/>
            <a:ext cx="6153150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575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75785AAF-099A-46DF-85EB-2CBBB6526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45" y="3782862"/>
            <a:ext cx="5694363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C75D8-4D47-4D80-843B-A14B44BC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28E8A-2634-4790-827E-A80849A89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Xóa phần tử có giá trị X</a:t>
            </a:r>
            <a:r>
              <a:rPr lang="en-US" altLang="en-US"/>
              <a:t>: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F9530-92E0-4E08-B80C-E5E08965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FBCB9-5A83-453C-81AC-DD7B5196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7E0F1-3FA0-4725-BF4D-375FAF0E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8C13B-D68D-414F-A2D2-B1272D84586C}"/>
              </a:ext>
            </a:extLst>
          </p:cNvPr>
          <p:cNvSpPr/>
          <p:nvPr/>
        </p:nvSpPr>
        <p:spPr>
          <a:xfrm>
            <a:off x="1616331" y="2181285"/>
            <a:ext cx="702428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   // 1.Tìm x trong danh sách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//không tìm thấy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   // 2.Xóa phần tử chứa x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//nếu p là head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DeleteAfter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497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C8D738B-CD1D-4B47-8C7B-23852DC9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đ</a:t>
            </a:r>
            <a:r>
              <a:rPr lang="vi-VN"/>
              <a:t>ơ</a:t>
            </a:r>
            <a:r>
              <a:rPr lang="en-US"/>
              <a:t>n</a:t>
            </a:r>
            <a:br>
              <a:rPr lang="en-US"/>
            </a:br>
            <a:r>
              <a:rPr lang="en-US" sz="2800">
                <a:solidFill>
                  <a:srgbClr val="002060"/>
                </a:solidFill>
              </a:rPr>
              <a:t>Các thao tác c</a:t>
            </a:r>
            <a:r>
              <a:rPr lang="vi-VN" sz="2800">
                <a:solidFill>
                  <a:srgbClr val="002060"/>
                </a:solidFill>
              </a:rPr>
              <a:t>ơ</a:t>
            </a:r>
            <a:r>
              <a:rPr lang="en-US" sz="2800">
                <a:solidFill>
                  <a:srgbClr val="002060"/>
                </a:solidFill>
              </a:rPr>
              <a:t> bản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CD24-5494-4026-8DC4-4E9E691AF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Hủy toàn bộ danh sách:</a:t>
            </a:r>
          </a:p>
          <a:p>
            <a:pPr lvl="1"/>
            <a:r>
              <a:rPr lang="en-US" altLang="en-US">
                <a:sym typeface="Wingdings" panose="05000000000000000000" pitchFamily="2" charset="2"/>
              </a:rPr>
              <a:t>Trong khi (còn phần tử), thì xóa phần tử đầu tiên</a:t>
            </a:r>
            <a:endParaRPr lang="en-US" alt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B433C-A3B6-450E-9FF0-24ABCAE6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9EA97-78E8-4D92-B8BC-FC92863D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F164-D430-487F-A34D-7621AA50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F21173F-64FF-4096-8914-0F413C44A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725738"/>
            <a:ext cx="5707063" cy="120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E4E23CA-9FBD-4C3B-B8C9-D06D14059EBF}"/>
              </a:ext>
            </a:extLst>
          </p:cNvPr>
          <p:cNvSpPr/>
          <p:nvPr/>
        </p:nvSpPr>
        <p:spPr>
          <a:xfrm>
            <a:off x="1908175" y="432197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DeleteAll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DeleteHead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74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9B3F1D6-09B2-4A6E-AB25-A2068EC6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AE606-19B7-4AA0-8315-C5C1303C8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Định nghĩa</a:t>
            </a:r>
          </a:p>
          <a:p>
            <a:r>
              <a:rPr lang="vi-VN" altLang="en-US"/>
              <a:t>Tổ chức lưu trữ</a:t>
            </a:r>
            <a:endParaRPr lang="en-US" altLang="en-US"/>
          </a:p>
          <a:p>
            <a:r>
              <a:rPr lang="en-US" altLang="en-US"/>
              <a:t>Các thao tác cơ bản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829CF-0177-4AB3-B754-9062CB07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03DFF-1282-47FF-A42C-772E566D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E66A2-53F1-40B1-9E98-381CBBD7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B79F14F7-8543-4FCF-9204-A2E24F19E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4034420"/>
            <a:ext cx="77057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018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DD9A-D6F4-4438-8D2F-5FF2F713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Định nghĩa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2B14-CA29-45C8-8CD6-96A17BE2A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DSLK kép là DSLK mà mỗi phần tử có 2 liên kết: một liên kết đến phần tử đứng trước nó và một liên kết đến phần tử đứng sau nó</a:t>
            </a:r>
            <a:r>
              <a:rPr lang="en-US" altLang="en-US"/>
              <a:t>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7521B-979E-444D-B3FE-B33B7F7E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3EC5-9B8B-478C-9CA3-F0FD2D56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6265-E021-4410-9252-96296829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40</a:t>
            </a:fld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F3975A9-1DD0-4E79-8DA5-F2131AE1F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3324225"/>
            <a:ext cx="77057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52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DD9A-D6F4-4438-8D2F-5FF2F713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Tổ chức lưu trữ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7521B-979E-444D-B3FE-B33B7F7E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3EC5-9B8B-478C-9CA3-F0FD2D56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3DFC-FA8D-4C71-A105-3FFE54ADD2D5}" type="datetime1">
              <a:rPr lang="en-US" smtClean="0"/>
              <a:t>10/14/2024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6265-E021-4410-9252-96296829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41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C63313-49B1-48C1-949D-A47D878EB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75" y="2866703"/>
            <a:ext cx="2613025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C9FF7DC-097E-4145-9657-F06CAE833D85}"/>
              </a:ext>
            </a:extLst>
          </p:cNvPr>
          <p:cNvSpPr/>
          <p:nvPr/>
        </p:nvSpPr>
        <p:spPr>
          <a:xfrm>
            <a:off x="1375727" y="190603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021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Khởi tạo danh sách rỗng</a:t>
            </a:r>
          </a:p>
          <a:p>
            <a:r>
              <a:rPr lang="en-US"/>
              <a:t>Kiểm tra danh sách có rỗng hay không</a:t>
            </a:r>
          </a:p>
          <a:p>
            <a:r>
              <a:rPr lang="en-US"/>
              <a:t>Duyệt danh sách</a:t>
            </a:r>
          </a:p>
          <a:p>
            <a:r>
              <a:rPr lang="en-US"/>
              <a:t>Tìm kiếm một phần tử trong danh sách</a:t>
            </a:r>
          </a:p>
          <a:p>
            <a:r>
              <a:rPr lang="en-US"/>
              <a:t>Hủy toàn bộ danh sách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AEDA1851-0FE4-4B8D-83BC-F441053BB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4852083"/>
            <a:ext cx="77057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7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Tạo một phần tử trong bộ nhớ: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D80021-B686-4973-814E-616DD8BD86BF}"/>
              </a:ext>
            </a:extLst>
          </p:cNvPr>
          <p:cNvSpPr/>
          <p:nvPr/>
        </p:nvSpPr>
        <p:spPr>
          <a:xfrm>
            <a:off x="1612739" y="233429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745848F-AA4A-42D5-A395-2A408B3BE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261" y="3189067"/>
            <a:ext cx="3048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29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một phần tử vào danh sách:</a:t>
            </a:r>
          </a:p>
          <a:p>
            <a:pPr lvl="1"/>
            <a:r>
              <a:rPr lang="en-US" altLang="en-US"/>
              <a:t>B1: Tạo một phần tử trong bộ nhớ</a:t>
            </a:r>
          </a:p>
          <a:p>
            <a:pPr lvl="1"/>
            <a:r>
              <a:rPr lang="en-US" altLang="en-US"/>
              <a:t>B2: Gắn phần tử vừa tạo vào danh sách:</a:t>
            </a:r>
          </a:p>
          <a:p>
            <a:pPr lvl="2"/>
            <a:r>
              <a:rPr lang="en-US" altLang="en-US"/>
              <a:t>Gắn vào đầu danh sách</a:t>
            </a:r>
          </a:p>
          <a:p>
            <a:pPr lvl="2"/>
            <a:r>
              <a:rPr lang="en-US" altLang="en-US"/>
              <a:t>Gắn vào sau phần tử q</a:t>
            </a:r>
          </a:p>
          <a:p>
            <a:pPr lvl="2"/>
            <a:r>
              <a:rPr lang="en-US" altLang="en-US"/>
              <a:t>Gắn vào trước phần tử q</a:t>
            </a:r>
          </a:p>
          <a:p>
            <a:pPr lvl="2"/>
            <a:endParaRPr lang="en-US" altLang="en-US"/>
          </a:p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E5F6DE7A-9A8C-441A-A0F8-75626F0CD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036" y="3429000"/>
            <a:ext cx="5961063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962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E5F188CC-6491-48DE-A953-191F58131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380" y="4515696"/>
            <a:ext cx="5961063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vào đầu danh sách: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E68988-F1F6-4B95-B449-14444C740903}"/>
              </a:ext>
            </a:extLst>
          </p:cNvPr>
          <p:cNvSpPr/>
          <p:nvPr/>
        </p:nvSpPr>
        <p:spPr>
          <a:xfrm>
            <a:off x="1567081" y="2169616"/>
            <a:ext cx="722967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InsertHead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199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F7FBEAB-93FF-491F-B9E1-9A75F435E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61" y="3172791"/>
            <a:ext cx="5353050" cy="22098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vào sau phần tử q: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E7944-48D2-4112-9BE4-3653CEF0AFFC}"/>
              </a:ext>
            </a:extLst>
          </p:cNvPr>
          <p:cNvSpPr/>
          <p:nvPr/>
        </p:nvSpPr>
        <p:spPr>
          <a:xfrm>
            <a:off x="1543290" y="2169616"/>
            <a:ext cx="88514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InsertAfter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13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94E139-3587-44F0-AD06-DB7AB545A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9" y="2933700"/>
            <a:ext cx="5219700" cy="202882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Thêm vào trước phần tử q: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5E2BC4-4C01-4A7E-9BED-44E09FF8146B}"/>
              </a:ext>
            </a:extLst>
          </p:cNvPr>
          <p:cNvSpPr/>
          <p:nvPr/>
        </p:nvSpPr>
        <p:spPr>
          <a:xfrm>
            <a:off x="1589589" y="2169616"/>
            <a:ext cx="88391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InsertBefore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619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một phần tử khỏi danh sách:</a:t>
            </a:r>
          </a:p>
          <a:p>
            <a:pPr lvl="1"/>
            <a:r>
              <a:rPr lang="en-US" altLang="en-US"/>
              <a:t>Xóa phần tử ở đầu danh sách</a:t>
            </a:r>
          </a:p>
          <a:p>
            <a:pPr lvl="1"/>
            <a:r>
              <a:rPr lang="en-US" altLang="en-US"/>
              <a:t>Xóa phần tử đứng sau phần tử q</a:t>
            </a:r>
          </a:p>
          <a:p>
            <a:pPr lvl="1"/>
            <a:r>
              <a:rPr lang="en-US" altLang="en-US"/>
              <a:t>Xóa phần tử đứng trước phần tử q</a:t>
            </a:r>
          </a:p>
          <a:p>
            <a:pPr lvl="1"/>
            <a:r>
              <a:rPr lang="en-US" altLang="en-US"/>
              <a:t>Xóa phần tử có giá trị 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149A3F8-6C96-4A9E-AD38-425D2862D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981" y="4442971"/>
            <a:ext cx="6142037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830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phần tử ở đầu danh sách: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D1DA95-41AB-416A-A781-B1DB02211495}"/>
              </a:ext>
            </a:extLst>
          </p:cNvPr>
          <p:cNvSpPr/>
          <p:nvPr/>
        </p:nvSpPr>
        <p:spPr>
          <a:xfrm>
            <a:off x="1547151" y="2169616"/>
            <a:ext cx="1037544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795E26"/>
                </a:solidFill>
                <a:latin typeface="Consolas" panose="020B0609020204030204" pitchFamily="49" charset="0"/>
              </a:rPr>
              <a:t>DeleteHead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(!</a:t>
            </a:r>
            <a:r>
              <a:rPr lang="vi-VN">
                <a:solidFill>
                  <a:srgbClr val="795E26"/>
                </a:solidFill>
                <a:latin typeface="Consolas" panose="020B0609020204030204" pitchFamily="49" charset="0"/>
              </a:rPr>
              <a:t>IsEmpty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)) {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// loại trừ trường hợp dsách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pHead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vi-VN">
                <a:solidFill>
                  <a:srgbClr val="008000"/>
                </a:solidFill>
                <a:latin typeface="Consolas" panose="020B0609020204030204" pitchFamily="49" charset="0"/>
              </a:rPr>
              <a:t> // chỉ có 1 phần tử</a:t>
            </a:r>
            <a:endParaRPr lang="vi-VN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vi-VN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vi-VN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vi-VN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3F9B31C-8EF7-41A7-A251-A6FA1EEAE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67" y="4819650"/>
            <a:ext cx="6142037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5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phần tử đứng sau phần tử q: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27483-7D33-4380-92AC-0740F111D157}"/>
              </a:ext>
            </a:extLst>
          </p:cNvPr>
          <p:cNvSpPr/>
          <p:nvPr/>
        </p:nvSpPr>
        <p:spPr>
          <a:xfrm>
            <a:off x="1566440" y="2234066"/>
            <a:ext cx="602655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DeleteAfter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9DE71A4-1CEF-4FB2-9873-9ABC0BA3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235" y="4838700"/>
            <a:ext cx="611028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01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phần tử đứng trước phần tử q: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ADB82-8EF4-4585-805F-DAF52418B88F}"/>
              </a:ext>
            </a:extLst>
          </p:cNvPr>
          <p:cNvSpPr/>
          <p:nvPr/>
        </p:nvSpPr>
        <p:spPr>
          <a:xfrm>
            <a:off x="1572872" y="2148222"/>
            <a:ext cx="649468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DeleteBefore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pNext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34E3697-5073-4CC7-A920-C00BD0C7E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258" y="4651315"/>
            <a:ext cx="611028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278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A4626E39-A85B-45DA-BB62-49C8929FA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24744"/>
            <a:ext cx="60960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Các thao tác c</a:t>
            </a:r>
            <a:r>
              <a:rPr lang="vi-VN"/>
              <a:t>ơ</a:t>
            </a:r>
            <a:r>
              <a:rPr lang="en-US"/>
              <a:t> bản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Xóa phần tử có giá trị X: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2665D3-F905-4D92-9738-7917502E3E6C}"/>
              </a:ext>
            </a:extLst>
          </p:cNvPr>
          <p:cNvSpPr/>
          <p:nvPr/>
        </p:nvSpPr>
        <p:spPr>
          <a:xfrm>
            <a:off x="1547150" y="2201629"/>
            <a:ext cx="802640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DeleteNode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DATA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   // 1. search with x --&gt; p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Search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// not found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   // 2. delete p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DNODE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pPrev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// q is previous of p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// p is head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DeleteHead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// p is not head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DeleteAfter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list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693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9452E9-65C3-447A-985B-C9CDFF22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Danh sách liên kết kép – Đánh giá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32ED44-34F6-4A39-AB39-CF2CAA3E7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Ưu điểm:</a:t>
            </a:r>
          </a:p>
          <a:p>
            <a:pPr lvl="1"/>
            <a:r>
              <a:rPr lang="en-US" altLang="en-US"/>
              <a:t>Dễ thực hiện các thao tác thêm, xóa một phần tử.</a:t>
            </a:r>
          </a:p>
          <a:p>
            <a:pPr lvl="1"/>
            <a:r>
              <a:rPr lang="vi-VN" altLang="en-US"/>
              <a:t>Tận dụng được các vùng nhớ rời rạc</a:t>
            </a:r>
            <a:r>
              <a:rPr lang="en-US" altLang="en-US"/>
              <a:t>.</a:t>
            </a:r>
          </a:p>
          <a:p>
            <a:r>
              <a:rPr lang="en-US" altLang="en-US"/>
              <a:t>Khuyết điểm:</a:t>
            </a:r>
          </a:p>
          <a:p>
            <a:pPr lvl="1"/>
            <a:r>
              <a:rPr lang="en-US" altLang="en-US"/>
              <a:t>Không thuận tiện cho thao tác truy xuất phần tử vì phải duyệt từ đầu danh sách.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7434E-FAF3-4557-8FEB-2B099FEB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Danh Sách (List)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DA27-CFD4-490F-81D9-691CD17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36C0-FFB5-44D9-9ACC-905E14594FC9}" type="datetime1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815B2-7B8E-4323-9981-06295AAE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1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DA867-87AE-4E06-BCBE-F32E2739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621" y="1371600"/>
            <a:ext cx="6072759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SU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>
    <a:lnDef>
      <a:spPr>
        <a:ln w="28575">
          <a:solidFill>
            <a:srgbClr val="00206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" id="{A63A0C5C-11F4-4574-9CEA-7651809D1C0D}" vid="{7CE2F1C4-7BBE-4197-8E6A-747A89601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HSU</Template>
  <TotalTime>6520</TotalTime>
  <Words>2881</Words>
  <Application>Microsoft Office PowerPoint</Application>
  <PresentationFormat>Widescreen</PresentationFormat>
  <Paragraphs>667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Calibri</vt:lpstr>
      <vt:lpstr>Consolas</vt:lpstr>
      <vt:lpstr>Constantia</vt:lpstr>
      <vt:lpstr>Verdana</vt:lpstr>
      <vt:lpstr>VNI-Avo</vt:lpstr>
      <vt:lpstr>VNI-Times</vt:lpstr>
      <vt:lpstr>Wingdings</vt:lpstr>
      <vt:lpstr>HSU</vt:lpstr>
      <vt:lpstr> Cấu Trúc Dữ Liệu &amp; Giải Thuật</vt:lpstr>
      <vt:lpstr>Bài 6 – Danh Sách (List) – Phần 1</vt:lpstr>
      <vt:lpstr>Giới thiệu</vt:lpstr>
      <vt:lpstr>Danh sách vs Dãy</vt:lpstr>
      <vt:lpstr>Các thao tác cơ bản trên danh sách</vt:lpstr>
      <vt:lpstr>Danh sách đặc</vt:lpstr>
      <vt:lpstr>Định nghĩa</vt:lpstr>
      <vt:lpstr>Tổ chức lưu trữ</vt:lpstr>
      <vt:lpstr>Các thao tác cơ bản</vt:lpstr>
      <vt:lpstr>Các thao tác cơ bản</vt:lpstr>
      <vt:lpstr>Các thao tác cơ bản</vt:lpstr>
      <vt:lpstr>Các thao tác cơ bản</vt:lpstr>
      <vt:lpstr>Các thao tác cơ bản</vt:lpstr>
      <vt:lpstr>Các thao tác cơ bản</vt:lpstr>
      <vt:lpstr>Đánh giá</vt:lpstr>
      <vt:lpstr>Danh sách liên kết</vt:lpstr>
      <vt:lpstr>Định nghĩa</vt:lpstr>
      <vt:lpstr>Tổ chức lưu trữ</vt:lpstr>
      <vt:lpstr>Các loại danh sách liên kết</vt:lpstr>
      <vt:lpstr>Danh sách liên kết đơn</vt:lpstr>
      <vt:lpstr>Danh sách liên kết đơn Định nghĩa</vt:lpstr>
      <vt:lpstr>Danh sách liên kết đơn Ví dụ</vt:lpstr>
      <vt:lpstr>Danh sách liên kết đơn Tổ chức lưu trữ</vt:lpstr>
      <vt:lpstr>Danh sách liên kết đơn Tổ chức lưu trữ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đơn Các thao tác cơ bản</vt:lpstr>
      <vt:lpstr>Danh sách liên kết kép</vt:lpstr>
      <vt:lpstr>Danh sách liên kết kép – Định nghĩa</vt:lpstr>
      <vt:lpstr>Danh sách liên kết kép – Tổ chức lưu trữ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Các thao tác cơ bản</vt:lpstr>
      <vt:lpstr>Danh sách liên kết kép – Đánh giá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&amp; Giải Thuật</dc:title>
  <dc:creator>Trung Phan</dc:creator>
  <cp:lastModifiedBy>Trung Phan</cp:lastModifiedBy>
  <cp:revision>169</cp:revision>
  <dcterms:created xsi:type="dcterms:W3CDTF">2021-03-26T08:09:27Z</dcterms:created>
  <dcterms:modified xsi:type="dcterms:W3CDTF">2024-10-14T04:16:06Z</dcterms:modified>
</cp:coreProperties>
</file>