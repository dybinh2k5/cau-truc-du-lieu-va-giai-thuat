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5"/>
  </p:notesMasterIdLst>
  <p:sldIdLst>
    <p:sldId id="257" r:id="rId2"/>
    <p:sldId id="365" r:id="rId3"/>
    <p:sldId id="427" r:id="rId4"/>
    <p:sldId id="428" r:id="rId5"/>
    <p:sldId id="429" r:id="rId6"/>
    <p:sldId id="430" r:id="rId7"/>
    <p:sldId id="431" r:id="rId8"/>
    <p:sldId id="432" r:id="rId9"/>
    <p:sldId id="433" r:id="rId10"/>
    <p:sldId id="434" r:id="rId11"/>
    <p:sldId id="435" r:id="rId12"/>
    <p:sldId id="436" r:id="rId13"/>
    <p:sldId id="437" r:id="rId14"/>
    <p:sldId id="438" r:id="rId15"/>
    <p:sldId id="439" r:id="rId16"/>
    <p:sldId id="440" r:id="rId17"/>
    <p:sldId id="441" r:id="rId18"/>
    <p:sldId id="442" r:id="rId19"/>
    <p:sldId id="443" r:id="rId20"/>
    <p:sldId id="444" r:id="rId21"/>
    <p:sldId id="445" r:id="rId22"/>
    <p:sldId id="446" r:id="rId23"/>
    <p:sldId id="447" r:id="rId24"/>
    <p:sldId id="448" r:id="rId25"/>
    <p:sldId id="451" r:id="rId26"/>
    <p:sldId id="449" r:id="rId27"/>
    <p:sldId id="453" r:id="rId28"/>
    <p:sldId id="454" r:id="rId29"/>
    <p:sldId id="455" r:id="rId30"/>
    <p:sldId id="456" r:id="rId31"/>
    <p:sldId id="457" r:id="rId32"/>
    <p:sldId id="373" r:id="rId33"/>
    <p:sldId id="458" r:id="rId34"/>
  </p:sldIdLst>
  <p:sldSz cx="12192000"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299" autoAdjust="0"/>
  </p:normalViewPr>
  <p:slideViewPr>
    <p:cSldViewPr snapToGrid="0">
      <p:cViewPr varScale="1">
        <p:scale>
          <a:sx n="66" d="100"/>
          <a:sy n="66" d="100"/>
        </p:scale>
        <p:origin x="125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6DF7F9-CFC5-4D89-8961-C0239DBDFAE0}" type="datetimeFigureOut">
              <a:rPr lang="en-US" smtClean="0"/>
              <a:t>5/29/2021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FFC458-15A8-473E-97CA-B466A563B85A}" type="slidenum">
              <a:rPr lang="en-US" smtClean="0"/>
              <a:t>‹#›</a:t>
            </a:fld>
            <a:endParaRPr lang="en-US"/>
          </a:p>
        </p:txBody>
      </p:sp>
    </p:spTree>
    <p:extLst>
      <p:ext uri="{BB962C8B-B14F-4D97-AF65-F5344CB8AC3E}">
        <p14:creationId xmlns:p14="http://schemas.microsoft.com/office/powerpoint/2010/main" val="2146697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https://codelearn.io/sharing/cac-thuat-toan-sap-xep-trong-cpp</a:t>
            </a:r>
          </a:p>
          <a:p>
            <a:endParaRPr lang="en-US"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Đổi chỗ trực tiếp (Interchange sort)</a:t>
            </a:r>
          </a:p>
          <a:p>
            <a:r>
              <a:rPr lang="vi-VN" sz="1200" b="0" i="0" kern="1200">
                <a:solidFill>
                  <a:schemeClr val="tx1"/>
                </a:solidFill>
                <a:effectLst/>
                <a:latin typeface="+mn-lt"/>
                <a:ea typeface="+mn-ea"/>
                <a:cs typeface="+mn-cs"/>
              </a:rPr>
              <a:t>Nổi bọt (Bubble sort)</a:t>
            </a:r>
          </a:p>
          <a:p>
            <a:r>
              <a:rPr lang="vi-VN" sz="1200" b="0" i="0" kern="1200">
                <a:solidFill>
                  <a:schemeClr val="tx1"/>
                </a:solidFill>
                <a:effectLst/>
                <a:latin typeface="+mn-lt"/>
                <a:ea typeface="+mn-ea"/>
                <a:cs typeface="+mn-cs"/>
              </a:rPr>
              <a:t>Chèn trực tiếp (Insertion sort)</a:t>
            </a:r>
          </a:p>
          <a:p>
            <a:r>
              <a:rPr lang="vi-VN" sz="1200" b="0" i="0" kern="1200">
                <a:solidFill>
                  <a:schemeClr val="tx1"/>
                </a:solidFill>
                <a:effectLst/>
                <a:latin typeface="+mn-lt"/>
                <a:ea typeface="+mn-ea"/>
                <a:cs typeface="+mn-cs"/>
              </a:rPr>
              <a:t>Chọn trực tiếp (Selection sort)</a:t>
            </a:r>
          </a:p>
          <a:p>
            <a:endParaRPr lang="en-US"/>
          </a:p>
        </p:txBody>
      </p:sp>
      <p:sp>
        <p:nvSpPr>
          <p:cNvPr id="4" name="Slide Number Placeholder 3"/>
          <p:cNvSpPr>
            <a:spLocks noGrp="1"/>
          </p:cNvSpPr>
          <p:nvPr>
            <p:ph type="sldNum" sz="quarter" idx="5"/>
          </p:nvPr>
        </p:nvSpPr>
        <p:spPr/>
        <p:txBody>
          <a:bodyPr/>
          <a:lstStyle/>
          <a:p>
            <a:fld id="{1EFFC458-15A8-473E-97CA-B466A563B85A}" type="slidenum">
              <a:rPr lang="en-US" smtClean="0"/>
              <a:t>2</a:t>
            </a:fld>
            <a:endParaRPr lang="en-US"/>
          </a:p>
        </p:txBody>
      </p:sp>
    </p:spTree>
    <p:extLst>
      <p:ext uri="{BB962C8B-B14F-4D97-AF65-F5344CB8AC3E}">
        <p14:creationId xmlns:p14="http://schemas.microsoft.com/office/powerpoint/2010/main" val="3154669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FFC458-15A8-473E-97CA-B466A563B85A}" type="slidenum">
              <a:rPr lang="en-US" smtClean="0"/>
              <a:t>22</a:t>
            </a:fld>
            <a:endParaRPr lang="en-US"/>
          </a:p>
        </p:txBody>
      </p:sp>
    </p:spTree>
    <p:extLst>
      <p:ext uri="{BB962C8B-B14F-4D97-AF65-F5344CB8AC3E}">
        <p14:creationId xmlns:p14="http://schemas.microsoft.com/office/powerpoint/2010/main" val="1845272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Prefix: </a:t>
            </a:r>
            <a:r>
              <a:rPr lang="vi-VN"/>
              <a:t>còn được biết đến với tên gọi “ký pháp Ba Lan” do nhà toán học Ba Lan Jan Łukasiewicz phát minh năm 1920.</a:t>
            </a:r>
            <a:endParaRPr lang="en-US"/>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Posfix: còn</a:t>
            </a:r>
            <a:r>
              <a:rPr lang="vi-VN"/>
              <a:t> được gọi là “ký pháp nghịch đảo Ba Lan” hoặc được viết tắt là RPN (Reverse Polish notation), được phát minh vào khoảng giữa thập kỷ 1950 bởi một triết học gia và nhà khoa học máy tính Charles Hamblin người Úc.</a:t>
            </a:r>
          </a:p>
          <a:p>
            <a:endParaRPr lang="en-US"/>
          </a:p>
        </p:txBody>
      </p:sp>
      <p:sp>
        <p:nvSpPr>
          <p:cNvPr id="4" name="Slide Number Placeholder 3"/>
          <p:cNvSpPr>
            <a:spLocks noGrp="1"/>
          </p:cNvSpPr>
          <p:nvPr>
            <p:ph type="sldNum" sz="quarter" idx="5"/>
          </p:nvPr>
        </p:nvSpPr>
        <p:spPr/>
        <p:txBody>
          <a:bodyPr/>
          <a:lstStyle/>
          <a:p>
            <a:fld id="{1EFFC458-15A8-473E-97CA-B466A563B85A}" type="slidenum">
              <a:rPr lang="en-US" smtClean="0"/>
              <a:t>25</a:t>
            </a:fld>
            <a:endParaRPr lang="en-US"/>
          </a:p>
        </p:txBody>
      </p:sp>
    </p:spTree>
    <p:extLst>
      <p:ext uri="{BB962C8B-B14F-4D97-AF65-F5344CB8AC3E}">
        <p14:creationId xmlns:p14="http://schemas.microsoft.com/office/powerpoint/2010/main" val="3718485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a:solidFill>
                  <a:schemeClr val="tx1"/>
                </a:solidFill>
                <a:effectLst/>
                <a:latin typeface="+mn-lt"/>
                <a:ea typeface="+mn-ea"/>
                <a:cs typeface="+mn-cs"/>
              </a:rPr>
              <a:t>Có hai cách để chuyển một biểu thức từ trung tố sang hai loại còn lại đó là dùng:</a:t>
            </a:r>
          </a:p>
          <a:p>
            <a:pPr fontAlgn="base"/>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Stack</a:t>
            </a:r>
            <a:endParaRPr lang="en-US" sz="1200" b="0" i="0" kern="1200">
              <a:solidFill>
                <a:schemeClr val="tx1"/>
              </a:solidFill>
              <a:effectLst/>
              <a:latin typeface="+mn-lt"/>
              <a:ea typeface="+mn-ea"/>
              <a:cs typeface="+mn-cs"/>
            </a:endParaRPr>
          </a:p>
          <a:p>
            <a:pPr fontAlgn="base"/>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Expression Tree</a:t>
            </a:r>
            <a:r>
              <a:rPr lang="en-US" sz="1200" b="0" i="0" kern="1200">
                <a:solidFill>
                  <a:schemeClr val="tx1"/>
                </a:solidFill>
                <a:effectLst/>
                <a:latin typeface="+mn-lt"/>
                <a:ea typeface="+mn-ea"/>
                <a:cs typeface="+mn-cs"/>
              </a:rPr>
              <a:t> (cây biểu thức)</a:t>
            </a:r>
          </a:p>
          <a:p>
            <a:endParaRPr lang="en-US"/>
          </a:p>
        </p:txBody>
      </p:sp>
      <p:sp>
        <p:nvSpPr>
          <p:cNvPr id="4" name="Slide Number Placeholder 3"/>
          <p:cNvSpPr>
            <a:spLocks noGrp="1"/>
          </p:cNvSpPr>
          <p:nvPr>
            <p:ph type="sldNum" sz="quarter" idx="5"/>
          </p:nvPr>
        </p:nvSpPr>
        <p:spPr/>
        <p:txBody>
          <a:bodyPr/>
          <a:lstStyle/>
          <a:p>
            <a:fld id="{1EFFC458-15A8-473E-97CA-B466A563B85A}" type="slidenum">
              <a:rPr lang="en-US" smtClean="0"/>
              <a:t>26</a:t>
            </a:fld>
            <a:endParaRPr lang="en-US"/>
          </a:p>
        </p:txBody>
      </p:sp>
    </p:spTree>
    <p:extLst>
      <p:ext uri="{BB962C8B-B14F-4D97-AF65-F5344CB8AC3E}">
        <p14:creationId xmlns:p14="http://schemas.microsoft.com/office/powerpoint/2010/main" val="2632082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https://yinyangit.wordpress.com/2011/01/26/algorithm-chuy%E1%BB%83n-bi%E1%BB%83u-th%E1%BB%A9c-trung-t%E1%BB%91-sang-ti%E1%BB%81n-t%E1%BB%91-va-h%E1%BA%ADu-t%E1%BB%91-b%E1%BA%B1ng-stack/</a:t>
            </a:r>
          </a:p>
          <a:p>
            <a:r>
              <a:rPr lang="en-US"/>
              <a:t>https://yinyangit.wordpress.com/2011/01/26/y2-expression-converter-demo/</a:t>
            </a:r>
          </a:p>
          <a:p>
            <a:r>
              <a:rPr lang="en-US"/>
              <a:t>https://onedrive.live.com/?id=464D4934649B6EB2%21105&amp;cid=464D4934649B6EB2</a:t>
            </a:r>
          </a:p>
        </p:txBody>
      </p:sp>
      <p:sp>
        <p:nvSpPr>
          <p:cNvPr id="4" name="Slide Number Placeholder 3"/>
          <p:cNvSpPr>
            <a:spLocks noGrp="1"/>
          </p:cNvSpPr>
          <p:nvPr>
            <p:ph type="sldNum" sz="quarter" idx="5"/>
          </p:nvPr>
        </p:nvSpPr>
        <p:spPr/>
        <p:txBody>
          <a:bodyPr/>
          <a:lstStyle/>
          <a:p>
            <a:fld id="{1EFFC458-15A8-473E-97CA-B466A563B85A}" type="slidenum">
              <a:rPr lang="en-US" smtClean="0"/>
              <a:t>28</a:t>
            </a:fld>
            <a:endParaRPr lang="en-US"/>
          </a:p>
        </p:txBody>
      </p:sp>
    </p:spTree>
    <p:extLst>
      <p:ext uri="{BB962C8B-B14F-4D97-AF65-F5344CB8AC3E}">
        <p14:creationId xmlns:p14="http://schemas.microsoft.com/office/powerpoint/2010/main" val="2023446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FFC458-15A8-473E-97CA-B466A563B85A}" type="slidenum">
              <a:rPr lang="en-US" smtClean="0"/>
              <a:t>32</a:t>
            </a:fld>
            <a:endParaRPr lang="en-US"/>
          </a:p>
        </p:txBody>
      </p:sp>
    </p:spTree>
    <p:extLst>
      <p:ext uri="{BB962C8B-B14F-4D97-AF65-F5344CB8AC3E}">
        <p14:creationId xmlns:p14="http://schemas.microsoft.com/office/powerpoint/2010/main" val="40032772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92892" y="2047102"/>
            <a:ext cx="9594308" cy="1676400"/>
          </a:xfrm>
        </p:spPr>
        <p:txBody>
          <a:bodyPr>
            <a:noAutofit/>
            <a:scene3d>
              <a:camera prst="orthographicFront"/>
              <a:lightRig rig="threePt" dir="t"/>
            </a:scene3d>
            <a:sp3d extrusionH="57150">
              <a:bevelT w="38100" h="38100"/>
            </a:sp3d>
          </a:bodyPr>
          <a:lstStyle>
            <a:lvl1pPr>
              <a:lnSpc>
                <a:spcPct val="80000"/>
              </a:lnSpc>
              <a:defRPr sz="6000" b="0" cap="none" spc="0">
                <a:ln w="0"/>
                <a:solidFill>
                  <a:schemeClr val="accent3">
                    <a:lumMod val="75000"/>
                  </a:schemeClr>
                </a:solidFill>
                <a:effectLst>
                  <a:outerShdw blurRad="38100" dist="25400" dir="5400000" algn="ctr" rotWithShape="0">
                    <a:srgbClr val="6E747A">
                      <a:alpha val="43000"/>
                    </a:srgbClr>
                  </a:outerShdw>
                </a:effectLst>
              </a:defRPr>
            </a:lvl1pPr>
          </a:lstStyle>
          <a:p>
            <a:r>
              <a:rPr lang="en-US"/>
              <a:t>Click to edit Master title style</a:t>
            </a:r>
            <a:endParaRPr/>
          </a:p>
        </p:txBody>
      </p:sp>
      <p:sp>
        <p:nvSpPr>
          <p:cNvPr id="3" name="Subtitle 2"/>
          <p:cNvSpPr>
            <a:spLocks noGrp="1"/>
          </p:cNvSpPr>
          <p:nvPr>
            <p:ph type="subTitle" idx="1"/>
          </p:nvPr>
        </p:nvSpPr>
        <p:spPr>
          <a:xfrm>
            <a:off x="2292892" y="3774301"/>
            <a:ext cx="9594308" cy="886344"/>
          </a:xfrm>
        </p:spPr>
        <p:txBody>
          <a:bodyPr>
            <a:normAutofit/>
            <a:scene3d>
              <a:camera prst="orthographicFront"/>
              <a:lightRig rig="threePt" dir="t"/>
            </a:scene3d>
            <a:sp3d extrusionH="57150">
              <a:bevelT w="38100" h="38100"/>
            </a:sp3d>
          </a:bodyPr>
          <a:lstStyle>
            <a:lvl1pPr marL="0" indent="0" algn="l">
              <a:buNone/>
              <a:defRPr sz="2800">
                <a:solidFill>
                  <a:srgbClr val="002060"/>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Footer Placeholder 4"/>
          <p:cNvSpPr>
            <a:spLocks noGrp="1"/>
          </p:cNvSpPr>
          <p:nvPr>
            <p:ph type="ftr" sz="quarter" idx="11"/>
          </p:nvPr>
        </p:nvSpPr>
        <p:spPr/>
        <p:txBody>
          <a:bodyPr/>
          <a:lstStyle/>
          <a:p>
            <a:r>
              <a:rPr lang="en-US"/>
              <a:t>Cấu Trúc Dữ Liệu &amp; Giải Thuật (Data Structures &amp; Algorithms) - Danh Sách (List)</a:t>
            </a:r>
          </a:p>
        </p:txBody>
      </p:sp>
      <p:sp>
        <p:nvSpPr>
          <p:cNvPr id="4" name="Date Placeholder 3"/>
          <p:cNvSpPr>
            <a:spLocks noGrp="1"/>
          </p:cNvSpPr>
          <p:nvPr>
            <p:ph type="dt" sz="half" idx="10"/>
          </p:nvPr>
        </p:nvSpPr>
        <p:spPr/>
        <p:txBody>
          <a:bodyPr/>
          <a:lstStyle/>
          <a:p>
            <a:fld id="{AA6FD910-7737-43E5-99B2-FB7DEA038DBD}" type="datetime1">
              <a:rPr lang="en-US" smtClean="0"/>
              <a:t>5/29/2021</a:t>
            </a:fld>
            <a:endParaRPr lang="en-US"/>
          </a:p>
        </p:txBody>
      </p:sp>
      <p:sp>
        <p:nvSpPr>
          <p:cNvPr id="6" name="Slide Number Placeholder 5"/>
          <p:cNvSpPr>
            <a:spLocks noGrp="1"/>
          </p:cNvSpPr>
          <p:nvPr>
            <p:ph type="sldNum" sz="quarter" idx="12"/>
          </p:nvPr>
        </p:nvSpPr>
        <p:spPr/>
        <p:txBody>
          <a:bodyPr/>
          <a:lstStyle/>
          <a:p>
            <a:fld id="{21782F98-F548-4E33-958E-D2A6C4BA8EFA}" type="slidenum">
              <a:rPr lang="en-US" smtClean="0"/>
              <a:t>‹#›</a:t>
            </a:fld>
            <a:endParaRPr lang="en-US"/>
          </a:p>
        </p:txBody>
      </p:sp>
      <p:grpSp>
        <p:nvGrpSpPr>
          <p:cNvPr id="12" name="Group 11">
            <a:extLst>
              <a:ext uri="{FF2B5EF4-FFF2-40B4-BE49-F238E27FC236}">
                <a16:creationId xmlns:a16="http://schemas.microsoft.com/office/drawing/2014/main" id="{449B8A27-3EA1-4728-A36E-35B620DF7691}"/>
              </a:ext>
            </a:extLst>
          </p:cNvPr>
          <p:cNvGrpSpPr/>
          <p:nvPr/>
        </p:nvGrpSpPr>
        <p:grpSpPr>
          <a:xfrm>
            <a:off x="9201323" y="1"/>
            <a:ext cx="2990677" cy="977265"/>
            <a:chOff x="3054154" y="4685464"/>
            <a:chExt cx="2989898" cy="977265"/>
          </a:xfrm>
        </p:grpSpPr>
        <p:sp>
          <p:nvSpPr>
            <p:cNvPr id="14" name="Rectangle 13">
              <a:extLst>
                <a:ext uri="{FF2B5EF4-FFF2-40B4-BE49-F238E27FC236}">
                  <a16:creationId xmlns:a16="http://schemas.microsoft.com/office/drawing/2014/main" id="{436329EE-CCCE-4AC0-9DB2-5F80B2AA0D83}"/>
                </a:ext>
              </a:extLst>
            </p:cNvPr>
            <p:cNvSpPr/>
            <p:nvPr/>
          </p:nvSpPr>
          <p:spPr>
            <a:xfrm>
              <a:off x="3331332" y="5066464"/>
              <a:ext cx="2331720" cy="32004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www.hoasen.edu.vn</a:t>
              </a:r>
            </a:p>
          </p:txBody>
        </p:sp>
        <p:sp>
          <p:nvSpPr>
            <p:cNvPr id="15" name="Rectangle 14">
              <a:extLst>
                <a:ext uri="{FF2B5EF4-FFF2-40B4-BE49-F238E27FC236}">
                  <a16:creationId xmlns:a16="http://schemas.microsoft.com/office/drawing/2014/main" id="{BF503A9F-91CA-4940-BAC2-D67FF53B17C5}"/>
                </a:ext>
              </a:extLst>
            </p:cNvPr>
            <p:cNvSpPr/>
            <p:nvPr/>
          </p:nvSpPr>
          <p:spPr>
            <a:xfrm>
              <a:off x="3054154" y="5385551"/>
              <a:ext cx="277178" cy="277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2B67EDA8-6C95-41BD-B178-C180F700E4B2}"/>
                </a:ext>
              </a:extLst>
            </p:cNvPr>
            <p:cNvSpPr/>
            <p:nvPr/>
          </p:nvSpPr>
          <p:spPr>
            <a:xfrm>
              <a:off x="5663052" y="4685464"/>
              <a:ext cx="381000" cy="381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68BF2221-00FE-4DF5-A069-2B837EDC39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950" y="70364"/>
            <a:ext cx="1219199" cy="996436"/>
          </a:xfrm>
          <a:prstGeom prst="rect">
            <a:avLst/>
          </a:prstGeom>
        </p:spPr>
      </p:pic>
      <p:grpSp>
        <p:nvGrpSpPr>
          <p:cNvPr id="18" name="squares">
            <a:extLst>
              <a:ext uri="{FF2B5EF4-FFF2-40B4-BE49-F238E27FC236}">
                <a16:creationId xmlns:a16="http://schemas.microsoft.com/office/drawing/2014/main" id="{1B50D0F4-1489-4253-A226-715457F571D1}"/>
              </a:ext>
            </a:extLst>
          </p:cNvPr>
          <p:cNvGrpSpPr/>
          <p:nvPr/>
        </p:nvGrpSpPr>
        <p:grpSpPr>
          <a:xfrm>
            <a:off x="0" y="2918442"/>
            <a:ext cx="1622755" cy="805061"/>
            <a:chOff x="0" y="2343311"/>
            <a:chExt cx="1217066" cy="603796"/>
          </a:xfrm>
        </p:grpSpPr>
        <p:sp>
          <p:nvSpPr>
            <p:cNvPr id="19" name="Rounded Rectangle 7">
              <a:extLst>
                <a:ext uri="{FF2B5EF4-FFF2-40B4-BE49-F238E27FC236}">
                  <a16:creationId xmlns:a16="http://schemas.microsoft.com/office/drawing/2014/main" id="{EB5961F1-EADE-4873-B490-A198A56659CA}"/>
                </a:ext>
              </a:extLst>
            </p:cNvPr>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0" name="Rounded Rectangle 8">
              <a:extLst>
                <a:ext uri="{FF2B5EF4-FFF2-40B4-BE49-F238E27FC236}">
                  <a16:creationId xmlns:a16="http://schemas.microsoft.com/office/drawing/2014/main" id="{4B052CC2-AE5F-457A-9F64-599115C7860C}"/>
                </a:ext>
              </a:extLst>
            </p:cNvPr>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1" name="Round Same Side Corner Rectangle 9">
              <a:extLst>
                <a:ext uri="{FF2B5EF4-FFF2-40B4-BE49-F238E27FC236}">
                  <a16:creationId xmlns:a16="http://schemas.microsoft.com/office/drawing/2014/main" id="{4E90F40F-56E0-4ADC-A71D-BB8EB1E62E22}"/>
                </a:ext>
              </a:extLst>
            </p:cNvPr>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extLst>
      <p:ext uri="{BB962C8B-B14F-4D97-AF65-F5344CB8AC3E}">
        <p14:creationId xmlns:p14="http://schemas.microsoft.com/office/powerpoint/2010/main" val="383752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1pPr>
              <a:buClr>
                <a:schemeClr val="accent4">
                  <a:lumMod val="50000"/>
                </a:schemeClr>
              </a:buClr>
              <a:defRPr/>
            </a:lvl1pPr>
            <a:lvl2pPr>
              <a:buClr>
                <a:schemeClr val="accent4">
                  <a:lumMod val="50000"/>
                </a:schemeClr>
              </a:buClr>
              <a:defRPr/>
            </a:lvl2pPr>
            <a:lvl3pPr>
              <a:buClr>
                <a:schemeClr val="accent4">
                  <a:lumMod val="50000"/>
                </a:schemeClr>
              </a:buClr>
              <a:defRPr/>
            </a:lvl3pPr>
            <a:lvl4pPr>
              <a:buClr>
                <a:schemeClr val="accent4">
                  <a:lumMod val="50000"/>
                </a:schemeClr>
              </a:buClr>
              <a:defRPr/>
            </a:lvl4pPr>
            <a:lvl5pPr>
              <a:buClr>
                <a:schemeClr val="accent4">
                  <a:lumMod val="50000"/>
                </a:schemeClr>
              </a:buCl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Cấu Trúc Dữ Liệu &amp; Giải Thuật (Data Structures &amp; Algorithms) - Danh Sách (List)</a:t>
            </a:r>
          </a:p>
        </p:txBody>
      </p:sp>
      <p:sp>
        <p:nvSpPr>
          <p:cNvPr id="4" name="Date Placeholder 3"/>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3739056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squares"/>
          <p:cNvGrpSpPr/>
          <p:nvPr/>
        </p:nvGrpSpPr>
        <p:grpSpPr>
          <a:xfrm>
            <a:off x="0" y="3232825"/>
            <a:ext cx="1622755" cy="805061"/>
            <a:chOff x="0" y="2343311"/>
            <a:chExt cx="1217066" cy="603796"/>
          </a:xfrm>
        </p:grpSpPr>
        <p:sp>
          <p:nvSpPr>
            <p:cNvPr id="8" name="Rounded Rectangle 7"/>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ounded Rectangle 8"/>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ound Same Side Corner Rectangle 9"/>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a:xfrm>
            <a:off x="1828801" y="1932519"/>
            <a:ext cx="9144000" cy="2105367"/>
          </a:xfrm>
        </p:spPr>
        <p:txBody>
          <a:bodyPr anchor="b">
            <a:normAutofit/>
          </a:bodyPr>
          <a:lstStyle>
            <a:lvl1pPr algn="l">
              <a:defRPr sz="6000" b="0" cap="none" baseline="0"/>
            </a:lvl1pPr>
          </a:lstStyle>
          <a:p>
            <a:r>
              <a:rPr lang="en-US"/>
              <a:t>Click to edit Master title style</a:t>
            </a:r>
            <a:endParaRPr/>
          </a:p>
        </p:txBody>
      </p:sp>
      <p:sp>
        <p:nvSpPr>
          <p:cNvPr id="3" name="Text Placeholder 2"/>
          <p:cNvSpPr>
            <a:spLocks noGrp="1"/>
          </p:cNvSpPr>
          <p:nvPr>
            <p:ph type="body" idx="1"/>
          </p:nvPr>
        </p:nvSpPr>
        <p:spPr>
          <a:xfrm>
            <a:off x="1828801" y="4084265"/>
            <a:ext cx="9144000" cy="933297"/>
          </a:xfrm>
        </p:spPr>
        <p:txBody>
          <a:bodyPr anchor="t">
            <a:normAutofit/>
          </a:bodyPr>
          <a:lstStyle>
            <a:lvl1pPr marL="0" indent="0">
              <a:buNone/>
              <a:defRPr sz="2800">
                <a:solidFill>
                  <a:schemeClr val="accent1">
                    <a:lumMod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a:t>Cấu Trúc Dữ Liệu &amp; Giải Thuật (Data Structures &amp; Algorithms) - Danh Sách (List)</a:t>
            </a:r>
          </a:p>
        </p:txBody>
      </p:sp>
      <p:sp>
        <p:nvSpPr>
          <p:cNvPr id="4" name="Date Placeholder 3"/>
          <p:cNvSpPr>
            <a:spLocks noGrp="1"/>
          </p:cNvSpPr>
          <p:nvPr>
            <p:ph type="dt" sz="half" idx="10"/>
          </p:nvPr>
        </p:nvSpPr>
        <p:spPr/>
        <p:txBody>
          <a:bodyPr/>
          <a:lstStyle/>
          <a:p>
            <a:fld id="{A177A3EC-2690-4C38-88B4-F3E9EC5CC91B}" type="datetime1">
              <a:rPr lang="en-US" smtClean="0"/>
              <a:t>5/29/2021</a:t>
            </a:fld>
            <a:endParaRPr lang="en-US"/>
          </a:p>
        </p:txBody>
      </p:sp>
      <p:sp>
        <p:nvSpPr>
          <p:cNvPr id="6" name="Slide Number Placeholder 5"/>
          <p:cNvSpPr>
            <a:spLocks noGrp="1"/>
          </p:cNvSpPr>
          <p:nvPr>
            <p:ph type="sldNum" sz="quarter" idx="12"/>
          </p:nvPr>
        </p:nvSpPr>
        <p:spPr/>
        <p:txBody>
          <a:bodyPr/>
          <a:lstStyle/>
          <a:p>
            <a:fld id="{21782F98-F548-4E33-958E-D2A6C4BA8EFA}" type="slidenum">
              <a:rPr lang="en-US" smtClean="0"/>
              <a:t>‹#›</a:t>
            </a:fld>
            <a:endParaRPr lang="en-US"/>
          </a:p>
        </p:txBody>
      </p:sp>
      <p:grpSp>
        <p:nvGrpSpPr>
          <p:cNvPr id="11" name="Group 10">
            <a:extLst>
              <a:ext uri="{FF2B5EF4-FFF2-40B4-BE49-F238E27FC236}">
                <a16:creationId xmlns:a16="http://schemas.microsoft.com/office/drawing/2014/main" id="{D3AEF9CF-A1B6-4C1A-8CE3-C3BB79B039BC}"/>
              </a:ext>
            </a:extLst>
          </p:cNvPr>
          <p:cNvGrpSpPr/>
          <p:nvPr/>
        </p:nvGrpSpPr>
        <p:grpSpPr>
          <a:xfrm>
            <a:off x="9201323" y="1"/>
            <a:ext cx="2990677" cy="977265"/>
            <a:chOff x="3054154" y="4685464"/>
            <a:chExt cx="2989898" cy="977265"/>
          </a:xfrm>
        </p:grpSpPr>
        <p:sp>
          <p:nvSpPr>
            <p:cNvPr id="12" name="Rectangle 11">
              <a:extLst>
                <a:ext uri="{FF2B5EF4-FFF2-40B4-BE49-F238E27FC236}">
                  <a16:creationId xmlns:a16="http://schemas.microsoft.com/office/drawing/2014/main" id="{3129AF9A-BFB1-433D-BABF-9882B69E5FB9}"/>
                </a:ext>
              </a:extLst>
            </p:cNvPr>
            <p:cNvSpPr/>
            <p:nvPr/>
          </p:nvSpPr>
          <p:spPr>
            <a:xfrm>
              <a:off x="3331332" y="5066464"/>
              <a:ext cx="2331720" cy="32004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www.hoasen.edu.vn</a:t>
              </a:r>
            </a:p>
          </p:txBody>
        </p:sp>
        <p:sp>
          <p:nvSpPr>
            <p:cNvPr id="13" name="Rectangle 12">
              <a:extLst>
                <a:ext uri="{FF2B5EF4-FFF2-40B4-BE49-F238E27FC236}">
                  <a16:creationId xmlns:a16="http://schemas.microsoft.com/office/drawing/2014/main" id="{D122B2BC-C260-404D-AAFC-2E015E6C4DA6}"/>
                </a:ext>
              </a:extLst>
            </p:cNvPr>
            <p:cNvSpPr/>
            <p:nvPr/>
          </p:nvSpPr>
          <p:spPr>
            <a:xfrm>
              <a:off x="3054154" y="5385551"/>
              <a:ext cx="277178" cy="277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a:extLst>
                <a:ext uri="{FF2B5EF4-FFF2-40B4-BE49-F238E27FC236}">
                  <a16:creationId xmlns:a16="http://schemas.microsoft.com/office/drawing/2014/main" id="{C979C986-FCE1-4BC9-8ABC-DFCEDBD10D33}"/>
                </a:ext>
              </a:extLst>
            </p:cNvPr>
            <p:cNvSpPr/>
            <p:nvPr/>
          </p:nvSpPr>
          <p:spPr>
            <a:xfrm>
              <a:off x="5663052" y="4685464"/>
              <a:ext cx="381000" cy="381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8E096A75-8096-4EB1-9A83-06C91A2E34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950" y="70364"/>
            <a:ext cx="1219199" cy="996436"/>
          </a:xfrm>
          <a:prstGeom prst="rect">
            <a:avLst/>
          </a:prstGeom>
        </p:spPr>
      </p:pic>
    </p:spTree>
    <p:extLst>
      <p:ext uri="{BB962C8B-B14F-4D97-AF65-F5344CB8AC3E}">
        <p14:creationId xmlns:p14="http://schemas.microsoft.com/office/powerpoint/2010/main" val="414767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41709" y="152400"/>
            <a:ext cx="9753600" cy="1295400"/>
          </a:xfrm>
        </p:spPr>
        <p:txBody>
          <a:bodyPr/>
          <a:lstStyle/>
          <a:p>
            <a:r>
              <a:rPr lang="en-US"/>
              <a:t>Click to edit Master title style</a:t>
            </a:r>
            <a:endParaRPr/>
          </a:p>
        </p:txBody>
      </p:sp>
      <p:sp>
        <p:nvSpPr>
          <p:cNvPr id="3" name="Content Placeholder 2"/>
          <p:cNvSpPr>
            <a:spLocks noGrp="1"/>
          </p:cNvSpPr>
          <p:nvPr>
            <p:ph sz="half" idx="1"/>
          </p:nvPr>
        </p:nvSpPr>
        <p:spPr>
          <a:xfrm>
            <a:off x="1141709" y="1600200"/>
            <a:ext cx="487680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095999" y="1600200"/>
            <a:ext cx="487680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p:cNvSpPr>
            <a:spLocks noGrp="1"/>
          </p:cNvSpPr>
          <p:nvPr>
            <p:ph type="dt" sz="half" idx="10"/>
          </p:nvPr>
        </p:nvSpPr>
        <p:spPr/>
        <p:txBody>
          <a:bodyPr/>
          <a:lstStyle/>
          <a:p>
            <a:fld id="{6C16E1FF-59F9-451A-83CF-B48F88921579}" type="datetime1">
              <a:rPr lang="en-US" smtClean="0"/>
              <a:t>5/29/2021</a:t>
            </a:fld>
            <a:endParaRPr lang="en-US"/>
          </a:p>
        </p:txBody>
      </p:sp>
      <p:sp>
        <p:nvSpPr>
          <p:cNvPr id="7" name="Slide Number Placeholder 6"/>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261930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709" y="152400"/>
            <a:ext cx="9753600" cy="12954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41709" y="1524001"/>
            <a:ext cx="4876800" cy="816429"/>
          </a:xfrm>
        </p:spPr>
        <p:txBody>
          <a:bodyPr anchor="ctr">
            <a:normAutofit/>
          </a:bodyPr>
          <a:lstStyle>
            <a:lvl1pPr marL="0" indent="0">
              <a:buNone/>
              <a:defRPr sz="2800" b="0">
                <a:solidFill>
                  <a:srgbClr val="002060"/>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141709" y="2413001"/>
            <a:ext cx="487680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095999" y="1524001"/>
            <a:ext cx="4876800" cy="816429"/>
          </a:xfrm>
        </p:spPr>
        <p:txBody>
          <a:bodyPr anchor="ctr">
            <a:normAutofit/>
          </a:bodyPr>
          <a:lstStyle>
            <a:lvl1pPr marL="0" indent="0">
              <a:buNone/>
              <a:defRPr sz="2800" b="0">
                <a:solidFill>
                  <a:srgbClr val="002060"/>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095999" y="2413001"/>
            <a:ext cx="487680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Cấu Trúc Dữ Liệu &amp; Giải Thuật (Data Structures &amp; Algorithms) - Danh Sách (List)</a:t>
            </a:r>
          </a:p>
        </p:txBody>
      </p:sp>
      <p:sp>
        <p:nvSpPr>
          <p:cNvPr id="7" name="Date Placeholder 6"/>
          <p:cNvSpPr>
            <a:spLocks noGrp="1"/>
          </p:cNvSpPr>
          <p:nvPr>
            <p:ph type="dt" sz="half" idx="10"/>
          </p:nvPr>
        </p:nvSpPr>
        <p:spPr/>
        <p:txBody>
          <a:bodyPr/>
          <a:lstStyle/>
          <a:p>
            <a:fld id="{F14397B6-FBC4-4D9E-AF4F-0D865AC23AE9}" type="datetime1">
              <a:rPr lang="en-US" smtClean="0"/>
              <a:t>5/29/2021</a:t>
            </a:fld>
            <a:endParaRPr lang="en-US"/>
          </a:p>
        </p:txBody>
      </p:sp>
      <p:sp>
        <p:nvSpPr>
          <p:cNvPr id="9" name="Slide Number Placeholder 8"/>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27642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Cấu Trúc Dữ Liệu &amp; Giải Thuật (Data Structures &amp; Algorithms) - Danh Sách (List)</a:t>
            </a:r>
          </a:p>
        </p:txBody>
      </p:sp>
      <p:sp>
        <p:nvSpPr>
          <p:cNvPr id="3" name="Date Placeholder 2"/>
          <p:cNvSpPr>
            <a:spLocks noGrp="1"/>
          </p:cNvSpPr>
          <p:nvPr>
            <p:ph type="dt" sz="half" idx="10"/>
          </p:nvPr>
        </p:nvSpPr>
        <p:spPr/>
        <p:txBody>
          <a:bodyPr/>
          <a:lstStyle/>
          <a:p>
            <a:fld id="{7F2036C0-FFB5-44D9-9ACC-905E14594FC9}" type="datetime1">
              <a:rPr lang="en-US" smtClean="0"/>
              <a:t>5/29/2021</a:t>
            </a:fld>
            <a:endParaRPr lang="en-US"/>
          </a:p>
        </p:txBody>
      </p:sp>
      <p:sp>
        <p:nvSpPr>
          <p:cNvPr id="5" name="Slide Number Placeholder 4"/>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1410676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Cấu Trúc Dữ Liệu &amp; Giải Thuật (Data Structures &amp; Algorithms) - Danh Sách (List)</a:t>
            </a:r>
          </a:p>
        </p:txBody>
      </p:sp>
      <p:sp>
        <p:nvSpPr>
          <p:cNvPr id="3" name="Date Placeholder 2"/>
          <p:cNvSpPr>
            <a:spLocks noGrp="1"/>
          </p:cNvSpPr>
          <p:nvPr>
            <p:ph type="dt" sz="half" idx="10"/>
          </p:nvPr>
        </p:nvSpPr>
        <p:spPr/>
        <p:txBody>
          <a:bodyPr/>
          <a:lstStyle/>
          <a:p>
            <a:fld id="{5754B792-D838-4369-B9F2-495A8CF0EA61}" type="datetime1">
              <a:rPr lang="en-US" smtClean="0"/>
              <a:t>5/29/2021</a:t>
            </a:fld>
            <a:endParaRPr lang="en-US"/>
          </a:p>
        </p:txBody>
      </p:sp>
      <p:sp>
        <p:nvSpPr>
          <p:cNvPr id="5" name="Slide Number Placeholder 4"/>
          <p:cNvSpPr>
            <a:spLocks noGrp="1"/>
          </p:cNvSpPr>
          <p:nvPr>
            <p:ph type="sldNum" sz="quarter" idx="12"/>
          </p:nvPr>
        </p:nvSpPr>
        <p:spPr/>
        <p:txBody>
          <a:bodyPr/>
          <a:lstStyle/>
          <a:p>
            <a:fld id="{21782F98-F548-4E33-958E-D2A6C4BA8EFA}" type="slidenum">
              <a:rPr lang="en-US" smtClean="0"/>
              <a:t>‹#›</a:t>
            </a:fld>
            <a:endParaRPr lang="en-US"/>
          </a:p>
        </p:txBody>
      </p:sp>
      <p:pic>
        <p:nvPicPr>
          <p:cNvPr id="6" name="Picture 5">
            <a:extLst>
              <a:ext uri="{FF2B5EF4-FFF2-40B4-BE49-F238E27FC236}">
                <a16:creationId xmlns:a16="http://schemas.microsoft.com/office/drawing/2014/main" id="{2F0C1564-F4CB-4080-B340-F91FCF920A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950" y="70365"/>
            <a:ext cx="1068282" cy="882027"/>
          </a:xfrm>
          <a:prstGeom prst="rect">
            <a:avLst/>
          </a:prstGeom>
        </p:spPr>
      </p:pic>
      <p:grpSp>
        <p:nvGrpSpPr>
          <p:cNvPr id="7" name="squares">
            <a:extLst>
              <a:ext uri="{FF2B5EF4-FFF2-40B4-BE49-F238E27FC236}">
                <a16:creationId xmlns:a16="http://schemas.microsoft.com/office/drawing/2014/main" id="{47DEEE63-A1BC-4A43-A4AD-76951E5D7313}"/>
              </a:ext>
            </a:extLst>
          </p:cNvPr>
          <p:cNvGrpSpPr/>
          <p:nvPr userDrawn="1"/>
        </p:nvGrpSpPr>
        <p:grpSpPr>
          <a:xfrm>
            <a:off x="1523" y="5639016"/>
            <a:ext cx="1141709" cy="533185"/>
            <a:chOff x="0" y="2343311"/>
            <a:chExt cx="1217066" cy="603796"/>
          </a:xfrm>
        </p:grpSpPr>
        <p:sp>
          <p:nvSpPr>
            <p:cNvPr id="8" name="Rounded Rectangle 7">
              <a:extLst>
                <a:ext uri="{FF2B5EF4-FFF2-40B4-BE49-F238E27FC236}">
                  <a16:creationId xmlns:a16="http://schemas.microsoft.com/office/drawing/2014/main" id="{A77A6632-F6E5-43A1-84B0-4AE988F94BFC}"/>
                </a:ext>
              </a:extLst>
            </p:cNvPr>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ounded Rectangle 8">
              <a:extLst>
                <a:ext uri="{FF2B5EF4-FFF2-40B4-BE49-F238E27FC236}">
                  <a16:creationId xmlns:a16="http://schemas.microsoft.com/office/drawing/2014/main" id="{8425D3A9-E201-49FC-8A02-A00F4FAA158A}"/>
                </a:ext>
              </a:extLst>
            </p:cNvPr>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ound Same Side Corner Rectangle 9">
              <a:extLst>
                <a:ext uri="{FF2B5EF4-FFF2-40B4-BE49-F238E27FC236}">
                  <a16:creationId xmlns:a16="http://schemas.microsoft.com/office/drawing/2014/main" id="{476A3E42-3880-4E46-9109-3363DDD8FF50}"/>
                </a:ext>
              </a:extLst>
            </p:cNvPr>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cxnSp>
        <p:nvCxnSpPr>
          <p:cNvPr id="11" name="Straight Connector 10">
            <a:extLst>
              <a:ext uri="{FF2B5EF4-FFF2-40B4-BE49-F238E27FC236}">
                <a16:creationId xmlns:a16="http://schemas.microsoft.com/office/drawing/2014/main" id="{C5AA3E34-53C5-4668-AF9A-A0EA9AF4B2C4}"/>
              </a:ext>
            </a:extLst>
          </p:cNvPr>
          <p:cNvCxnSpPr/>
          <p:nvPr userDrawn="1"/>
        </p:nvCxnSpPr>
        <p:spPr>
          <a:xfrm>
            <a:off x="1219200" y="1447800"/>
            <a:ext cx="10680243" cy="0"/>
          </a:xfrm>
          <a:prstGeom prst="line">
            <a:avLst/>
          </a:prstGeom>
          <a:ln w="19050">
            <a:solidFill>
              <a:srgbClr val="0000A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36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2" name="squares">
            <a:extLst>
              <a:ext uri="{FF2B5EF4-FFF2-40B4-BE49-F238E27FC236}">
                <a16:creationId xmlns:a16="http://schemas.microsoft.com/office/drawing/2014/main" id="{C57A4AB8-5D15-44AC-8A80-ED2E069BBD22}"/>
              </a:ext>
            </a:extLst>
          </p:cNvPr>
          <p:cNvGrpSpPr/>
          <p:nvPr/>
        </p:nvGrpSpPr>
        <p:grpSpPr>
          <a:xfrm>
            <a:off x="0" y="2918442"/>
            <a:ext cx="1622755" cy="805061"/>
            <a:chOff x="0" y="2343311"/>
            <a:chExt cx="1217066" cy="603796"/>
          </a:xfrm>
        </p:grpSpPr>
        <p:sp>
          <p:nvSpPr>
            <p:cNvPr id="3" name="Rounded Rectangle 7">
              <a:extLst>
                <a:ext uri="{FF2B5EF4-FFF2-40B4-BE49-F238E27FC236}">
                  <a16:creationId xmlns:a16="http://schemas.microsoft.com/office/drawing/2014/main" id="{478D5619-DEF4-4F6F-BC11-78D556BE6DF3}"/>
                </a:ext>
              </a:extLst>
            </p:cNvPr>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4" name="Rounded Rectangle 8">
              <a:extLst>
                <a:ext uri="{FF2B5EF4-FFF2-40B4-BE49-F238E27FC236}">
                  <a16:creationId xmlns:a16="http://schemas.microsoft.com/office/drawing/2014/main" id="{27B79603-57DF-4000-ACF1-94A257895CD9}"/>
                </a:ext>
              </a:extLst>
            </p:cNvPr>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5" name="Round Same Side Corner Rectangle 9">
              <a:extLst>
                <a:ext uri="{FF2B5EF4-FFF2-40B4-BE49-F238E27FC236}">
                  <a16:creationId xmlns:a16="http://schemas.microsoft.com/office/drawing/2014/main" id="{29F8B2DB-73B5-4BE9-9E44-64A2507214C4}"/>
                </a:ext>
              </a:extLst>
            </p:cNvPr>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extLst>
      <p:ext uri="{BB962C8B-B14F-4D97-AF65-F5344CB8AC3E}">
        <p14:creationId xmlns:p14="http://schemas.microsoft.com/office/powerpoint/2010/main" val="176644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3" name="Content Placeholder 2"/>
          <p:cNvSpPr>
            <a:spLocks noGrp="1"/>
          </p:cNvSpPr>
          <p:nvPr>
            <p:ph idx="1"/>
          </p:nvPr>
        </p:nvSpPr>
        <p:spPr>
          <a:xfrm>
            <a:off x="4876800" y="1600200"/>
            <a:ext cx="6096001"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219200" y="1600202"/>
            <a:ext cx="3454400" cy="4571999"/>
          </a:xfrm>
        </p:spPr>
        <p:txBody>
          <a:bodyPr>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p:cNvSpPr>
            <a:spLocks noGrp="1"/>
          </p:cNvSpPr>
          <p:nvPr>
            <p:ph type="dt" sz="half" idx="10"/>
          </p:nvPr>
        </p:nvSpPr>
        <p:spPr/>
        <p:txBody>
          <a:bodyPr/>
          <a:lstStyle/>
          <a:p>
            <a:fld id="{47770381-83AB-4CF5-9840-4C119F8903DB}" type="datetime1">
              <a:rPr lang="en-US" smtClean="0"/>
              <a:t>5/29/2021</a:t>
            </a:fld>
            <a:endParaRPr lang="en-US"/>
          </a:p>
        </p:txBody>
      </p:sp>
      <p:sp>
        <p:nvSpPr>
          <p:cNvPr id="7" name="Slide Number Placeholder 6"/>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29212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219205" y="1600200"/>
            <a:ext cx="6705596" cy="3657600"/>
          </a:xfrm>
          <a:prstGeom prst="roundRect">
            <a:avLst>
              <a:gd name="adj" fmla="val 3098"/>
            </a:avLst>
          </a:prstGeom>
        </p:spPr>
        <p:txBody>
          <a:bodyPr>
            <a:normAutofit/>
          </a:bodyPr>
          <a:lstStyle>
            <a:lvl1pPr marL="0" indent="0">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8128000" y="1600200"/>
            <a:ext cx="2844800" cy="3759200"/>
          </a:xfrm>
        </p:spPr>
        <p:txBody>
          <a:bodyPr anchor="b">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p:cNvSpPr>
            <a:spLocks noGrp="1"/>
          </p:cNvSpPr>
          <p:nvPr>
            <p:ph type="dt" sz="half" idx="10"/>
          </p:nvPr>
        </p:nvSpPr>
        <p:spPr/>
        <p:txBody>
          <a:bodyPr/>
          <a:lstStyle/>
          <a:p>
            <a:fld id="{570CD47F-2240-4132-9D4E-FAB15377784D}" type="datetime1">
              <a:rPr lang="en-US" smtClean="0"/>
              <a:t>5/29/2021</a:t>
            </a:fld>
            <a:endParaRPr lang="en-US"/>
          </a:p>
        </p:txBody>
      </p:sp>
      <p:sp>
        <p:nvSpPr>
          <p:cNvPr id="7" name="Slide Number Placeholder 6"/>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1015296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Cấu Trúc Dữ Liệu &amp; Giải Thuật (Data Structures &amp; Algorithms) - Danh Sách (List)</a:t>
            </a:r>
          </a:p>
        </p:txBody>
      </p:sp>
      <p:sp>
        <p:nvSpPr>
          <p:cNvPr id="4" name="Date Placeholder 3"/>
          <p:cNvSpPr>
            <a:spLocks noGrp="1"/>
          </p:cNvSpPr>
          <p:nvPr>
            <p:ph type="dt" sz="half" idx="10"/>
          </p:nvPr>
        </p:nvSpPr>
        <p:spPr/>
        <p:txBody>
          <a:bodyPr/>
          <a:lstStyle/>
          <a:p>
            <a:fld id="{F1C60987-BA89-4E01-8248-6052E12937D5}" type="datetime1">
              <a:rPr lang="en-US" smtClean="0"/>
              <a:t>5/29/2021</a:t>
            </a:fld>
            <a:endParaRPr lang="en-US"/>
          </a:p>
        </p:txBody>
      </p:sp>
      <p:sp>
        <p:nvSpPr>
          <p:cNvPr id="6" name="Slide Number Placeholder 5"/>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827208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squares"/>
          <p:cNvGrpSpPr/>
          <p:nvPr/>
        </p:nvGrpSpPr>
        <p:grpSpPr>
          <a:xfrm rot="5400000">
            <a:off x="9585642" y="233796"/>
            <a:ext cx="1063300" cy="524183"/>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grpSp>
        <p:nvGrpSpPr>
          <p:cNvPr id="15" name="bottom graphic"/>
          <p:cNvGrpSpPr/>
          <p:nvPr/>
        </p:nvGrpSpPr>
        <p:grpSpPr>
          <a:xfrm>
            <a:off x="1" y="5395518"/>
            <a:ext cx="12192000" cy="1462483"/>
            <a:chOff x="0" y="4046638"/>
            <a:chExt cx="9144000" cy="1096862"/>
          </a:xfrm>
        </p:grpSpPr>
        <p:sp>
          <p:nvSpPr>
            <p:cNvPr id="16" name="Freeform 15"/>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7" name="Rectangle 72"/>
            <p:cNvSpPr/>
            <p:nvPr/>
          </p:nvSpPr>
          <p:spPr bwMode="ltGray">
            <a:xfrm rot="5400000">
              <a:off x="4023569" y="23069"/>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sz="1800"/>
            </a:p>
          </p:txBody>
        </p:sp>
      </p:grpSp>
      <p:sp>
        <p:nvSpPr>
          <p:cNvPr id="2" name="Vertical Title 1"/>
          <p:cNvSpPr>
            <a:spLocks noGrp="1"/>
          </p:cNvSpPr>
          <p:nvPr>
            <p:ph type="title" orient="vert"/>
          </p:nvPr>
        </p:nvSpPr>
        <p:spPr>
          <a:xfrm>
            <a:off x="9753600" y="1150515"/>
            <a:ext cx="1828800" cy="5021685"/>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9200" y="1150515"/>
            <a:ext cx="8229600" cy="5021685"/>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Cấu Trúc Dữ Liệu &amp; Giải Thuật (Data Structures &amp; Algorithms) - Danh Sách (List)</a:t>
            </a:r>
          </a:p>
        </p:txBody>
      </p:sp>
      <p:sp>
        <p:nvSpPr>
          <p:cNvPr id="4" name="Date Placeholder 3"/>
          <p:cNvSpPr>
            <a:spLocks noGrp="1"/>
          </p:cNvSpPr>
          <p:nvPr>
            <p:ph type="dt" sz="half" idx="10"/>
          </p:nvPr>
        </p:nvSpPr>
        <p:spPr/>
        <p:txBody>
          <a:bodyPr/>
          <a:lstStyle/>
          <a:p>
            <a:fld id="{BBDCAB2B-F6C8-4C08-8821-DAFA6ACB6A6A}" type="datetime1">
              <a:rPr lang="en-US" smtClean="0"/>
              <a:t>5/29/2021</a:t>
            </a:fld>
            <a:endParaRPr lang="en-US"/>
          </a:p>
        </p:txBody>
      </p:sp>
      <p:sp>
        <p:nvSpPr>
          <p:cNvPr id="6" name="Slide Number Placeholder 5"/>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1608020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977AEAD2-D5F9-4E1D-B0A6-604BACEE5E4E}"/>
              </a:ext>
            </a:extLst>
          </p:cNvPr>
          <p:cNvGrpSpPr/>
          <p:nvPr/>
        </p:nvGrpSpPr>
        <p:grpSpPr>
          <a:xfrm>
            <a:off x="9201323" y="1"/>
            <a:ext cx="2990677" cy="977265"/>
            <a:chOff x="3054154" y="4685464"/>
            <a:chExt cx="2989898" cy="977265"/>
          </a:xfrm>
        </p:grpSpPr>
        <p:sp>
          <p:nvSpPr>
            <p:cNvPr id="16" name="Rectangle 15">
              <a:extLst>
                <a:ext uri="{FF2B5EF4-FFF2-40B4-BE49-F238E27FC236}">
                  <a16:creationId xmlns:a16="http://schemas.microsoft.com/office/drawing/2014/main" id="{D213D99B-2104-4A9F-BDE3-982717982595}"/>
                </a:ext>
              </a:extLst>
            </p:cNvPr>
            <p:cNvSpPr/>
            <p:nvPr/>
          </p:nvSpPr>
          <p:spPr>
            <a:xfrm>
              <a:off x="3331332" y="5066464"/>
              <a:ext cx="2331720" cy="32004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www.hoasen.edu.vn</a:t>
              </a:r>
            </a:p>
          </p:txBody>
        </p:sp>
        <p:sp>
          <p:nvSpPr>
            <p:cNvPr id="21" name="Rectangle 20">
              <a:extLst>
                <a:ext uri="{FF2B5EF4-FFF2-40B4-BE49-F238E27FC236}">
                  <a16:creationId xmlns:a16="http://schemas.microsoft.com/office/drawing/2014/main" id="{A12289B9-AF49-4D19-8E64-44D48F3EDA25}"/>
                </a:ext>
              </a:extLst>
            </p:cNvPr>
            <p:cNvSpPr/>
            <p:nvPr/>
          </p:nvSpPr>
          <p:spPr>
            <a:xfrm>
              <a:off x="3054154" y="5385551"/>
              <a:ext cx="277178" cy="277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a:extLst>
                <a:ext uri="{FF2B5EF4-FFF2-40B4-BE49-F238E27FC236}">
                  <a16:creationId xmlns:a16="http://schemas.microsoft.com/office/drawing/2014/main" id="{80CC91CA-C7FB-4A6F-9352-75B89CB56F9D}"/>
                </a:ext>
              </a:extLst>
            </p:cNvPr>
            <p:cNvSpPr/>
            <p:nvPr/>
          </p:nvSpPr>
          <p:spPr>
            <a:xfrm>
              <a:off x="5663052" y="4685464"/>
              <a:ext cx="381000" cy="381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8A093B63-C705-43D6-A50C-B1CD2E6E94E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4950" y="70365"/>
            <a:ext cx="1068282" cy="882027"/>
          </a:xfrm>
          <a:prstGeom prst="rect">
            <a:avLst/>
          </a:prstGeom>
        </p:spPr>
      </p:pic>
      <p:sp>
        <p:nvSpPr>
          <p:cNvPr id="2" name="Title Placeholder 1"/>
          <p:cNvSpPr>
            <a:spLocks noGrp="1"/>
          </p:cNvSpPr>
          <p:nvPr>
            <p:ph type="title"/>
          </p:nvPr>
        </p:nvSpPr>
        <p:spPr>
          <a:xfrm>
            <a:off x="1219201" y="152400"/>
            <a:ext cx="10680242" cy="1295400"/>
          </a:xfrm>
          <a:prstGeom prst="rect">
            <a:avLst/>
          </a:prstGeom>
        </p:spPr>
        <p:txBody>
          <a:bodyPr vert="horz" lIns="121899" tIns="60949" rIns="121899" bIns="60949" rtlCol="0" anchor="b">
            <a:normAutofit/>
            <a:scene3d>
              <a:camera prst="orthographicFront"/>
              <a:lightRig rig="threePt" dir="t"/>
            </a:scene3d>
            <a:sp3d extrusionH="57150">
              <a:bevelT w="38100" h="38100"/>
            </a:sp3d>
          </a:bodyPr>
          <a:lstStyle/>
          <a:p>
            <a:r>
              <a:rPr lang="en-US"/>
              <a:t>Click to edit Master title style</a:t>
            </a:r>
            <a:endParaRPr/>
          </a:p>
        </p:txBody>
      </p:sp>
      <p:sp>
        <p:nvSpPr>
          <p:cNvPr id="3" name="Text Placeholder 2"/>
          <p:cNvSpPr>
            <a:spLocks noGrp="1"/>
          </p:cNvSpPr>
          <p:nvPr>
            <p:ph type="body" idx="1"/>
          </p:nvPr>
        </p:nvSpPr>
        <p:spPr>
          <a:xfrm>
            <a:off x="1219200" y="1600200"/>
            <a:ext cx="10667999" cy="45720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219201" y="6448425"/>
            <a:ext cx="8290560" cy="180976"/>
          </a:xfrm>
          <a:prstGeom prst="rect">
            <a:avLst/>
          </a:prstGeom>
        </p:spPr>
        <p:txBody>
          <a:bodyPr vert="horz" lIns="121899" tIns="60949" rIns="121899" bIns="60949" rtlCol="0" anchor="ctr"/>
          <a:lstStyle>
            <a:lvl1pPr algn="l">
              <a:defRPr sz="1200">
                <a:solidFill>
                  <a:srgbClr val="002060"/>
                </a:solidFill>
              </a:defRPr>
            </a:lvl1pPr>
          </a:lstStyle>
          <a:p>
            <a:r>
              <a:rPr lang="en-US"/>
              <a:t>Cấu Trúc Dữ Liệu &amp; Giải Thuật (Data Structures &amp; Algorithms) - Danh Sách (List)</a:t>
            </a:r>
          </a:p>
        </p:txBody>
      </p:sp>
      <p:sp>
        <p:nvSpPr>
          <p:cNvPr id="4" name="Date Placeholder 3"/>
          <p:cNvSpPr>
            <a:spLocks noGrp="1"/>
          </p:cNvSpPr>
          <p:nvPr>
            <p:ph type="dt" sz="half" idx="2"/>
          </p:nvPr>
        </p:nvSpPr>
        <p:spPr>
          <a:xfrm>
            <a:off x="9550400" y="6448425"/>
            <a:ext cx="1422400" cy="180976"/>
          </a:xfrm>
          <a:prstGeom prst="rect">
            <a:avLst/>
          </a:prstGeom>
        </p:spPr>
        <p:txBody>
          <a:bodyPr vert="horz" lIns="121899" tIns="60949" rIns="121899" bIns="60949" rtlCol="0" anchor="ctr"/>
          <a:lstStyle>
            <a:lvl1pPr algn="r">
              <a:defRPr sz="1200">
                <a:solidFill>
                  <a:srgbClr val="002060"/>
                </a:solidFill>
              </a:defRPr>
            </a:lvl1pPr>
          </a:lstStyle>
          <a:p>
            <a:fld id="{CFF8CB06-66B7-4C11-9D59-46A7CC05D9E0}" type="datetime1">
              <a:rPr lang="en-US" smtClean="0"/>
              <a:t>5/29/2021</a:t>
            </a:fld>
            <a:endParaRPr lang="en-US"/>
          </a:p>
        </p:txBody>
      </p:sp>
      <p:sp>
        <p:nvSpPr>
          <p:cNvPr id="6" name="Slide Number Placeholder 5"/>
          <p:cNvSpPr>
            <a:spLocks noGrp="1"/>
          </p:cNvSpPr>
          <p:nvPr>
            <p:ph type="sldNum" sz="quarter" idx="4"/>
          </p:nvPr>
        </p:nvSpPr>
        <p:spPr>
          <a:xfrm>
            <a:off x="11074400" y="6448425"/>
            <a:ext cx="812800" cy="180976"/>
          </a:xfrm>
          <a:prstGeom prst="rect">
            <a:avLst/>
          </a:prstGeom>
        </p:spPr>
        <p:txBody>
          <a:bodyPr vert="horz" lIns="121899" tIns="60949" rIns="121899" bIns="60949" rtlCol="0" anchor="ctr"/>
          <a:lstStyle>
            <a:lvl1pPr algn="r">
              <a:defRPr sz="1200">
                <a:solidFill>
                  <a:srgbClr val="002060"/>
                </a:solidFill>
              </a:defRPr>
            </a:lvl1pPr>
          </a:lstStyle>
          <a:p>
            <a:fld id="{21782F98-F548-4E33-958E-D2A6C4BA8EFA}" type="slidenum">
              <a:rPr lang="en-US" smtClean="0"/>
              <a:t>‹#›</a:t>
            </a:fld>
            <a:endParaRPr lang="en-US"/>
          </a:p>
        </p:txBody>
      </p:sp>
      <p:grpSp>
        <p:nvGrpSpPr>
          <p:cNvPr id="24" name="squares">
            <a:extLst>
              <a:ext uri="{FF2B5EF4-FFF2-40B4-BE49-F238E27FC236}">
                <a16:creationId xmlns:a16="http://schemas.microsoft.com/office/drawing/2014/main" id="{D12F9285-888D-4066-97B6-C5AFB2FF7829}"/>
              </a:ext>
            </a:extLst>
          </p:cNvPr>
          <p:cNvGrpSpPr/>
          <p:nvPr/>
        </p:nvGrpSpPr>
        <p:grpSpPr>
          <a:xfrm>
            <a:off x="1523" y="5639016"/>
            <a:ext cx="1141709" cy="533185"/>
            <a:chOff x="0" y="2343311"/>
            <a:chExt cx="1217066" cy="603796"/>
          </a:xfrm>
        </p:grpSpPr>
        <p:sp>
          <p:nvSpPr>
            <p:cNvPr id="25" name="Rounded Rectangle 7">
              <a:extLst>
                <a:ext uri="{FF2B5EF4-FFF2-40B4-BE49-F238E27FC236}">
                  <a16:creationId xmlns:a16="http://schemas.microsoft.com/office/drawing/2014/main" id="{0C599B0C-42A9-4F5A-A15F-B95B1EF9248D}"/>
                </a:ext>
              </a:extLst>
            </p:cNvPr>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6" name="Rounded Rectangle 8">
              <a:extLst>
                <a:ext uri="{FF2B5EF4-FFF2-40B4-BE49-F238E27FC236}">
                  <a16:creationId xmlns:a16="http://schemas.microsoft.com/office/drawing/2014/main" id="{E527A34F-7FEF-4267-86B1-646FD0EC10D2}"/>
                </a:ext>
              </a:extLst>
            </p:cNvPr>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7" name="Round Same Side Corner Rectangle 9">
              <a:extLst>
                <a:ext uri="{FF2B5EF4-FFF2-40B4-BE49-F238E27FC236}">
                  <a16:creationId xmlns:a16="http://schemas.microsoft.com/office/drawing/2014/main" id="{A279244A-E685-4D66-95DE-1CF0D73BE881}"/>
                </a:ext>
              </a:extLst>
            </p:cNvPr>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cxnSp>
        <p:nvCxnSpPr>
          <p:cNvPr id="29" name="Straight Connector 28">
            <a:extLst>
              <a:ext uri="{FF2B5EF4-FFF2-40B4-BE49-F238E27FC236}">
                <a16:creationId xmlns:a16="http://schemas.microsoft.com/office/drawing/2014/main" id="{EDE68FC5-648F-42FD-B3A1-4A4175E6CA61}"/>
              </a:ext>
            </a:extLst>
          </p:cNvPr>
          <p:cNvCxnSpPr/>
          <p:nvPr/>
        </p:nvCxnSpPr>
        <p:spPr>
          <a:xfrm>
            <a:off x="1219200" y="1447800"/>
            <a:ext cx="10680243" cy="0"/>
          </a:xfrm>
          <a:prstGeom prst="line">
            <a:avLst/>
          </a:prstGeom>
          <a:ln w="19050">
            <a:solidFill>
              <a:srgbClr val="0000A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3255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72" r:id="rId7"/>
    <p:sldLayoutId id="2147483667" r:id="rId8"/>
    <p:sldLayoutId id="2147483668" r:id="rId9"/>
    <p:sldLayoutId id="2147483669" r:id="rId10"/>
    <p:sldLayoutId id="2147483670" r:id="rId11"/>
    <p:sldLayoutId id="21474836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1218987" rtl="0" eaLnBrk="1" latinLnBrk="0" hangingPunct="1">
        <a:spcBef>
          <a:spcPct val="0"/>
        </a:spcBef>
        <a:buNone/>
        <a:defRPr sz="3600" kern="1200">
          <a:solidFill>
            <a:schemeClr val="accent3">
              <a:lumMod val="75000"/>
            </a:schemeClr>
          </a:solidFill>
          <a:latin typeface="Verdana" panose="020B0604030504040204" pitchFamily="34" charset="0"/>
          <a:ea typeface="Verdana" panose="020B0604030504040204" pitchFamily="34" charset="0"/>
          <a:cs typeface="+mj-cs"/>
        </a:defRPr>
      </a:lvl1pPr>
    </p:titleStyle>
    <p:bodyStyle>
      <a:lvl1pPr marL="304747" indent="-304747" algn="just" defTabSz="1218987" rtl="0" eaLnBrk="1" latinLnBrk="0" hangingPunct="1">
        <a:lnSpc>
          <a:spcPct val="110000"/>
        </a:lnSpc>
        <a:spcBef>
          <a:spcPts val="1800"/>
        </a:spcBef>
        <a:buClr>
          <a:schemeClr val="accent4">
            <a:lumMod val="50000"/>
          </a:schemeClr>
        </a:buClr>
        <a:buFont typeface="Wingdings" panose="05000000000000000000" pitchFamily="2" charset="2"/>
        <a:buChar char="§"/>
        <a:defRPr sz="2400" kern="1200">
          <a:solidFill>
            <a:srgbClr val="002060"/>
          </a:solidFill>
          <a:latin typeface="Verdana" panose="020B0604030504040204" pitchFamily="34" charset="0"/>
          <a:ea typeface="Verdana" panose="020B0604030504040204" pitchFamily="34" charset="0"/>
          <a:cs typeface="+mn-cs"/>
        </a:defRPr>
      </a:lvl1pPr>
      <a:lvl2pPr marL="755772" indent="-304747" algn="just" defTabSz="1218987" rtl="0" eaLnBrk="1" latinLnBrk="0" hangingPunct="1">
        <a:lnSpc>
          <a:spcPct val="110000"/>
        </a:lnSpc>
        <a:spcBef>
          <a:spcPts val="1200"/>
        </a:spcBef>
        <a:buClr>
          <a:schemeClr val="accent4">
            <a:lumMod val="50000"/>
          </a:schemeClr>
        </a:buClr>
        <a:buFont typeface="Arial" panose="020B0604020202020204" pitchFamily="34" charset="0"/>
        <a:buChar char="•"/>
        <a:defRPr sz="2000" kern="1200">
          <a:solidFill>
            <a:srgbClr val="002060"/>
          </a:solidFill>
          <a:latin typeface="Verdana" panose="020B0604030504040204" pitchFamily="34" charset="0"/>
          <a:ea typeface="Verdana" panose="020B0604030504040204" pitchFamily="34" charset="0"/>
          <a:cs typeface="+mn-cs"/>
        </a:defRPr>
      </a:lvl2pPr>
      <a:lvl3pPr marL="1206797" indent="-304747" algn="just" defTabSz="1218987" rtl="0" eaLnBrk="1" latinLnBrk="0" hangingPunct="1">
        <a:lnSpc>
          <a:spcPct val="110000"/>
        </a:lnSpc>
        <a:spcBef>
          <a:spcPts val="800"/>
        </a:spcBef>
        <a:buClr>
          <a:schemeClr val="accent4">
            <a:lumMod val="50000"/>
          </a:schemeClr>
        </a:buClr>
        <a:buFont typeface="Verdana" panose="020B0604030504040204" pitchFamily="34" charset="0"/>
        <a:buChar char="−"/>
        <a:defRPr sz="1800" kern="1200">
          <a:solidFill>
            <a:srgbClr val="002060"/>
          </a:solidFill>
          <a:latin typeface="Verdana" panose="020B0604030504040204" pitchFamily="34" charset="0"/>
          <a:ea typeface="Verdana" panose="020B0604030504040204" pitchFamily="34" charset="0"/>
          <a:cs typeface="+mn-cs"/>
        </a:defRPr>
      </a:lvl3pPr>
      <a:lvl4pPr marL="1657822" indent="-304747" algn="just" defTabSz="1218987" rtl="0" eaLnBrk="1" latinLnBrk="0" hangingPunct="1">
        <a:lnSpc>
          <a:spcPct val="110000"/>
        </a:lnSpc>
        <a:spcBef>
          <a:spcPts val="800"/>
        </a:spcBef>
        <a:buClr>
          <a:schemeClr val="accent4">
            <a:lumMod val="50000"/>
          </a:schemeClr>
        </a:buClr>
        <a:buFont typeface="Arial" pitchFamily="34" charset="0"/>
        <a:buChar char="•"/>
        <a:defRPr sz="1800" kern="1200">
          <a:solidFill>
            <a:srgbClr val="002060"/>
          </a:solidFill>
          <a:latin typeface="Verdana" panose="020B0604030504040204" pitchFamily="34" charset="0"/>
          <a:ea typeface="Verdana" panose="020B0604030504040204" pitchFamily="34" charset="0"/>
          <a:cs typeface="+mn-cs"/>
        </a:defRPr>
      </a:lvl4pPr>
      <a:lvl5pPr marL="2108847" indent="-304747" algn="just" defTabSz="1218987" rtl="0" eaLnBrk="1" latinLnBrk="0" hangingPunct="1">
        <a:lnSpc>
          <a:spcPct val="110000"/>
        </a:lnSpc>
        <a:spcBef>
          <a:spcPts val="800"/>
        </a:spcBef>
        <a:buClr>
          <a:schemeClr val="accent4">
            <a:lumMod val="50000"/>
          </a:schemeClr>
        </a:buClr>
        <a:buFont typeface="Arial" pitchFamily="34" charset="0"/>
        <a:buChar char="•"/>
        <a:defRPr sz="1800" kern="1200">
          <a:solidFill>
            <a:srgbClr val="002060"/>
          </a:solidFill>
          <a:latin typeface="Verdana" panose="020B0604030504040204" pitchFamily="34" charset="0"/>
          <a:ea typeface="Verdana" panose="020B0604030504040204" pitchFamily="34" charset="0"/>
          <a:cs typeface="+mn-cs"/>
        </a:defRPr>
      </a:lvl5pPr>
      <a:lvl6pPr marL="255987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6pPr>
      <a:lvl7pPr marL="301089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7pPr>
      <a:lvl8pPr marL="346192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8pPr>
      <a:lvl9pPr marL="391294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1" y="1905000"/>
            <a:ext cx="10666492" cy="2209800"/>
          </a:xfrm>
        </p:spPr>
        <p:txBody>
          <a:bodyPr/>
          <a:lstStyle/>
          <a:p>
            <a:pPr algn="r"/>
            <a:br>
              <a:rPr lang="en-US" sz="7200">
                <a:solidFill>
                  <a:schemeClr val="accent4"/>
                </a:solidFill>
              </a:rPr>
            </a:br>
            <a:r>
              <a:rPr lang="en-US" sz="7200">
                <a:solidFill>
                  <a:schemeClr val="accent4"/>
                </a:solidFill>
              </a:rPr>
              <a:t>Cấu Trúc Dữ Liệu</a:t>
            </a:r>
            <a:br>
              <a:rPr lang="en-US" sz="7200">
                <a:solidFill>
                  <a:schemeClr val="accent4"/>
                </a:solidFill>
              </a:rPr>
            </a:br>
            <a:r>
              <a:rPr lang="en-US" sz="7200">
                <a:solidFill>
                  <a:schemeClr val="accent4"/>
                </a:solidFill>
              </a:rPr>
              <a:t>&amp; Giải Thuật</a:t>
            </a:r>
            <a:endParaRPr lang="en-US" sz="13800">
              <a:solidFill>
                <a:schemeClr val="accent4"/>
              </a:solidFill>
            </a:endParaRPr>
          </a:p>
        </p:txBody>
      </p:sp>
      <p:sp>
        <p:nvSpPr>
          <p:cNvPr id="3" name="Subtitle 2"/>
          <p:cNvSpPr>
            <a:spLocks noGrp="1"/>
          </p:cNvSpPr>
          <p:nvPr>
            <p:ph type="subTitle" idx="1"/>
          </p:nvPr>
        </p:nvSpPr>
        <p:spPr>
          <a:xfrm>
            <a:off x="2293885" y="5410200"/>
            <a:ext cx="9591809" cy="886344"/>
          </a:xfrm>
        </p:spPr>
        <p:txBody>
          <a:bodyPr>
            <a:normAutofit/>
          </a:bodyPr>
          <a:lstStyle/>
          <a:p>
            <a:pPr algn="r"/>
            <a:r>
              <a:rPr lang="en-US">
                <a:solidFill>
                  <a:srgbClr val="0000AC"/>
                </a:solidFill>
              </a:rPr>
              <a:t>GV: Phan Hồng Trung</a:t>
            </a:r>
          </a:p>
        </p:txBody>
      </p:sp>
      <p:sp>
        <p:nvSpPr>
          <p:cNvPr id="4" name="Title 1">
            <a:extLst>
              <a:ext uri="{FF2B5EF4-FFF2-40B4-BE49-F238E27FC236}">
                <a16:creationId xmlns:a16="http://schemas.microsoft.com/office/drawing/2014/main" id="{29EA06A3-8B8E-4F32-A4A5-E44F102A338C}"/>
              </a:ext>
            </a:extLst>
          </p:cNvPr>
          <p:cNvSpPr txBox="1">
            <a:spLocks/>
          </p:cNvSpPr>
          <p:nvPr/>
        </p:nvSpPr>
        <p:spPr>
          <a:xfrm>
            <a:off x="1219201" y="4114800"/>
            <a:ext cx="10666492" cy="647700"/>
          </a:xfrm>
          <a:prstGeom prst="rect">
            <a:avLst/>
          </a:prstGeom>
        </p:spPr>
        <p:txBody>
          <a:bodyPr vert="horz" lIns="121899" tIns="60949" rIns="121899" bIns="60949" rtlCol="0" anchor="b">
            <a:noAutofit/>
            <a:scene3d>
              <a:camera prst="orthographicFront"/>
              <a:lightRig rig="threePt" dir="t"/>
            </a:scene3d>
            <a:sp3d extrusionH="57150">
              <a:bevelT w="38100" h="38100"/>
            </a:sp3d>
          </a:bodyPr>
          <a:lstStyle>
            <a:lvl1pPr algn="l" defTabSz="1218987" rtl="0" eaLnBrk="1" latinLnBrk="0" hangingPunct="1">
              <a:lnSpc>
                <a:spcPct val="80000"/>
              </a:lnSpc>
              <a:spcBef>
                <a:spcPct val="0"/>
              </a:spcBef>
              <a:buNone/>
              <a:defRPr sz="6000" b="0" kern="1200" cap="none" spc="0">
                <a:ln w="0"/>
                <a:solidFill>
                  <a:schemeClr val="accent3">
                    <a:lumMod val="75000"/>
                  </a:schemeClr>
                </a:solidFill>
                <a:effectLst>
                  <a:outerShdw blurRad="38100" dist="25400" dir="5400000" algn="ctr" rotWithShape="0">
                    <a:srgbClr val="6E747A">
                      <a:alpha val="43000"/>
                    </a:srgbClr>
                  </a:outerShdw>
                </a:effectLst>
                <a:latin typeface="Verdana" panose="020B0604030504040204" pitchFamily="34" charset="0"/>
                <a:ea typeface="Verdana" panose="020B0604030504040204" pitchFamily="34" charset="0"/>
                <a:cs typeface="+mj-cs"/>
              </a:defRPr>
            </a:lvl1pPr>
          </a:lstStyle>
          <a:p>
            <a:pPr algn="r"/>
            <a:br>
              <a:rPr lang="en-US" sz="2800">
                <a:solidFill>
                  <a:srgbClr val="0070C0"/>
                </a:solidFill>
              </a:rPr>
            </a:br>
            <a:r>
              <a:rPr lang="en-US" sz="2800">
                <a:solidFill>
                  <a:srgbClr val="0000AC"/>
                </a:solidFill>
              </a:rPr>
              <a:t>Data Structures &amp; Algorithms</a:t>
            </a:r>
          </a:p>
        </p:txBody>
      </p:sp>
    </p:spTree>
    <p:extLst>
      <p:ext uri="{BB962C8B-B14F-4D97-AF65-F5344CB8AC3E}">
        <p14:creationId xmlns:p14="http://schemas.microsoft.com/office/powerpoint/2010/main" val="280183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20000" t="20000" r="20000" b="10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7 – Danh Sách (List) – Phần 2</a:t>
            </a:r>
          </a:p>
        </p:txBody>
      </p:sp>
      <p:sp>
        <p:nvSpPr>
          <p:cNvPr id="3" name="Content Placeholder 2"/>
          <p:cNvSpPr>
            <a:spLocks noGrp="1"/>
          </p:cNvSpPr>
          <p:nvPr>
            <p:ph idx="1"/>
          </p:nvPr>
        </p:nvSpPr>
        <p:spPr/>
        <p:txBody>
          <a:bodyPr>
            <a:normAutofit/>
          </a:bodyPr>
          <a:lstStyle/>
          <a:p>
            <a:pPr>
              <a:buClr>
                <a:srgbClr val="002776"/>
              </a:buClr>
            </a:pPr>
            <a:r>
              <a:rPr lang="en-AU" altLang="en-US">
                <a:solidFill>
                  <a:srgbClr val="001A4F"/>
                </a:solidFill>
              </a:rPr>
              <a:t>Danh sách đặc</a:t>
            </a:r>
          </a:p>
          <a:p>
            <a:pPr>
              <a:buClr>
                <a:srgbClr val="002776"/>
              </a:buClr>
            </a:pPr>
            <a:r>
              <a:rPr lang="en-AU" altLang="en-US">
                <a:solidFill>
                  <a:srgbClr val="001A4F"/>
                </a:solidFill>
              </a:rPr>
              <a:t>Danh sách liên kết</a:t>
            </a:r>
          </a:p>
          <a:p>
            <a:pPr>
              <a:buClr>
                <a:srgbClr val="002776"/>
              </a:buClr>
            </a:pPr>
            <a:r>
              <a:rPr lang="en-AU" altLang="en-US">
                <a:solidFill>
                  <a:srgbClr val="001A4F"/>
                </a:solidFill>
              </a:rPr>
              <a:t>Danh sách hạn chế</a:t>
            </a:r>
          </a:p>
        </p:txBody>
      </p:sp>
      <p:sp>
        <p:nvSpPr>
          <p:cNvPr id="4" name="Footer Placeholder 3"/>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p:cNvSpPr>
            <a:spLocks noGrp="1"/>
          </p:cNvSpPr>
          <p:nvPr>
            <p:ph type="dt" sz="half" idx="10"/>
          </p:nvPr>
        </p:nvSpPr>
        <p:spPr/>
        <p:txBody>
          <a:bodyPr/>
          <a:lstStyle/>
          <a:p>
            <a:fld id="{F2C0D748-ADCB-4DF1-B1F3-A6D1A0741C9B}" type="datetime1">
              <a:rPr lang="en-US" smtClean="0"/>
              <a:t>5/29/2021</a:t>
            </a:fld>
            <a:endParaRPr lang="en-US"/>
          </a:p>
        </p:txBody>
      </p:sp>
      <p:sp>
        <p:nvSpPr>
          <p:cNvPr id="6" name="Slide Number Placeholder 5"/>
          <p:cNvSpPr>
            <a:spLocks noGrp="1"/>
          </p:cNvSpPr>
          <p:nvPr>
            <p:ph type="sldNum" sz="quarter" idx="12"/>
          </p:nvPr>
        </p:nvSpPr>
        <p:spPr/>
        <p:txBody>
          <a:bodyPr/>
          <a:lstStyle/>
          <a:p>
            <a:fld id="{34C99D79-8A4B-4031-B1E0-AF26F8EDF2BC}" type="slidenum">
              <a:rPr lang="en-US" smtClean="0"/>
              <a:pPr/>
              <a:t>2</a:t>
            </a:fld>
            <a:endParaRPr lang="en-US"/>
          </a:p>
        </p:txBody>
      </p:sp>
    </p:spTree>
    <p:extLst>
      <p:ext uri="{BB962C8B-B14F-4D97-AF65-F5344CB8AC3E}">
        <p14:creationId xmlns:p14="http://schemas.microsoft.com/office/powerpoint/2010/main" val="109280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E903DBF-1816-47A0-975F-ADAA813D9B67}"/>
              </a:ext>
            </a:extLst>
          </p:cNvPr>
          <p:cNvSpPr>
            <a:spLocks noGrp="1"/>
          </p:cNvSpPr>
          <p:nvPr>
            <p:ph type="title"/>
          </p:nvPr>
        </p:nvSpPr>
        <p:spPr/>
        <p:txBody>
          <a:bodyPr/>
          <a:lstStyle/>
          <a:p>
            <a:r>
              <a:rPr lang="en-US"/>
              <a:t>Danh sách hạn chế</a:t>
            </a:r>
          </a:p>
        </p:txBody>
      </p:sp>
      <p:sp>
        <p:nvSpPr>
          <p:cNvPr id="3" name="Content Placeholder 2">
            <a:extLst>
              <a:ext uri="{FF2B5EF4-FFF2-40B4-BE49-F238E27FC236}">
                <a16:creationId xmlns:a16="http://schemas.microsoft.com/office/drawing/2014/main" id="{FCF81A81-0B09-427B-B755-B386DC57FB4C}"/>
              </a:ext>
            </a:extLst>
          </p:cNvPr>
          <p:cNvSpPr>
            <a:spLocks noGrp="1"/>
          </p:cNvSpPr>
          <p:nvPr>
            <p:ph idx="1"/>
          </p:nvPr>
        </p:nvSpPr>
        <p:spPr/>
        <p:txBody>
          <a:bodyPr/>
          <a:lstStyle/>
          <a:p>
            <a:r>
              <a:rPr lang="en-AU" altLang="en-US"/>
              <a:t>Stack</a:t>
            </a:r>
          </a:p>
          <a:p>
            <a:r>
              <a:rPr lang="en-AU" altLang="en-US"/>
              <a:t>Queue</a:t>
            </a:r>
          </a:p>
          <a:p>
            <a:endParaRPr lang="en-US"/>
          </a:p>
        </p:txBody>
      </p:sp>
      <p:sp>
        <p:nvSpPr>
          <p:cNvPr id="4" name="Footer Placeholder 3">
            <a:extLst>
              <a:ext uri="{FF2B5EF4-FFF2-40B4-BE49-F238E27FC236}">
                <a16:creationId xmlns:a16="http://schemas.microsoft.com/office/drawing/2014/main" id="{B77BEAAA-6CF7-4454-BE14-1A0A0FA3EC9D}"/>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2F9A669D-F4EC-49C5-9C76-201AFB85BC66}"/>
              </a:ext>
            </a:extLst>
          </p:cNvPr>
          <p:cNvSpPr>
            <a:spLocks noGrp="1"/>
          </p:cNvSpPr>
          <p:nvPr>
            <p:ph type="dt" sz="half" idx="10"/>
          </p:nvPr>
        </p:nvSpPr>
        <p:spPr/>
        <p:txBody>
          <a:bodyPr/>
          <a:lstStyle/>
          <a:p>
            <a:fld id="{A31C3DFC-FA8D-4C71-A105-3FFE54ADD2D5}" type="datetime1">
              <a:rPr lang="en-US" smtClean="0"/>
              <a:pPr/>
              <a:t>5/29/2021</a:t>
            </a:fld>
            <a:endParaRPr lang="en-US"/>
          </a:p>
        </p:txBody>
      </p:sp>
      <p:sp>
        <p:nvSpPr>
          <p:cNvPr id="6" name="Slide Number Placeholder 5">
            <a:extLst>
              <a:ext uri="{FF2B5EF4-FFF2-40B4-BE49-F238E27FC236}">
                <a16:creationId xmlns:a16="http://schemas.microsoft.com/office/drawing/2014/main" id="{0D89DAF3-B22A-426B-8250-9FD62DDD0C71}"/>
              </a:ext>
            </a:extLst>
          </p:cNvPr>
          <p:cNvSpPr>
            <a:spLocks noGrp="1"/>
          </p:cNvSpPr>
          <p:nvPr>
            <p:ph type="sldNum" sz="quarter" idx="12"/>
          </p:nvPr>
        </p:nvSpPr>
        <p:spPr/>
        <p:txBody>
          <a:bodyPr/>
          <a:lstStyle/>
          <a:p>
            <a:fld id="{21782F98-F548-4E33-958E-D2A6C4BA8EFA}" type="slidenum">
              <a:rPr lang="en-US" smtClean="0"/>
              <a:pPr/>
              <a:t>3</a:t>
            </a:fld>
            <a:endParaRPr lang="en-US"/>
          </a:p>
        </p:txBody>
      </p:sp>
      <p:pic>
        <p:nvPicPr>
          <p:cNvPr id="12" name="Picture 2" descr="자료구조] 스택(Stack)">
            <a:extLst>
              <a:ext uri="{FF2B5EF4-FFF2-40B4-BE49-F238E27FC236}">
                <a16:creationId xmlns:a16="http://schemas.microsoft.com/office/drawing/2014/main" id="{C959F3AD-7C4E-4151-A365-C71A90124F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1446" y="2057099"/>
            <a:ext cx="4112095" cy="378202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73DC87F2-E60B-4BD0-A40B-95940882A1CD}"/>
              </a:ext>
            </a:extLst>
          </p:cNvPr>
          <p:cNvPicPr>
            <a:picLocks noChangeAspect="1"/>
          </p:cNvPicPr>
          <p:nvPr/>
        </p:nvPicPr>
        <p:blipFill>
          <a:blip r:embed="rId3"/>
          <a:stretch>
            <a:fillRect/>
          </a:stretch>
        </p:blipFill>
        <p:spPr>
          <a:xfrm>
            <a:off x="6909338" y="2295524"/>
            <a:ext cx="4914900" cy="3305175"/>
          </a:xfrm>
          <a:prstGeom prst="rect">
            <a:avLst/>
          </a:prstGeom>
        </p:spPr>
      </p:pic>
    </p:spTree>
    <p:extLst>
      <p:ext uri="{BB962C8B-B14F-4D97-AF65-F5344CB8AC3E}">
        <p14:creationId xmlns:p14="http://schemas.microsoft.com/office/powerpoint/2010/main" val="98189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38FE-1D41-48F6-8ED3-8DE06B7AC660}"/>
              </a:ext>
            </a:extLst>
          </p:cNvPr>
          <p:cNvSpPr>
            <a:spLocks noGrp="1"/>
          </p:cNvSpPr>
          <p:nvPr>
            <p:ph type="title"/>
          </p:nvPr>
        </p:nvSpPr>
        <p:spPr/>
        <p:txBody>
          <a:bodyPr/>
          <a:lstStyle/>
          <a:p>
            <a:r>
              <a:rPr lang="en-US"/>
              <a:t>Stack</a:t>
            </a:r>
          </a:p>
        </p:txBody>
      </p:sp>
      <p:sp>
        <p:nvSpPr>
          <p:cNvPr id="3" name="Content Placeholder 2">
            <a:extLst>
              <a:ext uri="{FF2B5EF4-FFF2-40B4-BE49-F238E27FC236}">
                <a16:creationId xmlns:a16="http://schemas.microsoft.com/office/drawing/2014/main" id="{FA1194B5-A852-4EF9-9F9F-68B1DCE664FB}"/>
              </a:ext>
            </a:extLst>
          </p:cNvPr>
          <p:cNvSpPr>
            <a:spLocks noGrp="1"/>
          </p:cNvSpPr>
          <p:nvPr>
            <p:ph idx="1"/>
          </p:nvPr>
        </p:nvSpPr>
        <p:spPr/>
        <p:txBody>
          <a:bodyPr/>
          <a:lstStyle/>
          <a:p>
            <a:r>
              <a:rPr lang="en-AU" altLang="en-US"/>
              <a:t>Định nghĩa</a:t>
            </a:r>
          </a:p>
          <a:p>
            <a:r>
              <a:rPr lang="en-AU" altLang="en-US"/>
              <a:t>Tổ chức lưu trữ</a:t>
            </a:r>
          </a:p>
          <a:p>
            <a:r>
              <a:rPr lang="en-AU" altLang="en-US"/>
              <a:t>Các thao tác cơ bản</a:t>
            </a:r>
          </a:p>
          <a:p>
            <a:endParaRPr lang="en-US"/>
          </a:p>
        </p:txBody>
      </p:sp>
      <p:sp>
        <p:nvSpPr>
          <p:cNvPr id="4" name="Footer Placeholder 3">
            <a:extLst>
              <a:ext uri="{FF2B5EF4-FFF2-40B4-BE49-F238E27FC236}">
                <a16:creationId xmlns:a16="http://schemas.microsoft.com/office/drawing/2014/main" id="{0BF10D93-3C9D-4EC0-90A3-E95A38706A73}"/>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996CD805-80F8-4C74-8135-34D1C16D187B}"/>
              </a:ext>
            </a:extLst>
          </p:cNvPr>
          <p:cNvSpPr>
            <a:spLocks noGrp="1"/>
          </p:cNvSpPr>
          <p:nvPr>
            <p:ph type="dt" sz="half" idx="10"/>
          </p:nvPr>
        </p:nvSpPr>
        <p:spPr/>
        <p:txBody>
          <a:bodyPr/>
          <a:lstStyle/>
          <a:p>
            <a:fld id="{A31C3DFC-FA8D-4C71-A105-3FFE54ADD2D5}" type="datetime1">
              <a:rPr lang="en-US" smtClean="0"/>
              <a:pPr/>
              <a:t>5/29/2021</a:t>
            </a:fld>
            <a:endParaRPr lang="en-US"/>
          </a:p>
        </p:txBody>
      </p:sp>
      <p:sp>
        <p:nvSpPr>
          <p:cNvPr id="6" name="Slide Number Placeholder 5">
            <a:extLst>
              <a:ext uri="{FF2B5EF4-FFF2-40B4-BE49-F238E27FC236}">
                <a16:creationId xmlns:a16="http://schemas.microsoft.com/office/drawing/2014/main" id="{2BA52D40-9A71-4EFE-BA76-C3C88C495E13}"/>
              </a:ext>
            </a:extLst>
          </p:cNvPr>
          <p:cNvSpPr>
            <a:spLocks noGrp="1"/>
          </p:cNvSpPr>
          <p:nvPr>
            <p:ph type="sldNum" sz="quarter" idx="12"/>
          </p:nvPr>
        </p:nvSpPr>
        <p:spPr/>
        <p:txBody>
          <a:bodyPr/>
          <a:lstStyle/>
          <a:p>
            <a:fld id="{21782F98-F548-4E33-958E-D2A6C4BA8EFA}" type="slidenum">
              <a:rPr lang="en-US" smtClean="0"/>
              <a:pPr/>
              <a:t>4</a:t>
            </a:fld>
            <a:endParaRPr lang="en-US"/>
          </a:p>
        </p:txBody>
      </p:sp>
      <p:pic>
        <p:nvPicPr>
          <p:cNvPr id="12" name="Picture 2" descr="자료구조] 스택(Stack)">
            <a:extLst>
              <a:ext uri="{FF2B5EF4-FFF2-40B4-BE49-F238E27FC236}">
                <a16:creationId xmlns:a16="http://schemas.microsoft.com/office/drawing/2014/main" id="{1B0AFC50-41AF-4099-ABB6-35E268EF7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724025"/>
            <a:ext cx="4136020" cy="3804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39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EC841DCF-3DDC-4D88-A44F-26043D11703B}"/>
              </a:ext>
            </a:extLst>
          </p:cNvPr>
          <p:cNvSpPr>
            <a:spLocks noGrp="1"/>
          </p:cNvSpPr>
          <p:nvPr>
            <p:ph type="title"/>
          </p:nvPr>
        </p:nvSpPr>
        <p:spPr/>
        <p:txBody>
          <a:bodyPr/>
          <a:lstStyle/>
          <a:p>
            <a:r>
              <a:rPr lang="en-US"/>
              <a:t>Stack – Định nghĩa</a:t>
            </a:r>
          </a:p>
        </p:txBody>
      </p:sp>
      <p:sp>
        <p:nvSpPr>
          <p:cNvPr id="3" name="Content Placeholder 2">
            <a:extLst>
              <a:ext uri="{FF2B5EF4-FFF2-40B4-BE49-F238E27FC236}">
                <a16:creationId xmlns:a16="http://schemas.microsoft.com/office/drawing/2014/main" id="{84B82F13-AD34-4BF4-AA47-260404CB2A7A}"/>
              </a:ext>
            </a:extLst>
          </p:cNvPr>
          <p:cNvSpPr>
            <a:spLocks noGrp="1"/>
          </p:cNvSpPr>
          <p:nvPr>
            <p:ph idx="1"/>
          </p:nvPr>
        </p:nvSpPr>
        <p:spPr/>
        <p:txBody>
          <a:bodyPr/>
          <a:lstStyle/>
          <a:p>
            <a:r>
              <a:rPr lang="vi-VN" altLang="en-US"/>
              <a:t>Stack là một danh sách hoạt động theo cơ chế </a:t>
            </a:r>
            <a:r>
              <a:rPr lang="vi-VN" altLang="en-US" b="1"/>
              <a:t>LIFO</a:t>
            </a:r>
            <a:r>
              <a:rPr lang="vi-VN" altLang="en-US"/>
              <a:t> (Last In First Out</a:t>
            </a:r>
            <a:r>
              <a:rPr lang="en-US" altLang="en-US"/>
              <a:t>: </a:t>
            </a:r>
            <a:r>
              <a:rPr lang="vi-VN" altLang="en-US"/>
              <a:t>vào sau ra trước)</a:t>
            </a:r>
            <a:r>
              <a:rPr lang="en-US" altLang="en-US"/>
              <a:t>.</a:t>
            </a:r>
          </a:p>
          <a:p>
            <a:pPr algn="l"/>
            <a:r>
              <a:rPr lang="vi-VN" altLang="en-US"/>
              <a:t>Thao tác thêm và </a:t>
            </a:r>
            <a:r>
              <a:rPr lang="en-US" altLang="en-US"/>
              <a:t>xóa phần tử</a:t>
            </a:r>
            <a:r>
              <a:rPr lang="vi-VN" altLang="en-US"/>
              <a:t> được </a:t>
            </a:r>
            <a:br>
              <a:rPr lang="en-US" altLang="en-US"/>
            </a:br>
            <a:r>
              <a:rPr lang="vi-VN" altLang="en-US"/>
              <a:t>thực hiện ở </a:t>
            </a:r>
            <a:r>
              <a:rPr lang="en-US" altLang="en-US"/>
              <a:t>đỉnh</a:t>
            </a:r>
            <a:r>
              <a:rPr lang="vi-VN" altLang="en-US"/>
              <a:t> của </a:t>
            </a:r>
            <a:r>
              <a:rPr lang="en-US" altLang="en-US"/>
              <a:t>S</a:t>
            </a:r>
            <a:r>
              <a:rPr lang="vi-VN" altLang="en-US"/>
              <a:t>tack</a:t>
            </a:r>
            <a:r>
              <a:rPr lang="en-US" altLang="en-US"/>
              <a:t>.</a:t>
            </a:r>
            <a:endParaRPr lang="en-US"/>
          </a:p>
        </p:txBody>
      </p:sp>
      <p:sp>
        <p:nvSpPr>
          <p:cNvPr id="4" name="Footer Placeholder 3">
            <a:extLst>
              <a:ext uri="{FF2B5EF4-FFF2-40B4-BE49-F238E27FC236}">
                <a16:creationId xmlns:a16="http://schemas.microsoft.com/office/drawing/2014/main" id="{E2E2ACC4-9C2B-41D3-A0AE-18C9D817E18A}"/>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15E40882-B8F7-4C97-ABCD-EB40E28B9ABF}"/>
              </a:ext>
            </a:extLst>
          </p:cNvPr>
          <p:cNvSpPr>
            <a:spLocks noGrp="1"/>
          </p:cNvSpPr>
          <p:nvPr>
            <p:ph type="dt" sz="half" idx="10"/>
          </p:nvPr>
        </p:nvSpPr>
        <p:spPr/>
        <p:txBody>
          <a:bodyPr/>
          <a:lstStyle/>
          <a:p>
            <a:fld id="{A31C3DFC-FA8D-4C71-A105-3FFE54ADD2D5}" type="datetime1">
              <a:rPr lang="en-US" smtClean="0"/>
              <a:pPr/>
              <a:t>5/29/2021</a:t>
            </a:fld>
            <a:endParaRPr lang="en-US"/>
          </a:p>
        </p:txBody>
      </p:sp>
      <p:sp>
        <p:nvSpPr>
          <p:cNvPr id="6" name="Slide Number Placeholder 5">
            <a:extLst>
              <a:ext uri="{FF2B5EF4-FFF2-40B4-BE49-F238E27FC236}">
                <a16:creationId xmlns:a16="http://schemas.microsoft.com/office/drawing/2014/main" id="{5E505528-C181-40E1-B98A-55BD82B48D6F}"/>
              </a:ext>
            </a:extLst>
          </p:cNvPr>
          <p:cNvSpPr>
            <a:spLocks noGrp="1"/>
          </p:cNvSpPr>
          <p:nvPr>
            <p:ph type="sldNum" sz="quarter" idx="12"/>
          </p:nvPr>
        </p:nvSpPr>
        <p:spPr/>
        <p:txBody>
          <a:bodyPr/>
          <a:lstStyle/>
          <a:p>
            <a:fld id="{21782F98-F548-4E33-958E-D2A6C4BA8EFA}" type="slidenum">
              <a:rPr lang="en-US" smtClean="0"/>
              <a:pPr/>
              <a:t>5</a:t>
            </a:fld>
            <a:endParaRPr lang="en-US"/>
          </a:p>
        </p:txBody>
      </p:sp>
      <p:pic>
        <p:nvPicPr>
          <p:cNvPr id="1026" name="Picture 2" descr="자료구조] 스택(Stack)">
            <a:extLst>
              <a:ext uri="{FF2B5EF4-FFF2-40B4-BE49-F238E27FC236}">
                <a16:creationId xmlns:a16="http://schemas.microsoft.com/office/drawing/2014/main" id="{3B2D5B11-0BD9-403E-A55E-D47E40E458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1818" y="1998800"/>
            <a:ext cx="4537625" cy="417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773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ECED081-F9F6-45A9-AD74-02BA1A3C3F21}"/>
              </a:ext>
            </a:extLst>
          </p:cNvPr>
          <p:cNvSpPr>
            <a:spLocks noGrp="1"/>
          </p:cNvSpPr>
          <p:nvPr>
            <p:ph type="title"/>
          </p:nvPr>
        </p:nvSpPr>
        <p:spPr/>
        <p:txBody>
          <a:bodyPr/>
          <a:lstStyle/>
          <a:p>
            <a:r>
              <a:rPr lang="en-US"/>
              <a:t>Stack – Định nghĩa</a:t>
            </a:r>
          </a:p>
        </p:txBody>
      </p:sp>
      <p:sp>
        <p:nvSpPr>
          <p:cNvPr id="3" name="Content Placeholder 2">
            <a:extLst>
              <a:ext uri="{FF2B5EF4-FFF2-40B4-BE49-F238E27FC236}">
                <a16:creationId xmlns:a16="http://schemas.microsoft.com/office/drawing/2014/main" id="{7A307A3C-D9E3-449A-AD27-1AB348088FBC}"/>
              </a:ext>
            </a:extLst>
          </p:cNvPr>
          <p:cNvSpPr>
            <a:spLocks noGrp="1"/>
          </p:cNvSpPr>
          <p:nvPr>
            <p:ph idx="1"/>
          </p:nvPr>
        </p:nvSpPr>
        <p:spPr/>
        <p:txBody>
          <a:bodyPr/>
          <a:lstStyle/>
          <a:p>
            <a:r>
              <a:rPr lang="vi-VN" altLang="en-US"/>
              <a:t>Stack có thể được biểu diễn dưới dạng </a:t>
            </a:r>
            <a:r>
              <a:rPr lang="en-US" altLang="en-US"/>
              <a:t>DSĐ</a:t>
            </a:r>
            <a:r>
              <a:rPr lang="vi-VN" altLang="en-US"/>
              <a:t> hoặc </a:t>
            </a:r>
            <a:r>
              <a:rPr lang="en-US" altLang="en-US"/>
              <a:t>DSLK đơn.</a:t>
            </a:r>
          </a:p>
          <a:p>
            <a:r>
              <a:rPr lang="vi-VN" altLang="en-US"/>
              <a:t>Stack có một </a:t>
            </a:r>
            <a:r>
              <a:rPr lang="en-US" altLang="en-US"/>
              <a:t>con trỏ chỉ </a:t>
            </a:r>
            <a:r>
              <a:rPr lang="vi-VN" altLang="en-US"/>
              <a:t>vào </a:t>
            </a:r>
            <a:r>
              <a:rPr lang="en-US" altLang="en-US"/>
              <a:t>đỉnh của nó </a:t>
            </a:r>
            <a:r>
              <a:rPr lang="vi-VN" altLang="en-US"/>
              <a:t>gọi là stack-pointer: </a:t>
            </a:r>
            <a:endParaRPr lang="en-US" altLang="en-US"/>
          </a:p>
          <a:p>
            <a:pPr lvl="1"/>
            <a:r>
              <a:rPr lang="en-US" altLang="en-US"/>
              <a:t>L</a:t>
            </a:r>
            <a:r>
              <a:rPr lang="vi-VN" altLang="en-US"/>
              <a:t>à giá trị </a:t>
            </a:r>
            <a:r>
              <a:rPr lang="vi-VN" altLang="en-US" b="1"/>
              <a:t>top</a:t>
            </a:r>
            <a:r>
              <a:rPr lang="vi-VN" altLang="en-US"/>
              <a:t> đối với dạng DSĐ, </a:t>
            </a:r>
            <a:endParaRPr lang="en-US" altLang="en-US"/>
          </a:p>
          <a:p>
            <a:pPr lvl="1"/>
            <a:r>
              <a:rPr lang="en-US" altLang="en-US"/>
              <a:t>L</a:t>
            </a:r>
            <a:r>
              <a:rPr lang="vi-VN" altLang="en-US"/>
              <a:t>à con trỏ </a:t>
            </a:r>
            <a:r>
              <a:rPr lang="vi-VN" altLang="en-US" b="1"/>
              <a:t>pHead</a:t>
            </a:r>
            <a:r>
              <a:rPr lang="vi-VN" altLang="en-US"/>
              <a:t> đối với dạng DSLK</a:t>
            </a:r>
            <a:r>
              <a:rPr lang="en-US" altLang="en-US"/>
              <a:t> đơn.</a:t>
            </a:r>
            <a:endParaRPr lang="en-AU" altLang="en-US"/>
          </a:p>
          <a:p>
            <a:endParaRPr lang="en-US"/>
          </a:p>
        </p:txBody>
      </p:sp>
      <p:sp>
        <p:nvSpPr>
          <p:cNvPr id="4" name="Footer Placeholder 3">
            <a:extLst>
              <a:ext uri="{FF2B5EF4-FFF2-40B4-BE49-F238E27FC236}">
                <a16:creationId xmlns:a16="http://schemas.microsoft.com/office/drawing/2014/main" id="{B7FCC7E2-20D6-46ED-8CCF-ABC2DF7DF51C}"/>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D81C3FAC-5E6E-431A-B0F3-FBE1663F5CAD}"/>
              </a:ext>
            </a:extLst>
          </p:cNvPr>
          <p:cNvSpPr>
            <a:spLocks noGrp="1"/>
          </p:cNvSpPr>
          <p:nvPr>
            <p:ph type="dt" sz="half" idx="10"/>
          </p:nvPr>
        </p:nvSpPr>
        <p:spPr/>
        <p:txBody>
          <a:bodyPr/>
          <a:lstStyle/>
          <a:p>
            <a:fld id="{A31C3DFC-FA8D-4C71-A105-3FFE54ADD2D5}" type="datetime1">
              <a:rPr lang="en-US" smtClean="0"/>
              <a:pPr/>
              <a:t>5/29/2021</a:t>
            </a:fld>
            <a:endParaRPr lang="en-US"/>
          </a:p>
        </p:txBody>
      </p:sp>
      <p:sp>
        <p:nvSpPr>
          <p:cNvPr id="6" name="Slide Number Placeholder 5">
            <a:extLst>
              <a:ext uri="{FF2B5EF4-FFF2-40B4-BE49-F238E27FC236}">
                <a16:creationId xmlns:a16="http://schemas.microsoft.com/office/drawing/2014/main" id="{00F06D9A-27DF-4821-BDC3-D3B7E044C6EF}"/>
              </a:ext>
            </a:extLst>
          </p:cNvPr>
          <p:cNvSpPr>
            <a:spLocks noGrp="1"/>
          </p:cNvSpPr>
          <p:nvPr>
            <p:ph type="sldNum" sz="quarter" idx="12"/>
          </p:nvPr>
        </p:nvSpPr>
        <p:spPr/>
        <p:txBody>
          <a:bodyPr/>
          <a:lstStyle/>
          <a:p>
            <a:fld id="{21782F98-F548-4E33-958E-D2A6C4BA8EFA}" type="slidenum">
              <a:rPr lang="en-US" smtClean="0"/>
              <a:pPr/>
              <a:t>6</a:t>
            </a:fld>
            <a:endParaRPr lang="en-US"/>
          </a:p>
        </p:txBody>
      </p:sp>
      <p:pic>
        <p:nvPicPr>
          <p:cNvPr id="12" name="Picture 2">
            <a:extLst>
              <a:ext uri="{FF2B5EF4-FFF2-40B4-BE49-F238E27FC236}">
                <a16:creationId xmlns:a16="http://schemas.microsoft.com/office/drawing/2014/main" id="{4AB26D4F-8C33-4D01-BBD4-F4EB315D3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5060" y="4048127"/>
            <a:ext cx="284480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4">
            <a:extLst>
              <a:ext uri="{FF2B5EF4-FFF2-40B4-BE49-F238E27FC236}">
                <a16:creationId xmlns:a16="http://schemas.microsoft.com/office/drawing/2014/main" id="{C66D6E33-1846-423D-9C88-D43E509628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3618" y="3817939"/>
            <a:ext cx="2574925" cy="281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2708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A9BC0-36AE-44CF-836C-8B09A609D5F6}"/>
              </a:ext>
            </a:extLst>
          </p:cNvPr>
          <p:cNvSpPr>
            <a:spLocks noGrp="1"/>
          </p:cNvSpPr>
          <p:nvPr>
            <p:ph type="title"/>
          </p:nvPr>
        </p:nvSpPr>
        <p:spPr/>
        <p:txBody>
          <a:bodyPr/>
          <a:lstStyle/>
          <a:p>
            <a:r>
              <a:rPr lang="en-US"/>
              <a:t>Stack – Tổ chức lưu trữ</a:t>
            </a:r>
          </a:p>
        </p:txBody>
      </p:sp>
      <p:sp>
        <p:nvSpPr>
          <p:cNvPr id="4" name="Footer Placeholder 3">
            <a:extLst>
              <a:ext uri="{FF2B5EF4-FFF2-40B4-BE49-F238E27FC236}">
                <a16:creationId xmlns:a16="http://schemas.microsoft.com/office/drawing/2014/main" id="{3676A0C7-687D-47ED-9E88-DDF763C6228C}"/>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ACFC307F-DEE5-48A2-8056-928529B48E18}"/>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929FEEBB-BF6D-4C96-9810-27250E274DA6}"/>
              </a:ext>
            </a:extLst>
          </p:cNvPr>
          <p:cNvSpPr>
            <a:spLocks noGrp="1"/>
          </p:cNvSpPr>
          <p:nvPr>
            <p:ph type="sldNum" sz="quarter" idx="12"/>
          </p:nvPr>
        </p:nvSpPr>
        <p:spPr/>
        <p:txBody>
          <a:bodyPr/>
          <a:lstStyle/>
          <a:p>
            <a:fld id="{21782F98-F548-4E33-958E-D2A6C4BA8EFA}" type="slidenum">
              <a:rPr lang="en-US" smtClean="0"/>
              <a:t>7</a:t>
            </a:fld>
            <a:endParaRPr lang="en-US"/>
          </a:p>
        </p:txBody>
      </p:sp>
      <p:sp>
        <p:nvSpPr>
          <p:cNvPr id="7" name="Rectangle 6">
            <a:extLst>
              <a:ext uri="{FF2B5EF4-FFF2-40B4-BE49-F238E27FC236}">
                <a16:creationId xmlns:a16="http://schemas.microsoft.com/office/drawing/2014/main" id="{B88F5F86-801A-43D4-BDCE-68985D3EC868}"/>
              </a:ext>
            </a:extLst>
          </p:cNvPr>
          <p:cNvSpPr/>
          <p:nvPr/>
        </p:nvSpPr>
        <p:spPr>
          <a:xfrm>
            <a:off x="1240632" y="4326946"/>
            <a:ext cx="3179181" cy="1938992"/>
          </a:xfrm>
          <a:prstGeom prst="rect">
            <a:avLst/>
          </a:prstGeom>
        </p:spPr>
        <p:txBody>
          <a:bodyPr wrap="square">
            <a:spAutoFit/>
          </a:bodyPr>
          <a:lstStyle/>
          <a:p>
            <a:r>
              <a:rPr lang="en-US">
                <a:solidFill>
                  <a:srgbClr val="AF00DB"/>
                </a:solidFill>
                <a:latin typeface="Consolas" panose="020B0609020204030204" pitchFamily="49" charset="0"/>
              </a:rPr>
              <a:t>#define</a:t>
            </a:r>
            <a:r>
              <a:rPr lang="en-US">
                <a:solidFill>
                  <a:srgbClr val="0000FF"/>
                </a:solidFill>
                <a:latin typeface="Consolas" panose="020B0609020204030204" pitchFamily="49" charset="0"/>
              </a:rPr>
              <a:t> N </a:t>
            </a:r>
            <a:r>
              <a:rPr lang="en-US">
                <a:solidFill>
                  <a:srgbClr val="098658"/>
                </a:solidFill>
                <a:latin typeface="Consolas" panose="020B0609020204030204" pitchFamily="49" charset="0"/>
              </a:rPr>
              <a:t>100</a:t>
            </a:r>
            <a:endParaRPr lang="en-US">
              <a:solidFill>
                <a:srgbClr val="000000"/>
              </a:solidFill>
              <a:latin typeface="Consolas" panose="020B0609020204030204" pitchFamily="49" charset="0"/>
            </a:endParaRPr>
          </a:p>
          <a:p>
            <a:r>
              <a:rPr lang="en-US">
                <a:solidFill>
                  <a:srgbClr val="0000FF"/>
                </a:solidFill>
                <a:latin typeface="Consolas" panose="020B0609020204030204" pitchFamily="49" charset="0"/>
              </a:rPr>
              <a:t>typedef</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struct</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top</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DATA</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a</a:t>
            </a:r>
            <a:r>
              <a:rPr lang="en-US">
                <a:solidFill>
                  <a:srgbClr val="000000"/>
                </a:solidFill>
                <a:latin typeface="Consolas" panose="020B0609020204030204" pitchFamily="49" charset="0"/>
              </a:rPr>
              <a:t>[</a:t>
            </a:r>
            <a:r>
              <a:rPr lang="en-US">
                <a:solidFill>
                  <a:srgbClr val="0000FF"/>
                </a:solidFill>
                <a:latin typeface="Consolas" panose="020B0609020204030204" pitchFamily="49" charset="0"/>
              </a:rPr>
              <a:t>N</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STACK</a:t>
            </a:r>
            <a:r>
              <a:rPr lang="en-US">
                <a:solidFill>
                  <a:srgbClr val="000000"/>
                </a:solidFill>
                <a:latin typeface="Consolas" panose="020B0609020204030204" pitchFamily="49" charset="0"/>
              </a:rPr>
              <a:t>;</a:t>
            </a:r>
          </a:p>
        </p:txBody>
      </p:sp>
      <p:sp>
        <p:nvSpPr>
          <p:cNvPr id="8" name="Rectangle 7">
            <a:extLst>
              <a:ext uri="{FF2B5EF4-FFF2-40B4-BE49-F238E27FC236}">
                <a16:creationId xmlns:a16="http://schemas.microsoft.com/office/drawing/2014/main" id="{66BC660A-2AE6-46CE-95C6-CE759FBFF80F}"/>
              </a:ext>
            </a:extLst>
          </p:cNvPr>
          <p:cNvSpPr/>
          <p:nvPr/>
        </p:nvSpPr>
        <p:spPr>
          <a:xfrm>
            <a:off x="8214168" y="1915610"/>
            <a:ext cx="3869802" cy="3046988"/>
          </a:xfrm>
          <a:prstGeom prst="rect">
            <a:avLst/>
          </a:prstGeom>
        </p:spPr>
        <p:txBody>
          <a:bodyPr wrap="square">
            <a:spAutoFit/>
          </a:bodyPr>
          <a:lstStyle/>
          <a:p>
            <a:r>
              <a:rPr lang="en-US">
                <a:solidFill>
                  <a:srgbClr val="0000FF"/>
                </a:solidFill>
                <a:latin typeface="Consolas" panose="020B0609020204030204" pitchFamily="49" charset="0"/>
              </a:rPr>
              <a:t>typedef</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struct</a:t>
            </a:r>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NODE</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DATA</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info</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NODE</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pNext</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NODE</a:t>
            </a:r>
            <a:r>
              <a:rPr lang="en-US">
                <a:solidFill>
                  <a:srgbClr val="000000"/>
                </a:solidFill>
                <a:latin typeface="Consolas" panose="020B0609020204030204" pitchFamily="49" charset="0"/>
              </a:rPr>
              <a:t>;</a:t>
            </a:r>
          </a:p>
          <a:p>
            <a:br>
              <a:rPr lang="en-US">
                <a:solidFill>
                  <a:srgbClr val="000000"/>
                </a:solidFill>
                <a:latin typeface="Consolas" panose="020B0609020204030204" pitchFamily="49" charset="0"/>
              </a:rPr>
            </a:br>
            <a:r>
              <a:rPr lang="en-US">
                <a:solidFill>
                  <a:srgbClr val="0000FF"/>
                </a:solidFill>
                <a:latin typeface="Consolas" panose="020B0609020204030204" pitchFamily="49" charset="0"/>
              </a:rPr>
              <a:t>typedef</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struct</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NODE</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pHead</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STACK</a:t>
            </a:r>
            <a:r>
              <a:rPr lang="en-US">
                <a:solidFill>
                  <a:srgbClr val="000000"/>
                </a:solidFill>
                <a:latin typeface="Consolas" panose="020B0609020204030204" pitchFamily="49" charset="0"/>
              </a:rPr>
              <a:t>;</a:t>
            </a:r>
          </a:p>
        </p:txBody>
      </p:sp>
      <p:pic>
        <p:nvPicPr>
          <p:cNvPr id="9" name="Picture 2">
            <a:extLst>
              <a:ext uri="{FF2B5EF4-FFF2-40B4-BE49-F238E27FC236}">
                <a16:creationId xmlns:a16="http://schemas.microsoft.com/office/drawing/2014/main" id="{E597CDBE-C015-4502-BC27-3CAB10878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1" y="1915610"/>
            <a:ext cx="284480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4">
            <a:extLst>
              <a:ext uri="{FF2B5EF4-FFF2-40B4-BE49-F238E27FC236}">
                <a16:creationId xmlns:a16="http://schemas.microsoft.com/office/drawing/2014/main" id="{40E437AC-3886-45B4-85B1-5A783E14E5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528" y="1915610"/>
            <a:ext cx="2574925" cy="281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8723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A5E18B5-4DDA-479D-A166-CA511F6D8A95}"/>
              </a:ext>
            </a:extLst>
          </p:cNvPr>
          <p:cNvPicPr>
            <a:picLocks noChangeAspect="1"/>
          </p:cNvPicPr>
          <p:nvPr/>
        </p:nvPicPr>
        <p:blipFill>
          <a:blip r:embed="rId2"/>
          <a:stretch>
            <a:fillRect/>
          </a:stretch>
        </p:blipFill>
        <p:spPr>
          <a:xfrm>
            <a:off x="2303582" y="1958834"/>
            <a:ext cx="2695575" cy="3009900"/>
          </a:xfrm>
          <a:prstGeom prst="rect">
            <a:avLst/>
          </a:prstGeom>
        </p:spPr>
      </p:pic>
      <p:sp>
        <p:nvSpPr>
          <p:cNvPr id="2" name="Title 1">
            <a:extLst>
              <a:ext uri="{FF2B5EF4-FFF2-40B4-BE49-F238E27FC236}">
                <a16:creationId xmlns:a16="http://schemas.microsoft.com/office/drawing/2014/main" id="{0E7D0209-0FEE-447E-BAAD-37EC2D5AA321}"/>
              </a:ext>
            </a:extLst>
          </p:cNvPr>
          <p:cNvSpPr>
            <a:spLocks noGrp="1"/>
          </p:cNvSpPr>
          <p:nvPr>
            <p:ph type="title"/>
          </p:nvPr>
        </p:nvSpPr>
        <p:spPr/>
        <p:txBody>
          <a:bodyPr/>
          <a:lstStyle/>
          <a:p>
            <a:r>
              <a:rPr lang="en-US"/>
              <a:t>Stack – Các thao tác c</a:t>
            </a:r>
            <a:r>
              <a:rPr lang="vi-VN"/>
              <a:t>ơ</a:t>
            </a:r>
            <a:r>
              <a:rPr lang="en-US"/>
              <a:t> bản</a:t>
            </a:r>
          </a:p>
        </p:txBody>
      </p:sp>
      <p:sp>
        <p:nvSpPr>
          <p:cNvPr id="8" name="Content Placeholder 7">
            <a:extLst>
              <a:ext uri="{FF2B5EF4-FFF2-40B4-BE49-F238E27FC236}">
                <a16:creationId xmlns:a16="http://schemas.microsoft.com/office/drawing/2014/main" id="{F3B168DC-D236-4638-B2AC-FB1CD3B2F917}"/>
              </a:ext>
            </a:extLst>
          </p:cNvPr>
          <p:cNvSpPr>
            <a:spLocks noGrp="1"/>
          </p:cNvSpPr>
          <p:nvPr>
            <p:ph idx="1"/>
          </p:nvPr>
        </p:nvSpPr>
        <p:spPr/>
        <p:txBody>
          <a:bodyPr/>
          <a:lstStyle/>
          <a:p>
            <a:r>
              <a:rPr lang="en-US"/>
              <a:t>Khởi tạo Stack:</a:t>
            </a:r>
          </a:p>
        </p:txBody>
      </p:sp>
      <p:sp>
        <p:nvSpPr>
          <p:cNvPr id="3" name="Footer Placeholder 2">
            <a:extLst>
              <a:ext uri="{FF2B5EF4-FFF2-40B4-BE49-F238E27FC236}">
                <a16:creationId xmlns:a16="http://schemas.microsoft.com/office/drawing/2014/main" id="{BC4D0FB2-6699-436D-B471-83D8FB3160CF}"/>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4" name="Date Placeholder 3">
            <a:extLst>
              <a:ext uri="{FF2B5EF4-FFF2-40B4-BE49-F238E27FC236}">
                <a16:creationId xmlns:a16="http://schemas.microsoft.com/office/drawing/2014/main" id="{8A674750-8C19-4A6C-9B60-5F3CF218000C}"/>
              </a:ext>
            </a:extLst>
          </p:cNvPr>
          <p:cNvSpPr>
            <a:spLocks noGrp="1"/>
          </p:cNvSpPr>
          <p:nvPr>
            <p:ph type="dt" sz="half" idx="10"/>
          </p:nvPr>
        </p:nvSpPr>
        <p:spPr/>
        <p:txBody>
          <a:bodyPr/>
          <a:lstStyle/>
          <a:p>
            <a:fld id="{7F2036C0-FFB5-44D9-9ACC-905E14594FC9}" type="datetime1">
              <a:rPr lang="en-US" smtClean="0"/>
              <a:t>5/29/2021</a:t>
            </a:fld>
            <a:endParaRPr lang="en-US"/>
          </a:p>
        </p:txBody>
      </p:sp>
      <p:sp>
        <p:nvSpPr>
          <p:cNvPr id="5" name="Slide Number Placeholder 4">
            <a:extLst>
              <a:ext uri="{FF2B5EF4-FFF2-40B4-BE49-F238E27FC236}">
                <a16:creationId xmlns:a16="http://schemas.microsoft.com/office/drawing/2014/main" id="{B78BF4FB-E61B-4277-B629-101B3791DAD4}"/>
              </a:ext>
            </a:extLst>
          </p:cNvPr>
          <p:cNvSpPr>
            <a:spLocks noGrp="1"/>
          </p:cNvSpPr>
          <p:nvPr>
            <p:ph type="sldNum" sz="quarter" idx="12"/>
          </p:nvPr>
        </p:nvSpPr>
        <p:spPr/>
        <p:txBody>
          <a:bodyPr/>
          <a:lstStyle/>
          <a:p>
            <a:fld id="{21782F98-F548-4E33-958E-D2A6C4BA8EFA}" type="slidenum">
              <a:rPr lang="en-US" smtClean="0"/>
              <a:t>8</a:t>
            </a:fld>
            <a:endParaRPr lang="en-US"/>
          </a:p>
        </p:txBody>
      </p:sp>
      <p:pic>
        <p:nvPicPr>
          <p:cNvPr id="7" name="Picture 3">
            <a:extLst>
              <a:ext uri="{FF2B5EF4-FFF2-40B4-BE49-F238E27FC236}">
                <a16:creationId xmlns:a16="http://schemas.microsoft.com/office/drawing/2014/main" id="{6BA37BBD-3183-4423-91B3-4C2C77B7BC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6318" y="3759659"/>
            <a:ext cx="1562100"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2A0F9473-AEB8-4634-BC92-939807676F9E}"/>
              </a:ext>
            </a:extLst>
          </p:cNvPr>
          <p:cNvSpPr/>
          <p:nvPr/>
        </p:nvSpPr>
        <p:spPr>
          <a:xfrm>
            <a:off x="1527216" y="4899166"/>
            <a:ext cx="4730187" cy="1200329"/>
          </a:xfrm>
          <a:prstGeom prst="rect">
            <a:avLst/>
          </a:prstGeom>
        </p:spPr>
        <p:txBody>
          <a:bodyPr wrap="square">
            <a:spAutoFit/>
          </a:bodyPr>
          <a:lstStyle/>
          <a:p>
            <a:r>
              <a:rPr lang="en-US">
                <a:solidFill>
                  <a:srgbClr val="0000FF"/>
                </a:solidFill>
                <a:latin typeface="Consolas" panose="020B0609020204030204" pitchFamily="49" charset="0"/>
              </a:rPr>
              <a:t>void</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Initialize</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STACK</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&amp;</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top</a:t>
            </a:r>
            <a:r>
              <a:rPr lang="en-US">
                <a:solidFill>
                  <a:srgbClr val="000000"/>
                </a:solidFill>
                <a:latin typeface="Consolas" panose="020B0609020204030204" pitchFamily="49" charset="0"/>
              </a:rPr>
              <a:t> = -</a:t>
            </a:r>
            <a:r>
              <a:rPr lang="en-US">
                <a:solidFill>
                  <a:srgbClr val="098658"/>
                </a:solidFill>
                <a:latin typeface="Consolas" panose="020B0609020204030204" pitchFamily="49" charset="0"/>
              </a:rPr>
              <a:t>1</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sp>
        <p:nvSpPr>
          <p:cNvPr id="10" name="Rectangle 9">
            <a:extLst>
              <a:ext uri="{FF2B5EF4-FFF2-40B4-BE49-F238E27FC236}">
                <a16:creationId xmlns:a16="http://schemas.microsoft.com/office/drawing/2014/main" id="{16999BA7-7485-48EB-9A92-61F2BF4D7817}"/>
              </a:ext>
            </a:extLst>
          </p:cNvPr>
          <p:cNvSpPr/>
          <p:nvPr/>
        </p:nvSpPr>
        <p:spPr>
          <a:xfrm>
            <a:off x="6984061" y="4899165"/>
            <a:ext cx="4915382" cy="1200329"/>
          </a:xfrm>
          <a:prstGeom prst="rect">
            <a:avLst/>
          </a:prstGeom>
        </p:spPr>
        <p:txBody>
          <a:bodyPr wrap="square">
            <a:spAutoFit/>
          </a:bodyPr>
          <a:lstStyle/>
          <a:p>
            <a:r>
              <a:rPr lang="en-US">
                <a:solidFill>
                  <a:srgbClr val="0000FF"/>
                </a:solidFill>
                <a:latin typeface="Consolas" panose="020B0609020204030204" pitchFamily="49" charset="0"/>
              </a:rPr>
              <a:t>void</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Initialize</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STACK</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&amp;</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pHead</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spTree>
    <p:extLst>
      <p:ext uri="{BB962C8B-B14F-4D97-AF65-F5344CB8AC3E}">
        <p14:creationId xmlns:p14="http://schemas.microsoft.com/office/powerpoint/2010/main" val="210670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71959E7-FAB0-4EF7-B95F-54DE37B41779}"/>
              </a:ext>
            </a:extLst>
          </p:cNvPr>
          <p:cNvPicPr>
            <a:picLocks noChangeAspect="1"/>
          </p:cNvPicPr>
          <p:nvPr/>
        </p:nvPicPr>
        <p:blipFill>
          <a:blip r:embed="rId2"/>
          <a:stretch>
            <a:fillRect/>
          </a:stretch>
        </p:blipFill>
        <p:spPr>
          <a:xfrm>
            <a:off x="2137532" y="1924110"/>
            <a:ext cx="2499025" cy="2790431"/>
          </a:xfrm>
          <a:prstGeom prst="rect">
            <a:avLst/>
          </a:prstGeom>
        </p:spPr>
      </p:pic>
      <p:sp>
        <p:nvSpPr>
          <p:cNvPr id="2" name="Title 1">
            <a:extLst>
              <a:ext uri="{FF2B5EF4-FFF2-40B4-BE49-F238E27FC236}">
                <a16:creationId xmlns:a16="http://schemas.microsoft.com/office/drawing/2014/main" id="{0E7D0209-0FEE-447E-BAAD-37EC2D5AA321}"/>
              </a:ext>
            </a:extLst>
          </p:cNvPr>
          <p:cNvSpPr>
            <a:spLocks noGrp="1"/>
          </p:cNvSpPr>
          <p:nvPr>
            <p:ph type="title"/>
          </p:nvPr>
        </p:nvSpPr>
        <p:spPr/>
        <p:txBody>
          <a:bodyPr/>
          <a:lstStyle/>
          <a:p>
            <a:r>
              <a:rPr lang="en-US"/>
              <a:t>Stack – Các thao tác c</a:t>
            </a:r>
            <a:r>
              <a:rPr lang="vi-VN"/>
              <a:t>ơ</a:t>
            </a:r>
            <a:r>
              <a:rPr lang="en-US"/>
              <a:t> bản</a:t>
            </a:r>
          </a:p>
        </p:txBody>
      </p:sp>
      <p:sp>
        <p:nvSpPr>
          <p:cNvPr id="15" name="Content Placeholder 14">
            <a:extLst>
              <a:ext uri="{FF2B5EF4-FFF2-40B4-BE49-F238E27FC236}">
                <a16:creationId xmlns:a16="http://schemas.microsoft.com/office/drawing/2014/main" id="{B41ECB51-03DC-4DD5-A4A7-A8DBD02E81DD}"/>
              </a:ext>
            </a:extLst>
          </p:cNvPr>
          <p:cNvSpPr>
            <a:spLocks noGrp="1"/>
          </p:cNvSpPr>
          <p:nvPr>
            <p:ph idx="1"/>
          </p:nvPr>
        </p:nvSpPr>
        <p:spPr/>
        <p:txBody>
          <a:bodyPr/>
          <a:lstStyle/>
          <a:p>
            <a:r>
              <a:rPr lang="en-AU" altLang="en-US">
                <a:solidFill>
                  <a:srgbClr val="001A4F"/>
                </a:solidFill>
              </a:rPr>
              <a:t>Kiểm tra Stack có rỗng hay không:</a:t>
            </a:r>
          </a:p>
          <a:p>
            <a:endParaRPr lang="en-US"/>
          </a:p>
        </p:txBody>
      </p:sp>
      <p:sp>
        <p:nvSpPr>
          <p:cNvPr id="3" name="Footer Placeholder 2">
            <a:extLst>
              <a:ext uri="{FF2B5EF4-FFF2-40B4-BE49-F238E27FC236}">
                <a16:creationId xmlns:a16="http://schemas.microsoft.com/office/drawing/2014/main" id="{BC4D0FB2-6699-436D-B471-83D8FB3160CF}"/>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4" name="Date Placeholder 3">
            <a:extLst>
              <a:ext uri="{FF2B5EF4-FFF2-40B4-BE49-F238E27FC236}">
                <a16:creationId xmlns:a16="http://schemas.microsoft.com/office/drawing/2014/main" id="{8A674750-8C19-4A6C-9B60-5F3CF218000C}"/>
              </a:ext>
            </a:extLst>
          </p:cNvPr>
          <p:cNvSpPr>
            <a:spLocks noGrp="1"/>
          </p:cNvSpPr>
          <p:nvPr>
            <p:ph type="dt" sz="half" idx="10"/>
          </p:nvPr>
        </p:nvSpPr>
        <p:spPr/>
        <p:txBody>
          <a:bodyPr/>
          <a:lstStyle/>
          <a:p>
            <a:fld id="{7F2036C0-FFB5-44D9-9ACC-905E14594FC9}" type="datetime1">
              <a:rPr lang="en-US" smtClean="0"/>
              <a:pPr/>
              <a:t>5/29/2021</a:t>
            </a:fld>
            <a:endParaRPr lang="en-US"/>
          </a:p>
        </p:txBody>
      </p:sp>
      <p:sp>
        <p:nvSpPr>
          <p:cNvPr id="5" name="Slide Number Placeholder 4">
            <a:extLst>
              <a:ext uri="{FF2B5EF4-FFF2-40B4-BE49-F238E27FC236}">
                <a16:creationId xmlns:a16="http://schemas.microsoft.com/office/drawing/2014/main" id="{B78BF4FB-E61B-4277-B629-101B3791DAD4}"/>
              </a:ext>
            </a:extLst>
          </p:cNvPr>
          <p:cNvSpPr>
            <a:spLocks noGrp="1"/>
          </p:cNvSpPr>
          <p:nvPr>
            <p:ph type="sldNum" sz="quarter" idx="12"/>
          </p:nvPr>
        </p:nvSpPr>
        <p:spPr/>
        <p:txBody>
          <a:bodyPr/>
          <a:lstStyle/>
          <a:p>
            <a:fld id="{21782F98-F548-4E33-958E-D2A6C4BA8EFA}" type="slidenum">
              <a:rPr lang="en-US" smtClean="0"/>
              <a:pPr/>
              <a:t>9</a:t>
            </a:fld>
            <a:endParaRPr lang="en-US"/>
          </a:p>
        </p:txBody>
      </p:sp>
      <p:sp>
        <p:nvSpPr>
          <p:cNvPr id="16" name="Rectangle 15">
            <a:extLst>
              <a:ext uri="{FF2B5EF4-FFF2-40B4-BE49-F238E27FC236}">
                <a16:creationId xmlns:a16="http://schemas.microsoft.com/office/drawing/2014/main" id="{5068DDE8-24DD-415A-8E7F-B55A77994322}"/>
              </a:ext>
            </a:extLst>
          </p:cNvPr>
          <p:cNvSpPr/>
          <p:nvPr/>
        </p:nvSpPr>
        <p:spPr>
          <a:xfrm>
            <a:off x="1520144" y="4509433"/>
            <a:ext cx="4105154" cy="1938992"/>
          </a:xfrm>
          <a:prstGeom prst="rect">
            <a:avLst/>
          </a:prstGeom>
        </p:spPr>
        <p:txBody>
          <a:bodyPr wrap="square">
            <a:spAutoFit/>
          </a:bodyPr>
          <a:lstStyle/>
          <a:p>
            <a:r>
              <a:rPr lang="en-US">
                <a:solidFill>
                  <a:srgbClr val="0000FF"/>
                </a:solidFill>
                <a:latin typeface="Consolas" panose="020B0609020204030204" pitchFamily="49" charset="0"/>
              </a:rPr>
              <a:t>bool</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IsEmpty</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STACK</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top</a:t>
            </a:r>
            <a:r>
              <a:rPr lang="en-US">
                <a:solidFill>
                  <a:srgbClr val="000000"/>
                </a:solidFill>
                <a:latin typeface="Consolas" panose="020B0609020204030204" pitchFamily="49" charset="0"/>
              </a:rPr>
              <a:t> == -</a:t>
            </a:r>
            <a:r>
              <a:rPr lang="en-US">
                <a:solidFill>
                  <a:srgbClr val="098658"/>
                </a:solidFill>
                <a:latin typeface="Consolas" panose="020B0609020204030204" pitchFamily="49" charset="0"/>
              </a:rPr>
              <a:t>1</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true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false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sp>
        <p:nvSpPr>
          <p:cNvPr id="17" name="Rectangle 16">
            <a:extLst>
              <a:ext uri="{FF2B5EF4-FFF2-40B4-BE49-F238E27FC236}">
                <a16:creationId xmlns:a16="http://schemas.microsoft.com/office/drawing/2014/main" id="{860F1AFA-2562-4DBC-BC6C-EDCD28815B2E}"/>
              </a:ext>
            </a:extLst>
          </p:cNvPr>
          <p:cNvSpPr/>
          <p:nvPr/>
        </p:nvSpPr>
        <p:spPr>
          <a:xfrm>
            <a:off x="6856072" y="4509433"/>
            <a:ext cx="4498694" cy="1938992"/>
          </a:xfrm>
          <a:prstGeom prst="rect">
            <a:avLst/>
          </a:prstGeom>
        </p:spPr>
        <p:txBody>
          <a:bodyPr wrap="square">
            <a:spAutoFit/>
          </a:bodyPr>
          <a:lstStyle/>
          <a:p>
            <a:r>
              <a:rPr lang="en-US">
                <a:solidFill>
                  <a:srgbClr val="0000FF"/>
                </a:solidFill>
                <a:latin typeface="Consolas" panose="020B0609020204030204" pitchFamily="49" charset="0"/>
              </a:rPr>
              <a:t>bool</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IsEmpty</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STACK</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pHead</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true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false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pic>
        <p:nvPicPr>
          <p:cNvPr id="19" name="Picture 3">
            <a:extLst>
              <a:ext uri="{FF2B5EF4-FFF2-40B4-BE49-F238E27FC236}">
                <a16:creationId xmlns:a16="http://schemas.microsoft.com/office/drawing/2014/main" id="{5C696C38-C926-44C1-8404-63B403B71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6138" y="3247371"/>
            <a:ext cx="1562100"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1481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D0209-0FEE-447E-BAAD-37EC2D5AA321}"/>
              </a:ext>
            </a:extLst>
          </p:cNvPr>
          <p:cNvSpPr>
            <a:spLocks noGrp="1"/>
          </p:cNvSpPr>
          <p:nvPr>
            <p:ph type="title"/>
          </p:nvPr>
        </p:nvSpPr>
        <p:spPr/>
        <p:txBody>
          <a:bodyPr/>
          <a:lstStyle/>
          <a:p>
            <a:r>
              <a:rPr lang="en-US"/>
              <a:t>Stack – Các thao tác c</a:t>
            </a:r>
            <a:r>
              <a:rPr lang="vi-VN"/>
              <a:t>ơ</a:t>
            </a:r>
            <a:r>
              <a:rPr lang="en-US"/>
              <a:t> bản</a:t>
            </a:r>
          </a:p>
        </p:txBody>
      </p:sp>
      <p:sp>
        <p:nvSpPr>
          <p:cNvPr id="15" name="Content Placeholder 14">
            <a:extLst>
              <a:ext uri="{FF2B5EF4-FFF2-40B4-BE49-F238E27FC236}">
                <a16:creationId xmlns:a16="http://schemas.microsoft.com/office/drawing/2014/main" id="{B41ECB51-03DC-4DD5-A4A7-A8DBD02E81DD}"/>
              </a:ext>
            </a:extLst>
          </p:cNvPr>
          <p:cNvSpPr>
            <a:spLocks noGrp="1"/>
          </p:cNvSpPr>
          <p:nvPr>
            <p:ph idx="1"/>
          </p:nvPr>
        </p:nvSpPr>
        <p:spPr/>
        <p:txBody>
          <a:bodyPr/>
          <a:lstStyle/>
          <a:p>
            <a:r>
              <a:rPr lang="vi-VN" altLang="en-US">
                <a:solidFill>
                  <a:srgbClr val="001A4F"/>
                </a:solidFill>
              </a:rPr>
              <a:t>Kiểm tra </a:t>
            </a:r>
            <a:r>
              <a:rPr lang="en-US" altLang="en-US">
                <a:solidFill>
                  <a:srgbClr val="001A4F"/>
                </a:solidFill>
              </a:rPr>
              <a:t>Stack </a:t>
            </a:r>
            <a:r>
              <a:rPr lang="vi-VN" altLang="en-US">
                <a:solidFill>
                  <a:srgbClr val="001A4F"/>
                </a:solidFill>
              </a:rPr>
              <a:t>có đầy hay chưa</a:t>
            </a:r>
            <a:r>
              <a:rPr lang="en-US" altLang="en-US">
                <a:solidFill>
                  <a:srgbClr val="001A4F"/>
                </a:solidFill>
              </a:rPr>
              <a:t>:</a:t>
            </a:r>
            <a:endParaRPr lang="en-AU" altLang="en-US">
              <a:solidFill>
                <a:srgbClr val="001A4F"/>
              </a:solidFill>
            </a:endParaRPr>
          </a:p>
          <a:p>
            <a:endParaRPr lang="en-US"/>
          </a:p>
        </p:txBody>
      </p:sp>
      <p:sp>
        <p:nvSpPr>
          <p:cNvPr id="3" name="Footer Placeholder 2">
            <a:extLst>
              <a:ext uri="{FF2B5EF4-FFF2-40B4-BE49-F238E27FC236}">
                <a16:creationId xmlns:a16="http://schemas.microsoft.com/office/drawing/2014/main" id="{BC4D0FB2-6699-436D-B471-83D8FB3160CF}"/>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4" name="Date Placeholder 3">
            <a:extLst>
              <a:ext uri="{FF2B5EF4-FFF2-40B4-BE49-F238E27FC236}">
                <a16:creationId xmlns:a16="http://schemas.microsoft.com/office/drawing/2014/main" id="{8A674750-8C19-4A6C-9B60-5F3CF218000C}"/>
              </a:ext>
            </a:extLst>
          </p:cNvPr>
          <p:cNvSpPr>
            <a:spLocks noGrp="1"/>
          </p:cNvSpPr>
          <p:nvPr>
            <p:ph type="dt" sz="half" idx="10"/>
          </p:nvPr>
        </p:nvSpPr>
        <p:spPr/>
        <p:txBody>
          <a:bodyPr/>
          <a:lstStyle/>
          <a:p>
            <a:fld id="{7F2036C0-FFB5-44D9-9ACC-905E14594FC9}" type="datetime1">
              <a:rPr lang="en-US" smtClean="0"/>
              <a:pPr/>
              <a:t>5/29/2021</a:t>
            </a:fld>
            <a:endParaRPr lang="en-US"/>
          </a:p>
        </p:txBody>
      </p:sp>
      <p:sp>
        <p:nvSpPr>
          <p:cNvPr id="5" name="Slide Number Placeholder 4">
            <a:extLst>
              <a:ext uri="{FF2B5EF4-FFF2-40B4-BE49-F238E27FC236}">
                <a16:creationId xmlns:a16="http://schemas.microsoft.com/office/drawing/2014/main" id="{B78BF4FB-E61B-4277-B629-101B3791DAD4}"/>
              </a:ext>
            </a:extLst>
          </p:cNvPr>
          <p:cNvSpPr>
            <a:spLocks noGrp="1"/>
          </p:cNvSpPr>
          <p:nvPr>
            <p:ph type="sldNum" sz="quarter" idx="12"/>
          </p:nvPr>
        </p:nvSpPr>
        <p:spPr/>
        <p:txBody>
          <a:bodyPr/>
          <a:lstStyle/>
          <a:p>
            <a:fld id="{21782F98-F548-4E33-958E-D2A6C4BA8EFA}" type="slidenum">
              <a:rPr lang="en-US" smtClean="0"/>
              <a:pPr/>
              <a:t>10</a:t>
            </a:fld>
            <a:endParaRPr lang="en-US"/>
          </a:p>
        </p:txBody>
      </p:sp>
      <p:sp>
        <p:nvSpPr>
          <p:cNvPr id="6" name="Rectangle 5">
            <a:extLst>
              <a:ext uri="{FF2B5EF4-FFF2-40B4-BE49-F238E27FC236}">
                <a16:creationId xmlns:a16="http://schemas.microsoft.com/office/drawing/2014/main" id="{2C269BF1-475A-452B-A3CB-BC49D49E8AB2}"/>
              </a:ext>
            </a:extLst>
          </p:cNvPr>
          <p:cNvSpPr/>
          <p:nvPr/>
        </p:nvSpPr>
        <p:spPr>
          <a:xfrm>
            <a:off x="4646851" y="2413382"/>
            <a:ext cx="6096000" cy="1938992"/>
          </a:xfrm>
          <a:prstGeom prst="rect">
            <a:avLst/>
          </a:prstGeom>
        </p:spPr>
        <p:txBody>
          <a:bodyPr>
            <a:spAutoFit/>
          </a:bodyPr>
          <a:lstStyle/>
          <a:p>
            <a:r>
              <a:rPr lang="en-US">
                <a:solidFill>
                  <a:srgbClr val="0000FF"/>
                </a:solidFill>
                <a:latin typeface="Consolas" panose="020B0609020204030204" pitchFamily="49" charset="0"/>
              </a:rPr>
              <a:t>bool</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IsFull</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STACK</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top</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a:t>
            </a:r>
            <a:r>
              <a:rPr lang="en-US">
                <a:solidFill>
                  <a:srgbClr val="000000"/>
                </a:solidFill>
                <a:latin typeface="Consolas" panose="020B0609020204030204" pitchFamily="49" charset="0"/>
              </a:rPr>
              <a:t> - </a:t>
            </a:r>
            <a:r>
              <a:rPr lang="en-US">
                <a:solidFill>
                  <a:srgbClr val="098658"/>
                </a:solidFill>
                <a:latin typeface="Consolas" panose="020B0609020204030204" pitchFamily="49" charset="0"/>
              </a:rPr>
              <a:t>1</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true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false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pic>
        <p:nvPicPr>
          <p:cNvPr id="7" name="Picture 6">
            <a:extLst>
              <a:ext uri="{FF2B5EF4-FFF2-40B4-BE49-F238E27FC236}">
                <a16:creationId xmlns:a16="http://schemas.microsoft.com/office/drawing/2014/main" id="{88F56132-4179-4E97-8ED4-091674E1EF77}"/>
              </a:ext>
            </a:extLst>
          </p:cNvPr>
          <p:cNvPicPr>
            <a:picLocks noChangeAspect="1"/>
          </p:cNvPicPr>
          <p:nvPr/>
        </p:nvPicPr>
        <p:blipFill>
          <a:blip r:embed="rId2"/>
          <a:stretch>
            <a:fillRect/>
          </a:stretch>
        </p:blipFill>
        <p:spPr>
          <a:xfrm>
            <a:off x="1541965" y="2092240"/>
            <a:ext cx="2533650" cy="2581275"/>
          </a:xfrm>
          <a:prstGeom prst="rect">
            <a:avLst/>
          </a:prstGeom>
        </p:spPr>
      </p:pic>
    </p:spTree>
    <p:extLst>
      <p:ext uri="{BB962C8B-B14F-4D97-AF65-F5344CB8AC3E}">
        <p14:creationId xmlns:p14="http://schemas.microsoft.com/office/powerpoint/2010/main" val="975087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ACA263-E167-4C0E-8BAE-E64BADF7A236}"/>
              </a:ext>
            </a:extLst>
          </p:cNvPr>
          <p:cNvPicPr>
            <a:picLocks noChangeAspect="1"/>
          </p:cNvPicPr>
          <p:nvPr/>
        </p:nvPicPr>
        <p:blipFill>
          <a:blip r:embed="rId2"/>
          <a:stretch>
            <a:fillRect/>
          </a:stretch>
        </p:blipFill>
        <p:spPr>
          <a:xfrm>
            <a:off x="1651924" y="1921540"/>
            <a:ext cx="3448050" cy="1990725"/>
          </a:xfrm>
          <a:prstGeom prst="rect">
            <a:avLst/>
          </a:prstGeom>
        </p:spPr>
      </p:pic>
      <p:sp>
        <p:nvSpPr>
          <p:cNvPr id="2" name="Title 1">
            <a:extLst>
              <a:ext uri="{FF2B5EF4-FFF2-40B4-BE49-F238E27FC236}">
                <a16:creationId xmlns:a16="http://schemas.microsoft.com/office/drawing/2014/main" id="{0E7D0209-0FEE-447E-BAAD-37EC2D5AA321}"/>
              </a:ext>
            </a:extLst>
          </p:cNvPr>
          <p:cNvSpPr>
            <a:spLocks noGrp="1"/>
          </p:cNvSpPr>
          <p:nvPr>
            <p:ph type="title"/>
          </p:nvPr>
        </p:nvSpPr>
        <p:spPr/>
        <p:txBody>
          <a:bodyPr/>
          <a:lstStyle/>
          <a:p>
            <a:r>
              <a:rPr lang="en-US"/>
              <a:t>Stack – Các thao tác c</a:t>
            </a:r>
            <a:r>
              <a:rPr lang="vi-VN"/>
              <a:t>ơ</a:t>
            </a:r>
            <a:r>
              <a:rPr lang="en-US"/>
              <a:t> bản</a:t>
            </a:r>
          </a:p>
        </p:txBody>
      </p:sp>
      <p:sp>
        <p:nvSpPr>
          <p:cNvPr id="15" name="Content Placeholder 14">
            <a:extLst>
              <a:ext uri="{FF2B5EF4-FFF2-40B4-BE49-F238E27FC236}">
                <a16:creationId xmlns:a16="http://schemas.microsoft.com/office/drawing/2014/main" id="{B41ECB51-03DC-4DD5-A4A7-A8DBD02E81DD}"/>
              </a:ext>
            </a:extLst>
          </p:cNvPr>
          <p:cNvSpPr>
            <a:spLocks noGrp="1"/>
          </p:cNvSpPr>
          <p:nvPr>
            <p:ph idx="1"/>
          </p:nvPr>
        </p:nvSpPr>
        <p:spPr/>
        <p:txBody>
          <a:bodyPr/>
          <a:lstStyle/>
          <a:p>
            <a:r>
              <a:rPr lang="en-AU" altLang="en-US">
                <a:solidFill>
                  <a:srgbClr val="001A4F"/>
                </a:solidFill>
              </a:rPr>
              <a:t>Thêm một phần tử vào đỉnh Stack:</a:t>
            </a:r>
            <a:endParaRPr lang="en-US"/>
          </a:p>
        </p:txBody>
      </p:sp>
      <p:sp>
        <p:nvSpPr>
          <p:cNvPr id="3" name="Footer Placeholder 2">
            <a:extLst>
              <a:ext uri="{FF2B5EF4-FFF2-40B4-BE49-F238E27FC236}">
                <a16:creationId xmlns:a16="http://schemas.microsoft.com/office/drawing/2014/main" id="{BC4D0FB2-6699-436D-B471-83D8FB3160CF}"/>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4" name="Date Placeholder 3">
            <a:extLst>
              <a:ext uri="{FF2B5EF4-FFF2-40B4-BE49-F238E27FC236}">
                <a16:creationId xmlns:a16="http://schemas.microsoft.com/office/drawing/2014/main" id="{8A674750-8C19-4A6C-9B60-5F3CF218000C}"/>
              </a:ext>
            </a:extLst>
          </p:cNvPr>
          <p:cNvSpPr>
            <a:spLocks noGrp="1"/>
          </p:cNvSpPr>
          <p:nvPr>
            <p:ph type="dt" sz="half" idx="10"/>
          </p:nvPr>
        </p:nvSpPr>
        <p:spPr/>
        <p:txBody>
          <a:bodyPr/>
          <a:lstStyle/>
          <a:p>
            <a:fld id="{7F2036C0-FFB5-44D9-9ACC-905E14594FC9}" type="datetime1">
              <a:rPr lang="en-US" smtClean="0"/>
              <a:pPr/>
              <a:t>5/29/2021</a:t>
            </a:fld>
            <a:endParaRPr lang="en-US"/>
          </a:p>
        </p:txBody>
      </p:sp>
      <p:sp>
        <p:nvSpPr>
          <p:cNvPr id="5" name="Slide Number Placeholder 4">
            <a:extLst>
              <a:ext uri="{FF2B5EF4-FFF2-40B4-BE49-F238E27FC236}">
                <a16:creationId xmlns:a16="http://schemas.microsoft.com/office/drawing/2014/main" id="{B78BF4FB-E61B-4277-B629-101B3791DAD4}"/>
              </a:ext>
            </a:extLst>
          </p:cNvPr>
          <p:cNvSpPr>
            <a:spLocks noGrp="1"/>
          </p:cNvSpPr>
          <p:nvPr>
            <p:ph type="sldNum" sz="quarter" idx="12"/>
          </p:nvPr>
        </p:nvSpPr>
        <p:spPr/>
        <p:txBody>
          <a:bodyPr/>
          <a:lstStyle/>
          <a:p>
            <a:fld id="{21782F98-F548-4E33-958E-D2A6C4BA8EFA}" type="slidenum">
              <a:rPr lang="en-US" smtClean="0"/>
              <a:pPr/>
              <a:t>11</a:t>
            </a:fld>
            <a:endParaRPr lang="en-US"/>
          </a:p>
        </p:txBody>
      </p:sp>
      <p:sp>
        <p:nvSpPr>
          <p:cNvPr id="6" name="Rectangle 5">
            <a:extLst>
              <a:ext uri="{FF2B5EF4-FFF2-40B4-BE49-F238E27FC236}">
                <a16:creationId xmlns:a16="http://schemas.microsoft.com/office/drawing/2014/main" id="{BBA7BD46-7C9E-474D-B168-235EF31606D4}"/>
              </a:ext>
            </a:extLst>
          </p:cNvPr>
          <p:cNvSpPr/>
          <p:nvPr/>
        </p:nvSpPr>
        <p:spPr>
          <a:xfrm>
            <a:off x="1536379" y="3912265"/>
            <a:ext cx="5135301" cy="2554545"/>
          </a:xfrm>
          <a:prstGeom prst="rect">
            <a:avLst/>
          </a:prstGeom>
        </p:spPr>
        <p:txBody>
          <a:bodyPr wrap="square">
            <a:spAutoFit/>
          </a:bodyPr>
          <a:lstStyle/>
          <a:p>
            <a:r>
              <a:rPr lang="en-US" sz="2000">
                <a:solidFill>
                  <a:srgbClr val="0000FF"/>
                </a:solidFill>
                <a:latin typeface="Consolas" panose="020B0609020204030204" pitchFamily="49" charset="0"/>
              </a:rPr>
              <a:t>bool</a:t>
            </a:r>
            <a:r>
              <a:rPr lang="en-US" sz="2000">
                <a:solidFill>
                  <a:srgbClr val="000000"/>
                </a:solidFill>
                <a:latin typeface="Consolas" panose="020B0609020204030204" pitchFamily="49" charset="0"/>
              </a:rPr>
              <a:t> </a:t>
            </a:r>
            <a:r>
              <a:rPr lang="en-US" sz="2000">
                <a:solidFill>
                  <a:srgbClr val="795E26"/>
                </a:solidFill>
                <a:latin typeface="Consolas" panose="020B0609020204030204" pitchFamily="49" charset="0"/>
              </a:rPr>
              <a:t>Push</a:t>
            </a:r>
            <a:r>
              <a:rPr lang="en-US" sz="2000">
                <a:solidFill>
                  <a:srgbClr val="000000"/>
                </a:solidFill>
                <a:latin typeface="Consolas" panose="020B0609020204030204" pitchFamily="49" charset="0"/>
              </a:rPr>
              <a:t>(</a:t>
            </a:r>
            <a:r>
              <a:rPr lang="en-US" sz="2000">
                <a:solidFill>
                  <a:srgbClr val="267F99"/>
                </a:solidFill>
                <a:latin typeface="Consolas" panose="020B0609020204030204" pitchFamily="49" charset="0"/>
              </a:rPr>
              <a:t>STACK</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&amp;</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if</a:t>
            </a:r>
            <a:r>
              <a:rPr lang="en-US" sz="2000">
                <a:solidFill>
                  <a:srgbClr val="000000"/>
                </a:solidFill>
                <a:latin typeface="Consolas" panose="020B0609020204030204" pitchFamily="49" charset="0"/>
              </a:rPr>
              <a:t> ( !</a:t>
            </a:r>
            <a:r>
              <a:rPr lang="en-US" sz="2000">
                <a:solidFill>
                  <a:srgbClr val="795E26"/>
                </a:solidFill>
                <a:latin typeface="Consolas" panose="020B0609020204030204" pitchFamily="49" charset="0"/>
              </a:rPr>
              <a:t>IsFull</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 ) {</a:t>
            </a:r>
          </a:p>
          <a:p>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top</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a</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top</a:t>
            </a:r>
            <a:r>
              <a:rPr lang="en-US" sz="2000">
                <a:solidFill>
                  <a:srgbClr val="000000"/>
                </a:solidFill>
                <a:latin typeface="Consolas" panose="020B0609020204030204" pitchFamily="49" charset="0"/>
              </a:rPr>
              <a:t>] =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true</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false</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a:t>
            </a:r>
          </a:p>
        </p:txBody>
      </p:sp>
      <p:sp>
        <p:nvSpPr>
          <p:cNvPr id="7" name="Rectangle 6">
            <a:extLst>
              <a:ext uri="{FF2B5EF4-FFF2-40B4-BE49-F238E27FC236}">
                <a16:creationId xmlns:a16="http://schemas.microsoft.com/office/drawing/2014/main" id="{E36C60A8-9B24-4250-8DC8-6E45B98AD0E0}"/>
              </a:ext>
            </a:extLst>
          </p:cNvPr>
          <p:cNvSpPr/>
          <p:nvPr/>
        </p:nvSpPr>
        <p:spPr>
          <a:xfrm>
            <a:off x="6671680" y="3913198"/>
            <a:ext cx="5297347" cy="1938992"/>
          </a:xfrm>
          <a:prstGeom prst="rect">
            <a:avLst/>
          </a:prstGeom>
        </p:spPr>
        <p:txBody>
          <a:bodyPr wrap="square">
            <a:spAutoFit/>
          </a:bodyPr>
          <a:lstStyle/>
          <a:p>
            <a:r>
              <a:rPr lang="en-US" sz="2000">
                <a:solidFill>
                  <a:srgbClr val="0000FF"/>
                </a:solidFill>
                <a:latin typeface="Consolas" panose="020B0609020204030204" pitchFamily="49" charset="0"/>
              </a:rPr>
              <a:t>bool</a:t>
            </a:r>
            <a:r>
              <a:rPr lang="en-US" sz="2000">
                <a:solidFill>
                  <a:srgbClr val="000000"/>
                </a:solidFill>
                <a:latin typeface="Consolas" panose="020B0609020204030204" pitchFamily="49" charset="0"/>
              </a:rPr>
              <a:t> </a:t>
            </a:r>
            <a:r>
              <a:rPr lang="en-US" sz="2000">
                <a:solidFill>
                  <a:srgbClr val="795E26"/>
                </a:solidFill>
                <a:latin typeface="Consolas" panose="020B0609020204030204" pitchFamily="49" charset="0"/>
              </a:rPr>
              <a:t>Push</a:t>
            </a:r>
            <a:r>
              <a:rPr lang="en-US" sz="2000">
                <a:solidFill>
                  <a:srgbClr val="000000"/>
                </a:solidFill>
                <a:latin typeface="Consolas" panose="020B0609020204030204" pitchFamily="49" charset="0"/>
              </a:rPr>
              <a:t>(</a:t>
            </a:r>
            <a:r>
              <a:rPr lang="en-US" sz="2000">
                <a:solidFill>
                  <a:srgbClr val="267F99"/>
                </a:solidFill>
                <a:latin typeface="Consolas" panose="020B0609020204030204" pitchFamily="49" charset="0"/>
              </a:rPr>
              <a:t>STACK</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&amp;</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NODE</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p</a:t>
            </a:r>
            <a:r>
              <a:rPr lang="en-US" sz="2000">
                <a:solidFill>
                  <a:srgbClr val="000000"/>
                </a:solidFill>
                <a:latin typeface="Consolas" panose="020B0609020204030204" pitchFamily="49" charset="0"/>
              </a:rPr>
              <a:t> = </a:t>
            </a:r>
            <a:r>
              <a:rPr lang="en-US" sz="2000">
                <a:solidFill>
                  <a:srgbClr val="795E26"/>
                </a:solidFill>
                <a:latin typeface="Consolas" panose="020B0609020204030204" pitchFamily="49" charset="0"/>
              </a:rPr>
              <a:t>InsertHead</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if</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p</a:t>
            </a:r>
            <a:r>
              <a:rPr lang="en-US" sz="2000">
                <a:solidFill>
                  <a:srgbClr val="000000"/>
                </a:solidFill>
                <a:latin typeface="Consolas" panose="020B0609020204030204" pitchFamily="49" charset="0"/>
              </a:rPr>
              <a:t> != </a:t>
            </a:r>
            <a:r>
              <a:rPr lang="en-US" sz="2000">
                <a:solidFill>
                  <a:srgbClr val="0000FF"/>
                </a:solidFill>
                <a:latin typeface="Consolas" panose="020B0609020204030204" pitchFamily="49" charset="0"/>
              </a:rPr>
              <a:t>NULL</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true</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false</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a:t>
            </a:r>
          </a:p>
        </p:txBody>
      </p:sp>
      <p:pic>
        <p:nvPicPr>
          <p:cNvPr id="10" name="Picture 3">
            <a:extLst>
              <a:ext uri="{FF2B5EF4-FFF2-40B4-BE49-F238E27FC236}">
                <a16:creationId xmlns:a16="http://schemas.microsoft.com/office/drawing/2014/main" id="{847E0033-7F64-472F-8430-3B9841DEF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1680" y="2043113"/>
            <a:ext cx="3246438"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2732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2601F76-E5DF-4367-BC06-3F73A047DAEA}"/>
              </a:ext>
            </a:extLst>
          </p:cNvPr>
          <p:cNvPicPr>
            <a:picLocks noChangeAspect="1"/>
          </p:cNvPicPr>
          <p:nvPr/>
        </p:nvPicPr>
        <p:blipFill>
          <a:blip r:embed="rId2"/>
          <a:stretch>
            <a:fillRect/>
          </a:stretch>
        </p:blipFill>
        <p:spPr>
          <a:xfrm>
            <a:off x="1676001" y="1935420"/>
            <a:ext cx="3533775" cy="2057400"/>
          </a:xfrm>
          <a:prstGeom prst="rect">
            <a:avLst/>
          </a:prstGeom>
        </p:spPr>
      </p:pic>
      <p:sp>
        <p:nvSpPr>
          <p:cNvPr id="2" name="Title 1">
            <a:extLst>
              <a:ext uri="{FF2B5EF4-FFF2-40B4-BE49-F238E27FC236}">
                <a16:creationId xmlns:a16="http://schemas.microsoft.com/office/drawing/2014/main" id="{0E7D0209-0FEE-447E-BAAD-37EC2D5AA321}"/>
              </a:ext>
            </a:extLst>
          </p:cNvPr>
          <p:cNvSpPr>
            <a:spLocks noGrp="1"/>
          </p:cNvSpPr>
          <p:nvPr>
            <p:ph type="title"/>
          </p:nvPr>
        </p:nvSpPr>
        <p:spPr/>
        <p:txBody>
          <a:bodyPr/>
          <a:lstStyle/>
          <a:p>
            <a:r>
              <a:rPr lang="en-US"/>
              <a:t>Stack – Các thao tác c</a:t>
            </a:r>
            <a:r>
              <a:rPr lang="vi-VN"/>
              <a:t>ơ</a:t>
            </a:r>
            <a:r>
              <a:rPr lang="en-US"/>
              <a:t> bản</a:t>
            </a:r>
          </a:p>
        </p:txBody>
      </p:sp>
      <p:sp>
        <p:nvSpPr>
          <p:cNvPr id="15" name="Content Placeholder 14">
            <a:extLst>
              <a:ext uri="{FF2B5EF4-FFF2-40B4-BE49-F238E27FC236}">
                <a16:creationId xmlns:a16="http://schemas.microsoft.com/office/drawing/2014/main" id="{B41ECB51-03DC-4DD5-A4A7-A8DBD02E81DD}"/>
              </a:ext>
            </a:extLst>
          </p:cNvPr>
          <p:cNvSpPr>
            <a:spLocks noGrp="1"/>
          </p:cNvSpPr>
          <p:nvPr>
            <p:ph idx="1"/>
          </p:nvPr>
        </p:nvSpPr>
        <p:spPr/>
        <p:txBody>
          <a:bodyPr/>
          <a:lstStyle/>
          <a:p>
            <a:r>
              <a:rPr lang="en-AU" altLang="en-US">
                <a:solidFill>
                  <a:srgbClr val="001A4F"/>
                </a:solidFill>
              </a:rPr>
              <a:t>Lấy một phần tử khỏi đỉnh Stack:</a:t>
            </a:r>
          </a:p>
          <a:p>
            <a:endParaRPr lang="en-US"/>
          </a:p>
        </p:txBody>
      </p:sp>
      <p:sp>
        <p:nvSpPr>
          <p:cNvPr id="3" name="Footer Placeholder 2">
            <a:extLst>
              <a:ext uri="{FF2B5EF4-FFF2-40B4-BE49-F238E27FC236}">
                <a16:creationId xmlns:a16="http://schemas.microsoft.com/office/drawing/2014/main" id="{BC4D0FB2-6699-436D-B471-83D8FB3160CF}"/>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4" name="Date Placeholder 3">
            <a:extLst>
              <a:ext uri="{FF2B5EF4-FFF2-40B4-BE49-F238E27FC236}">
                <a16:creationId xmlns:a16="http://schemas.microsoft.com/office/drawing/2014/main" id="{8A674750-8C19-4A6C-9B60-5F3CF218000C}"/>
              </a:ext>
            </a:extLst>
          </p:cNvPr>
          <p:cNvSpPr>
            <a:spLocks noGrp="1"/>
          </p:cNvSpPr>
          <p:nvPr>
            <p:ph type="dt" sz="half" idx="10"/>
          </p:nvPr>
        </p:nvSpPr>
        <p:spPr/>
        <p:txBody>
          <a:bodyPr/>
          <a:lstStyle/>
          <a:p>
            <a:fld id="{7F2036C0-FFB5-44D9-9ACC-905E14594FC9}" type="datetime1">
              <a:rPr lang="en-US" smtClean="0"/>
              <a:pPr/>
              <a:t>5/29/2021</a:t>
            </a:fld>
            <a:endParaRPr lang="en-US"/>
          </a:p>
        </p:txBody>
      </p:sp>
      <p:sp>
        <p:nvSpPr>
          <p:cNvPr id="5" name="Slide Number Placeholder 4">
            <a:extLst>
              <a:ext uri="{FF2B5EF4-FFF2-40B4-BE49-F238E27FC236}">
                <a16:creationId xmlns:a16="http://schemas.microsoft.com/office/drawing/2014/main" id="{B78BF4FB-E61B-4277-B629-101B3791DAD4}"/>
              </a:ext>
            </a:extLst>
          </p:cNvPr>
          <p:cNvSpPr>
            <a:spLocks noGrp="1"/>
          </p:cNvSpPr>
          <p:nvPr>
            <p:ph type="sldNum" sz="quarter" idx="12"/>
          </p:nvPr>
        </p:nvSpPr>
        <p:spPr/>
        <p:txBody>
          <a:bodyPr/>
          <a:lstStyle/>
          <a:p>
            <a:fld id="{21782F98-F548-4E33-958E-D2A6C4BA8EFA}" type="slidenum">
              <a:rPr lang="en-US" smtClean="0"/>
              <a:pPr/>
              <a:t>12</a:t>
            </a:fld>
            <a:endParaRPr lang="en-US"/>
          </a:p>
        </p:txBody>
      </p:sp>
      <p:sp>
        <p:nvSpPr>
          <p:cNvPr id="7" name="Rectangle 6">
            <a:extLst>
              <a:ext uri="{FF2B5EF4-FFF2-40B4-BE49-F238E27FC236}">
                <a16:creationId xmlns:a16="http://schemas.microsoft.com/office/drawing/2014/main" id="{D2A067BD-36D1-4B79-9547-5D5BC9D0CCE1}"/>
              </a:ext>
            </a:extLst>
          </p:cNvPr>
          <p:cNvSpPr/>
          <p:nvPr/>
        </p:nvSpPr>
        <p:spPr>
          <a:xfrm>
            <a:off x="1601165" y="3893880"/>
            <a:ext cx="4190034" cy="2554545"/>
          </a:xfrm>
          <a:prstGeom prst="rect">
            <a:avLst/>
          </a:prstGeom>
        </p:spPr>
        <p:txBody>
          <a:bodyPr wrap="square">
            <a:spAutoFit/>
          </a:bodyPr>
          <a:lstStyle/>
          <a:p>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795E26"/>
                </a:solidFill>
                <a:latin typeface="Consolas" panose="020B0609020204030204" pitchFamily="49" charset="0"/>
              </a:rPr>
              <a:t>Pop</a:t>
            </a:r>
            <a:r>
              <a:rPr lang="en-US" sz="2000">
                <a:solidFill>
                  <a:srgbClr val="000000"/>
                </a:solidFill>
                <a:latin typeface="Consolas" panose="020B0609020204030204" pitchFamily="49" charset="0"/>
              </a:rPr>
              <a:t>(</a:t>
            </a:r>
            <a:r>
              <a:rPr lang="en-US" sz="2000">
                <a:solidFill>
                  <a:srgbClr val="267F99"/>
                </a:solidFill>
                <a:latin typeface="Consolas" panose="020B0609020204030204" pitchFamily="49" charset="0"/>
              </a:rPr>
              <a:t>STACK</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&amp;</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if</a:t>
            </a:r>
            <a:r>
              <a:rPr lang="en-US" sz="2000">
                <a:solidFill>
                  <a:srgbClr val="000000"/>
                </a:solidFill>
                <a:latin typeface="Consolas" panose="020B0609020204030204" pitchFamily="49" charset="0"/>
              </a:rPr>
              <a:t> ( !</a:t>
            </a:r>
            <a:r>
              <a:rPr lang="en-US" sz="2000">
                <a:solidFill>
                  <a:srgbClr val="795E26"/>
                </a:solidFill>
                <a:latin typeface="Consolas" panose="020B0609020204030204" pitchFamily="49" charset="0"/>
              </a:rPr>
              <a:t>IsEmpty</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 ) {</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 = </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a</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top</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top</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NULL</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a:t>
            </a:r>
          </a:p>
        </p:txBody>
      </p:sp>
      <p:sp>
        <p:nvSpPr>
          <p:cNvPr id="8" name="Rectangle 7">
            <a:extLst>
              <a:ext uri="{FF2B5EF4-FFF2-40B4-BE49-F238E27FC236}">
                <a16:creationId xmlns:a16="http://schemas.microsoft.com/office/drawing/2014/main" id="{5BC03791-ADED-4D7D-9A07-FEB9FAB1FDBA}"/>
              </a:ext>
            </a:extLst>
          </p:cNvPr>
          <p:cNvSpPr/>
          <p:nvPr/>
        </p:nvSpPr>
        <p:spPr>
          <a:xfrm>
            <a:off x="7219902" y="3893880"/>
            <a:ext cx="4579717" cy="2554545"/>
          </a:xfrm>
          <a:prstGeom prst="rect">
            <a:avLst/>
          </a:prstGeom>
        </p:spPr>
        <p:txBody>
          <a:bodyPr wrap="square">
            <a:spAutoFit/>
          </a:bodyPr>
          <a:lstStyle/>
          <a:p>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795E26"/>
                </a:solidFill>
                <a:latin typeface="Consolas" panose="020B0609020204030204" pitchFamily="49" charset="0"/>
              </a:rPr>
              <a:t>Pop</a:t>
            </a:r>
            <a:r>
              <a:rPr lang="en-US" sz="2000">
                <a:solidFill>
                  <a:srgbClr val="000000"/>
                </a:solidFill>
                <a:latin typeface="Consolas" panose="020B0609020204030204" pitchFamily="49" charset="0"/>
              </a:rPr>
              <a:t>(</a:t>
            </a:r>
            <a:r>
              <a:rPr lang="en-US" sz="2000">
                <a:solidFill>
                  <a:srgbClr val="267F99"/>
                </a:solidFill>
                <a:latin typeface="Consolas" panose="020B0609020204030204" pitchFamily="49" charset="0"/>
              </a:rPr>
              <a:t>STACK</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&amp;</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if</a:t>
            </a:r>
            <a:r>
              <a:rPr lang="en-US" sz="2000">
                <a:solidFill>
                  <a:srgbClr val="000000"/>
                </a:solidFill>
                <a:latin typeface="Consolas" panose="020B0609020204030204" pitchFamily="49" charset="0"/>
              </a:rPr>
              <a:t> ( !</a:t>
            </a:r>
            <a:r>
              <a:rPr lang="en-US" sz="2000">
                <a:solidFill>
                  <a:srgbClr val="795E26"/>
                </a:solidFill>
                <a:latin typeface="Consolas" panose="020B0609020204030204" pitchFamily="49" charset="0"/>
              </a:rPr>
              <a:t>IsEmpty</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 ) {</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 = </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pHead</a:t>
            </a:r>
            <a:r>
              <a:rPr lang="en-US" sz="2000">
                <a:solidFill>
                  <a:srgbClr val="000000"/>
                </a:solidFill>
                <a:latin typeface="Consolas" panose="020B0609020204030204" pitchFamily="49" charset="0"/>
              </a:rPr>
              <a:t>-&gt;</a:t>
            </a:r>
            <a:r>
              <a:rPr lang="en-US" sz="2000">
                <a:solidFill>
                  <a:srgbClr val="001080"/>
                </a:solidFill>
                <a:latin typeface="Consolas" panose="020B0609020204030204" pitchFamily="49" charset="0"/>
              </a:rPr>
              <a:t>info</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795E26"/>
                </a:solidFill>
                <a:latin typeface="Consolas" panose="020B0609020204030204" pitchFamily="49" charset="0"/>
              </a:rPr>
              <a:t>DeleteHead</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s</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NULL</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a:t>
            </a:r>
          </a:p>
        </p:txBody>
      </p:sp>
      <p:pic>
        <p:nvPicPr>
          <p:cNvPr id="11" name="Picture 3">
            <a:extLst>
              <a:ext uri="{FF2B5EF4-FFF2-40B4-BE49-F238E27FC236}">
                <a16:creationId xmlns:a16="http://schemas.microsoft.com/office/drawing/2014/main" id="{3B4756F3-3836-45A5-A3CA-6640E2C68D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4400" y="1947605"/>
            <a:ext cx="3340100" cy="194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1217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D0209-0FEE-447E-BAAD-37EC2D5AA321}"/>
              </a:ext>
            </a:extLst>
          </p:cNvPr>
          <p:cNvSpPr>
            <a:spLocks noGrp="1"/>
          </p:cNvSpPr>
          <p:nvPr>
            <p:ph type="title"/>
          </p:nvPr>
        </p:nvSpPr>
        <p:spPr/>
        <p:txBody>
          <a:bodyPr/>
          <a:lstStyle/>
          <a:p>
            <a:r>
              <a:rPr lang="en-US"/>
              <a:t>Stack – Các thao tác c</a:t>
            </a:r>
            <a:r>
              <a:rPr lang="vi-VN"/>
              <a:t>ơ</a:t>
            </a:r>
            <a:r>
              <a:rPr lang="en-US"/>
              <a:t> bản</a:t>
            </a:r>
          </a:p>
        </p:txBody>
      </p:sp>
      <p:sp>
        <p:nvSpPr>
          <p:cNvPr id="15" name="Content Placeholder 14">
            <a:extLst>
              <a:ext uri="{FF2B5EF4-FFF2-40B4-BE49-F238E27FC236}">
                <a16:creationId xmlns:a16="http://schemas.microsoft.com/office/drawing/2014/main" id="{B41ECB51-03DC-4DD5-A4A7-A8DBD02E81DD}"/>
              </a:ext>
            </a:extLst>
          </p:cNvPr>
          <p:cNvSpPr>
            <a:spLocks noGrp="1"/>
          </p:cNvSpPr>
          <p:nvPr>
            <p:ph idx="1"/>
          </p:nvPr>
        </p:nvSpPr>
        <p:spPr/>
        <p:txBody>
          <a:bodyPr/>
          <a:lstStyle/>
          <a:p>
            <a:r>
              <a:rPr lang="en-AU" altLang="en-US">
                <a:solidFill>
                  <a:srgbClr val="001A4F"/>
                </a:solidFill>
              </a:rPr>
              <a:t>Xem thông tin của phần tử ở đỉnh Stack</a:t>
            </a:r>
            <a:r>
              <a:rPr lang="en-US" altLang="en-US">
                <a:solidFill>
                  <a:srgbClr val="001A4F"/>
                </a:solidFill>
              </a:rPr>
              <a:t>:</a:t>
            </a:r>
            <a:endParaRPr lang="en-AU" altLang="en-US">
              <a:solidFill>
                <a:srgbClr val="001A4F"/>
              </a:solidFill>
            </a:endParaRPr>
          </a:p>
        </p:txBody>
      </p:sp>
      <p:sp>
        <p:nvSpPr>
          <p:cNvPr id="3" name="Footer Placeholder 2">
            <a:extLst>
              <a:ext uri="{FF2B5EF4-FFF2-40B4-BE49-F238E27FC236}">
                <a16:creationId xmlns:a16="http://schemas.microsoft.com/office/drawing/2014/main" id="{BC4D0FB2-6699-436D-B471-83D8FB3160CF}"/>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4" name="Date Placeholder 3">
            <a:extLst>
              <a:ext uri="{FF2B5EF4-FFF2-40B4-BE49-F238E27FC236}">
                <a16:creationId xmlns:a16="http://schemas.microsoft.com/office/drawing/2014/main" id="{8A674750-8C19-4A6C-9B60-5F3CF218000C}"/>
              </a:ext>
            </a:extLst>
          </p:cNvPr>
          <p:cNvSpPr>
            <a:spLocks noGrp="1"/>
          </p:cNvSpPr>
          <p:nvPr>
            <p:ph type="dt" sz="half" idx="10"/>
          </p:nvPr>
        </p:nvSpPr>
        <p:spPr/>
        <p:txBody>
          <a:bodyPr/>
          <a:lstStyle/>
          <a:p>
            <a:fld id="{7F2036C0-FFB5-44D9-9ACC-905E14594FC9}" type="datetime1">
              <a:rPr lang="en-US" smtClean="0"/>
              <a:pPr/>
              <a:t>5/29/2021</a:t>
            </a:fld>
            <a:endParaRPr lang="en-US"/>
          </a:p>
        </p:txBody>
      </p:sp>
      <p:sp>
        <p:nvSpPr>
          <p:cNvPr id="5" name="Slide Number Placeholder 4">
            <a:extLst>
              <a:ext uri="{FF2B5EF4-FFF2-40B4-BE49-F238E27FC236}">
                <a16:creationId xmlns:a16="http://schemas.microsoft.com/office/drawing/2014/main" id="{B78BF4FB-E61B-4277-B629-101B3791DAD4}"/>
              </a:ext>
            </a:extLst>
          </p:cNvPr>
          <p:cNvSpPr>
            <a:spLocks noGrp="1"/>
          </p:cNvSpPr>
          <p:nvPr>
            <p:ph type="sldNum" sz="quarter" idx="12"/>
          </p:nvPr>
        </p:nvSpPr>
        <p:spPr/>
        <p:txBody>
          <a:bodyPr/>
          <a:lstStyle/>
          <a:p>
            <a:fld id="{21782F98-F548-4E33-958E-D2A6C4BA8EFA}" type="slidenum">
              <a:rPr lang="en-US" smtClean="0"/>
              <a:pPr/>
              <a:t>13</a:t>
            </a:fld>
            <a:endParaRPr lang="en-US"/>
          </a:p>
        </p:txBody>
      </p:sp>
      <p:sp>
        <p:nvSpPr>
          <p:cNvPr id="6" name="Rectangle 5">
            <a:extLst>
              <a:ext uri="{FF2B5EF4-FFF2-40B4-BE49-F238E27FC236}">
                <a16:creationId xmlns:a16="http://schemas.microsoft.com/office/drawing/2014/main" id="{E8AFA620-6690-46EA-9887-49DBEB958656}"/>
              </a:ext>
            </a:extLst>
          </p:cNvPr>
          <p:cNvSpPr/>
          <p:nvPr/>
        </p:nvSpPr>
        <p:spPr>
          <a:xfrm>
            <a:off x="1554866" y="3770769"/>
            <a:ext cx="4973256" cy="2677656"/>
          </a:xfrm>
          <a:prstGeom prst="rect">
            <a:avLst/>
          </a:prstGeom>
        </p:spPr>
        <p:txBody>
          <a:bodyPr wrap="square">
            <a:spAutoFit/>
          </a:bodyPr>
          <a:lstStyle/>
          <a:p>
            <a:r>
              <a:rPr lang="en-US">
                <a:solidFill>
                  <a:srgbClr val="267F99"/>
                </a:solidFill>
                <a:latin typeface="Consolas" panose="020B0609020204030204" pitchFamily="49" charset="0"/>
              </a:rPr>
              <a:t>DATA</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Peek</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STACK</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 !</a:t>
            </a:r>
            <a:r>
              <a:rPr lang="en-US">
                <a:solidFill>
                  <a:srgbClr val="795E26"/>
                </a:solidFill>
                <a:latin typeface="Consolas" panose="020B0609020204030204" pitchFamily="49" charset="0"/>
              </a:rPr>
              <a:t>IsEmpty</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 ) {</a:t>
            </a:r>
          </a:p>
          <a:p>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DATA</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x</a:t>
            </a:r>
            <a:r>
              <a:rPr lang="en-US">
                <a:solidFill>
                  <a:srgbClr val="000000"/>
                </a:solidFill>
                <a:latin typeface="Consolas" panose="020B0609020204030204" pitchFamily="49" charset="0"/>
              </a:rPr>
              <a:t> =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a</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top</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x</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sp>
        <p:nvSpPr>
          <p:cNvPr id="7" name="Rectangle 6">
            <a:extLst>
              <a:ext uri="{FF2B5EF4-FFF2-40B4-BE49-F238E27FC236}">
                <a16:creationId xmlns:a16="http://schemas.microsoft.com/office/drawing/2014/main" id="{C74D71B1-72E3-432D-AFC5-FFD2ACDE9C52}"/>
              </a:ext>
            </a:extLst>
          </p:cNvPr>
          <p:cNvSpPr/>
          <p:nvPr/>
        </p:nvSpPr>
        <p:spPr>
          <a:xfrm>
            <a:off x="6528122" y="3770769"/>
            <a:ext cx="5551990" cy="2677656"/>
          </a:xfrm>
          <a:prstGeom prst="rect">
            <a:avLst/>
          </a:prstGeom>
        </p:spPr>
        <p:txBody>
          <a:bodyPr wrap="square">
            <a:spAutoFit/>
          </a:bodyPr>
          <a:lstStyle/>
          <a:p>
            <a:r>
              <a:rPr lang="en-US">
                <a:solidFill>
                  <a:srgbClr val="267F99"/>
                </a:solidFill>
                <a:latin typeface="Consolas" panose="020B0609020204030204" pitchFamily="49" charset="0"/>
              </a:rPr>
              <a:t>DATA</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Peek</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STACK</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 !</a:t>
            </a:r>
            <a:r>
              <a:rPr lang="en-US">
                <a:solidFill>
                  <a:srgbClr val="795E26"/>
                </a:solidFill>
                <a:latin typeface="Consolas" panose="020B0609020204030204" pitchFamily="49" charset="0"/>
              </a:rPr>
              <a:t>IsEmpty</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 ) {</a:t>
            </a:r>
          </a:p>
          <a:p>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DATA</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x</a:t>
            </a:r>
            <a:r>
              <a:rPr lang="en-US">
                <a:solidFill>
                  <a:srgbClr val="000000"/>
                </a:solidFill>
                <a:latin typeface="Consolas" panose="020B0609020204030204" pitchFamily="49" charset="0"/>
              </a:rPr>
              <a:t> = </a:t>
            </a:r>
            <a:r>
              <a:rPr lang="en-US">
                <a:solidFill>
                  <a:srgbClr val="001080"/>
                </a:solidFill>
                <a:latin typeface="Consolas" panose="020B0609020204030204" pitchFamily="49" charset="0"/>
              </a:rPr>
              <a:t>s</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pHead</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info</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x</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pic>
        <p:nvPicPr>
          <p:cNvPr id="9" name="Picture 8">
            <a:extLst>
              <a:ext uri="{FF2B5EF4-FFF2-40B4-BE49-F238E27FC236}">
                <a16:creationId xmlns:a16="http://schemas.microsoft.com/office/drawing/2014/main" id="{ED8B2810-1C1D-4524-BFEF-C4D3F165EDE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554866" y="1974749"/>
            <a:ext cx="3514725" cy="2028825"/>
          </a:xfrm>
          <a:prstGeom prst="rect">
            <a:avLst/>
          </a:prstGeom>
        </p:spPr>
      </p:pic>
      <p:pic>
        <p:nvPicPr>
          <p:cNvPr id="10" name="Picture 9">
            <a:extLst>
              <a:ext uri="{FF2B5EF4-FFF2-40B4-BE49-F238E27FC236}">
                <a16:creationId xmlns:a16="http://schemas.microsoft.com/office/drawing/2014/main" id="{E664BB2D-C2C1-422C-8F1E-67F8F062D48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528122" y="1812824"/>
            <a:ext cx="3352800" cy="2190750"/>
          </a:xfrm>
          <a:prstGeom prst="rect">
            <a:avLst/>
          </a:prstGeom>
        </p:spPr>
      </p:pic>
    </p:spTree>
    <p:extLst>
      <p:ext uri="{BB962C8B-B14F-4D97-AF65-F5344CB8AC3E}">
        <p14:creationId xmlns:p14="http://schemas.microsoft.com/office/powerpoint/2010/main" val="526682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5C74C-76AD-43E2-9BE3-B9399F116FD2}"/>
              </a:ext>
            </a:extLst>
          </p:cNvPr>
          <p:cNvSpPr>
            <a:spLocks noGrp="1"/>
          </p:cNvSpPr>
          <p:nvPr>
            <p:ph type="title"/>
          </p:nvPr>
        </p:nvSpPr>
        <p:spPr/>
        <p:txBody>
          <a:bodyPr/>
          <a:lstStyle/>
          <a:p>
            <a:r>
              <a:rPr lang="en-US"/>
              <a:t>Queue</a:t>
            </a:r>
          </a:p>
        </p:txBody>
      </p:sp>
      <p:sp>
        <p:nvSpPr>
          <p:cNvPr id="3" name="Content Placeholder 2">
            <a:extLst>
              <a:ext uri="{FF2B5EF4-FFF2-40B4-BE49-F238E27FC236}">
                <a16:creationId xmlns:a16="http://schemas.microsoft.com/office/drawing/2014/main" id="{FB892A2E-3FD3-487A-B74B-DF5E090D042F}"/>
              </a:ext>
            </a:extLst>
          </p:cNvPr>
          <p:cNvSpPr>
            <a:spLocks noGrp="1"/>
          </p:cNvSpPr>
          <p:nvPr>
            <p:ph idx="1"/>
          </p:nvPr>
        </p:nvSpPr>
        <p:spPr/>
        <p:txBody>
          <a:bodyPr/>
          <a:lstStyle/>
          <a:p>
            <a:pPr>
              <a:buClr>
                <a:srgbClr val="002776"/>
              </a:buClr>
            </a:pPr>
            <a:r>
              <a:rPr lang="en-AU" altLang="en-US">
                <a:solidFill>
                  <a:srgbClr val="001A4F"/>
                </a:solidFill>
              </a:rPr>
              <a:t>Định nghĩa</a:t>
            </a:r>
          </a:p>
          <a:p>
            <a:pPr>
              <a:buClr>
                <a:srgbClr val="002776"/>
              </a:buClr>
            </a:pPr>
            <a:r>
              <a:rPr lang="en-AU" altLang="en-US">
                <a:solidFill>
                  <a:srgbClr val="001A4F"/>
                </a:solidFill>
              </a:rPr>
              <a:t>Tổ chức lưu trữ</a:t>
            </a:r>
          </a:p>
          <a:p>
            <a:pPr>
              <a:buClr>
                <a:srgbClr val="002776"/>
              </a:buClr>
            </a:pPr>
            <a:r>
              <a:rPr lang="en-AU" altLang="en-US">
                <a:solidFill>
                  <a:srgbClr val="001A4F"/>
                </a:solidFill>
              </a:rPr>
              <a:t>Các thao tác cơ bản</a:t>
            </a:r>
          </a:p>
          <a:p>
            <a:endParaRPr lang="en-US"/>
          </a:p>
        </p:txBody>
      </p:sp>
      <p:sp>
        <p:nvSpPr>
          <p:cNvPr id="4" name="Footer Placeholder 3">
            <a:extLst>
              <a:ext uri="{FF2B5EF4-FFF2-40B4-BE49-F238E27FC236}">
                <a16:creationId xmlns:a16="http://schemas.microsoft.com/office/drawing/2014/main" id="{D13B1DBD-4546-443A-9CDF-776CFC826A8A}"/>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B9C4B39E-4057-4F4A-888B-4A4CB471555B}"/>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B6A935F3-DE3C-41D5-BD9E-2C9F34DF6CA4}"/>
              </a:ext>
            </a:extLst>
          </p:cNvPr>
          <p:cNvSpPr>
            <a:spLocks noGrp="1"/>
          </p:cNvSpPr>
          <p:nvPr>
            <p:ph type="sldNum" sz="quarter" idx="12"/>
          </p:nvPr>
        </p:nvSpPr>
        <p:spPr/>
        <p:txBody>
          <a:bodyPr/>
          <a:lstStyle/>
          <a:p>
            <a:fld id="{21782F98-F548-4E33-958E-D2A6C4BA8EFA}" type="slidenum">
              <a:rPr lang="en-US" smtClean="0"/>
              <a:t>14</a:t>
            </a:fld>
            <a:endParaRPr lang="en-US"/>
          </a:p>
        </p:txBody>
      </p:sp>
      <p:pic>
        <p:nvPicPr>
          <p:cNvPr id="7" name="Picture 6">
            <a:extLst>
              <a:ext uri="{FF2B5EF4-FFF2-40B4-BE49-F238E27FC236}">
                <a16:creationId xmlns:a16="http://schemas.microsoft.com/office/drawing/2014/main" id="{C610BC5B-D21E-489B-863F-02137218A953}"/>
              </a:ext>
            </a:extLst>
          </p:cNvPr>
          <p:cNvPicPr>
            <a:picLocks noChangeAspect="1"/>
          </p:cNvPicPr>
          <p:nvPr/>
        </p:nvPicPr>
        <p:blipFill>
          <a:blip r:embed="rId2"/>
          <a:stretch>
            <a:fillRect/>
          </a:stretch>
        </p:blipFill>
        <p:spPr>
          <a:xfrm>
            <a:off x="5364481" y="1952625"/>
            <a:ext cx="4914900" cy="3305175"/>
          </a:xfrm>
          <a:prstGeom prst="rect">
            <a:avLst/>
          </a:prstGeom>
        </p:spPr>
      </p:pic>
    </p:spTree>
    <p:extLst>
      <p:ext uri="{BB962C8B-B14F-4D97-AF65-F5344CB8AC3E}">
        <p14:creationId xmlns:p14="http://schemas.microsoft.com/office/powerpoint/2010/main" val="2283699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6E54AD9-468F-4118-A963-917688821B60}"/>
              </a:ext>
            </a:extLst>
          </p:cNvPr>
          <p:cNvPicPr>
            <a:picLocks noChangeAspect="1"/>
          </p:cNvPicPr>
          <p:nvPr/>
        </p:nvPicPr>
        <p:blipFill>
          <a:blip r:embed="rId2"/>
          <a:stretch>
            <a:fillRect/>
          </a:stretch>
        </p:blipFill>
        <p:spPr>
          <a:xfrm>
            <a:off x="3638550" y="3019425"/>
            <a:ext cx="4914900" cy="3305175"/>
          </a:xfrm>
          <a:prstGeom prst="rect">
            <a:avLst/>
          </a:prstGeom>
        </p:spPr>
      </p:pic>
      <p:sp>
        <p:nvSpPr>
          <p:cNvPr id="2" name="Title 1">
            <a:extLst>
              <a:ext uri="{FF2B5EF4-FFF2-40B4-BE49-F238E27FC236}">
                <a16:creationId xmlns:a16="http://schemas.microsoft.com/office/drawing/2014/main" id="{9845C74C-76AD-43E2-9BE3-B9399F116FD2}"/>
              </a:ext>
            </a:extLst>
          </p:cNvPr>
          <p:cNvSpPr>
            <a:spLocks noGrp="1"/>
          </p:cNvSpPr>
          <p:nvPr>
            <p:ph type="title"/>
          </p:nvPr>
        </p:nvSpPr>
        <p:spPr/>
        <p:txBody>
          <a:bodyPr/>
          <a:lstStyle/>
          <a:p>
            <a:r>
              <a:rPr lang="en-US"/>
              <a:t>Queue – </a:t>
            </a:r>
            <a:r>
              <a:rPr lang="en-AU" altLang="en-US"/>
              <a:t>Định nghĩa</a:t>
            </a:r>
            <a:endParaRPr lang="en-US"/>
          </a:p>
        </p:txBody>
      </p:sp>
      <p:sp>
        <p:nvSpPr>
          <p:cNvPr id="3" name="Content Placeholder 2">
            <a:extLst>
              <a:ext uri="{FF2B5EF4-FFF2-40B4-BE49-F238E27FC236}">
                <a16:creationId xmlns:a16="http://schemas.microsoft.com/office/drawing/2014/main" id="{FB892A2E-3FD3-487A-B74B-DF5E090D042F}"/>
              </a:ext>
            </a:extLst>
          </p:cNvPr>
          <p:cNvSpPr>
            <a:spLocks noGrp="1"/>
          </p:cNvSpPr>
          <p:nvPr>
            <p:ph idx="1"/>
          </p:nvPr>
        </p:nvSpPr>
        <p:spPr/>
        <p:txBody>
          <a:bodyPr/>
          <a:lstStyle/>
          <a:p>
            <a:r>
              <a:rPr lang="vi-VN" altLang="en-US"/>
              <a:t>Queue (hàng đợi) là một danh sách hoạt động theo cơ chế </a:t>
            </a:r>
            <a:r>
              <a:rPr lang="vi-VN" altLang="en-US" b="1"/>
              <a:t>FIFO</a:t>
            </a:r>
            <a:r>
              <a:rPr lang="vi-VN" altLang="en-US"/>
              <a:t> (First In First Out</a:t>
            </a:r>
            <a:r>
              <a:rPr lang="en-US" altLang="en-US"/>
              <a:t>: vào tr</a:t>
            </a:r>
            <a:r>
              <a:rPr lang="vi-VN" altLang="en-US"/>
              <a:t>ư</a:t>
            </a:r>
            <a:r>
              <a:rPr lang="en-US" altLang="en-US"/>
              <a:t>ớc ra tr</a:t>
            </a:r>
            <a:r>
              <a:rPr lang="vi-VN" altLang="en-US"/>
              <a:t>ư</a:t>
            </a:r>
            <a:r>
              <a:rPr lang="en-US" altLang="en-US"/>
              <a:t>ớc</a:t>
            </a:r>
            <a:r>
              <a:rPr lang="vi-VN" altLang="en-US"/>
              <a:t>)</a:t>
            </a:r>
            <a:r>
              <a:rPr lang="en-US" altLang="en-US"/>
              <a:t>.</a:t>
            </a:r>
          </a:p>
          <a:p>
            <a:r>
              <a:rPr lang="vi-VN" altLang="en-US"/>
              <a:t>Thao tác thêm và </a:t>
            </a:r>
            <a:r>
              <a:rPr lang="en-US" altLang="en-US"/>
              <a:t>xóa</a:t>
            </a:r>
            <a:r>
              <a:rPr lang="vi-VN" altLang="en-US"/>
              <a:t> được thực hiện ở 2 </a:t>
            </a:r>
            <a:r>
              <a:rPr lang="en-US" altLang="en-US"/>
              <a:t>đầu</a:t>
            </a:r>
            <a:r>
              <a:rPr lang="vi-VN" altLang="en-US"/>
              <a:t> của queue.</a:t>
            </a:r>
            <a:endParaRPr lang="en-AU" altLang="en-US"/>
          </a:p>
          <a:p>
            <a:endParaRPr lang="en-US"/>
          </a:p>
        </p:txBody>
      </p:sp>
      <p:sp>
        <p:nvSpPr>
          <p:cNvPr id="4" name="Footer Placeholder 3">
            <a:extLst>
              <a:ext uri="{FF2B5EF4-FFF2-40B4-BE49-F238E27FC236}">
                <a16:creationId xmlns:a16="http://schemas.microsoft.com/office/drawing/2014/main" id="{D13B1DBD-4546-443A-9CDF-776CFC826A8A}"/>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B9C4B39E-4057-4F4A-888B-4A4CB471555B}"/>
              </a:ext>
            </a:extLst>
          </p:cNvPr>
          <p:cNvSpPr>
            <a:spLocks noGrp="1"/>
          </p:cNvSpPr>
          <p:nvPr>
            <p:ph type="dt" sz="half" idx="10"/>
          </p:nvPr>
        </p:nvSpPr>
        <p:spPr/>
        <p:txBody>
          <a:bodyPr/>
          <a:lstStyle/>
          <a:p>
            <a:fld id="{A31C3DFC-FA8D-4C71-A105-3FFE54ADD2D5}" type="datetime1">
              <a:rPr lang="en-US" smtClean="0"/>
              <a:pPr/>
              <a:t>5/29/2021</a:t>
            </a:fld>
            <a:endParaRPr lang="en-US"/>
          </a:p>
        </p:txBody>
      </p:sp>
      <p:sp>
        <p:nvSpPr>
          <p:cNvPr id="6" name="Slide Number Placeholder 5">
            <a:extLst>
              <a:ext uri="{FF2B5EF4-FFF2-40B4-BE49-F238E27FC236}">
                <a16:creationId xmlns:a16="http://schemas.microsoft.com/office/drawing/2014/main" id="{B6A935F3-DE3C-41D5-BD9E-2C9F34DF6CA4}"/>
              </a:ext>
            </a:extLst>
          </p:cNvPr>
          <p:cNvSpPr>
            <a:spLocks noGrp="1"/>
          </p:cNvSpPr>
          <p:nvPr>
            <p:ph type="sldNum" sz="quarter" idx="12"/>
          </p:nvPr>
        </p:nvSpPr>
        <p:spPr/>
        <p:txBody>
          <a:bodyPr/>
          <a:lstStyle/>
          <a:p>
            <a:fld id="{21782F98-F548-4E33-958E-D2A6C4BA8EFA}" type="slidenum">
              <a:rPr lang="en-US" smtClean="0"/>
              <a:pPr/>
              <a:t>15</a:t>
            </a:fld>
            <a:endParaRPr lang="en-US"/>
          </a:p>
        </p:txBody>
      </p:sp>
    </p:spTree>
    <p:extLst>
      <p:ext uri="{BB962C8B-B14F-4D97-AF65-F5344CB8AC3E}">
        <p14:creationId xmlns:p14="http://schemas.microsoft.com/office/powerpoint/2010/main" val="1698904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E03EB-2A9F-4C86-B1DC-E0A2CD6F1FAD}"/>
              </a:ext>
            </a:extLst>
          </p:cNvPr>
          <p:cNvSpPr>
            <a:spLocks noGrp="1"/>
          </p:cNvSpPr>
          <p:nvPr>
            <p:ph type="title"/>
          </p:nvPr>
        </p:nvSpPr>
        <p:spPr/>
        <p:txBody>
          <a:bodyPr/>
          <a:lstStyle/>
          <a:p>
            <a:r>
              <a:rPr lang="en-US"/>
              <a:t>Queue – </a:t>
            </a:r>
            <a:r>
              <a:rPr lang="en-AU" altLang="en-US"/>
              <a:t>Tổ ch</a:t>
            </a:r>
            <a:r>
              <a:rPr lang="en-US" altLang="en-US"/>
              <a:t>ức lưu trữ</a:t>
            </a:r>
            <a:endParaRPr lang="en-US"/>
          </a:p>
        </p:txBody>
      </p:sp>
      <p:sp>
        <p:nvSpPr>
          <p:cNvPr id="3" name="Content Placeholder 2">
            <a:extLst>
              <a:ext uri="{FF2B5EF4-FFF2-40B4-BE49-F238E27FC236}">
                <a16:creationId xmlns:a16="http://schemas.microsoft.com/office/drawing/2014/main" id="{9F4CF915-4494-4E13-A828-FFFC7D86F60C}"/>
              </a:ext>
            </a:extLst>
          </p:cNvPr>
          <p:cNvSpPr>
            <a:spLocks noGrp="1"/>
          </p:cNvSpPr>
          <p:nvPr>
            <p:ph idx="1"/>
          </p:nvPr>
        </p:nvSpPr>
        <p:spPr/>
        <p:txBody>
          <a:bodyPr/>
          <a:lstStyle/>
          <a:p>
            <a:r>
              <a:rPr lang="vi-VN" altLang="en-US"/>
              <a:t>Queue có thể được biểu diễn dưới dạng DSĐ hoặc DSLK đơn.</a:t>
            </a:r>
            <a:endParaRPr lang="en-US" altLang="en-US"/>
          </a:p>
          <a:p>
            <a:r>
              <a:rPr lang="vi-VN" altLang="en-US"/>
              <a:t>Queue có 2 </a:t>
            </a:r>
            <a:r>
              <a:rPr lang="en-US" altLang="en-US"/>
              <a:t>con trỏ chỉ </a:t>
            </a:r>
            <a:r>
              <a:rPr lang="vi-VN" altLang="en-US"/>
              <a:t>vào phần tử đầu và cuối của queue: </a:t>
            </a:r>
            <a:endParaRPr lang="en-US" altLang="en-US"/>
          </a:p>
          <a:p>
            <a:pPr lvl="1"/>
            <a:r>
              <a:rPr lang="en-US" altLang="en-US"/>
              <a:t>L</a:t>
            </a:r>
            <a:r>
              <a:rPr lang="vi-VN" altLang="en-US"/>
              <a:t>à cặp giá trị </a:t>
            </a:r>
            <a:r>
              <a:rPr lang="vi-VN" altLang="en-US" b="1"/>
              <a:t>front</a:t>
            </a:r>
            <a:r>
              <a:rPr lang="vi-VN" altLang="en-US"/>
              <a:t>,</a:t>
            </a:r>
            <a:r>
              <a:rPr lang="en-US" altLang="en-US"/>
              <a:t> </a:t>
            </a:r>
            <a:r>
              <a:rPr lang="vi-VN" altLang="en-US" b="1"/>
              <a:t>rear</a:t>
            </a:r>
            <a:r>
              <a:rPr lang="vi-VN" altLang="en-US"/>
              <a:t> đối với dạng DSĐ</a:t>
            </a:r>
            <a:r>
              <a:rPr lang="en-US" altLang="en-US"/>
              <a:t>,</a:t>
            </a:r>
          </a:p>
          <a:p>
            <a:pPr lvl="1"/>
            <a:r>
              <a:rPr lang="en-US" altLang="en-US"/>
              <a:t>L</a:t>
            </a:r>
            <a:r>
              <a:rPr lang="vi-VN" altLang="en-US"/>
              <a:t>à cặp con trỏ </a:t>
            </a:r>
            <a:r>
              <a:rPr lang="vi-VN" altLang="en-US" b="1"/>
              <a:t>pHead</a:t>
            </a:r>
            <a:r>
              <a:rPr lang="vi-VN" altLang="en-US"/>
              <a:t>,</a:t>
            </a:r>
            <a:r>
              <a:rPr lang="en-US" altLang="en-US"/>
              <a:t> </a:t>
            </a:r>
            <a:r>
              <a:rPr lang="vi-VN" altLang="en-US" b="1"/>
              <a:t>pTail</a:t>
            </a:r>
            <a:r>
              <a:rPr lang="vi-VN" altLang="en-US"/>
              <a:t> đối với dạng DSLK đơn.</a:t>
            </a:r>
            <a:endParaRPr lang="en-AU" altLang="en-US"/>
          </a:p>
          <a:p>
            <a:endParaRPr lang="en-US"/>
          </a:p>
        </p:txBody>
      </p:sp>
      <p:sp>
        <p:nvSpPr>
          <p:cNvPr id="4" name="Footer Placeholder 3">
            <a:extLst>
              <a:ext uri="{FF2B5EF4-FFF2-40B4-BE49-F238E27FC236}">
                <a16:creationId xmlns:a16="http://schemas.microsoft.com/office/drawing/2014/main" id="{268A621E-5E7F-48B1-BDE8-F0F70E86A077}"/>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B754CA8F-C092-46E1-8968-340F20F389FF}"/>
              </a:ext>
            </a:extLst>
          </p:cNvPr>
          <p:cNvSpPr>
            <a:spLocks noGrp="1"/>
          </p:cNvSpPr>
          <p:nvPr>
            <p:ph type="dt" sz="half" idx="10"/>
          </p:nvPr>
        </p:nvSpPr>
        <p:spPr/>
        <p:txBody>
          <a:bodyPr/>
          <a:lstStyle/>
          <a:p>
            <a:fld id="{A31C3DFC-FA8D-4C71-A105-3FFE54ADD2D5}" type="datetime1">
              <a:rPr lang="en-US" smtClean="0"/>
              <a:pPr/>
              <a:t>5/29/2021</a:t>
            </a:fld>
            <a:endParaRPr lang="en-US"/>
          </a:p>
        </p:txBody>
      </p:sp>
      <p:sp>
        <p:nvSpPr>
          <p:cNvPr id="6" name="Slide Number Placeholder 5">
            <a:extLst>
              <a:ext uri="{FF2B5EF4-FFF2-40B4-BE49-F238E27FC236}">
                <a16:creationId xmlns:a16="http://schemas.microsoft.com/office/drawing/2014/main" id="{4AB9FB84-FA18-40C3-8A79-468B0E73CF60}"/>
              </a:ext>
            </a:extLst>
          </p:cNvPr>
          <p:cNvSpPr>
            <a:spLocks noGrp="1"/>
          </p:cNvSpPr>
          <p:nvPr>
            <p:ph type="sldNum" sz="quarter" idx="12"/>
          </p:nvPr>
        </p:nvSpPr>
        <p:spPr/>
        <p:txBody>
          <a:bodyPr/>
          <a:lstStyle/>
          <a:p>
            <a:fld id="{21782F98-F548-4E33-958E-D2A6C4BA8EFA}" type="slidenum">
              <a:rPr lang="en-US" smtClean="0"/>
              <a:pPr/>
              <a:t>16</a:t>
            </a:fld>
            <a:endParaRPr lang="en-US"/>
          </a:p>
        </p:txBody>
      </p:sp>
      <p:pic>
        <p:nvPicPr>
          <p:cNvPr id="12" name="Picture 2">
            <a:extLst>
              <a:ext uri="{FF2B5EF4-FFF2-40B4-BE49-F238E27FC236}">
                <a16:creationId xmlns:a16="http://schemas.microsoft.com/office/drawing/2014/main" id="{D085A1F8-170C-475B-955B-F65DF7325F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8577" y="3882361"/>
            <a:ext cx="71247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3">
            <a:extLst>
              <a:ext uri="{FF2B5EF4-FFF2-40B4-BE49-F238E27FC236}">
                <a16:creationId xmlns:a16="http://schemas.microsoft.com/office/drawing/2014/main" id="{C61BA9AA-67F1-4861-91B9-30B07FBEF1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8576" y="5125705"/>
            <a:ext cx="7017777" cy="1081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130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462310C5-A21F-4EEE-942F-D03B6680CA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4223" y="2117388"/>
            <a:ext cx="7017777" cy="1081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a:extLst>
              <a:ext uri="{FF2B5EF4-FFF2-40B4-BE49-F238E27FC236}">
                <a16:creationId xmlns:a16="http://schemas.microsoft.com/office/drawing/2014/main" id="{2C421B66-22D7-4542-A56E-07E9995012E3}"/>
              </a:ext>
            </a:extLst>
          </p:cNvPr>
          <p:cNvSpPr>
            <a:spLocks noGrp="1"/>
          </p:cNvSpPr>
          <p:nvPr>
            <p:ph type="title"/>
          </p:nvPr>
        </p:nvSpPr>
        <p:spPr/>
        <p:txBody>
          <a:bodyPr/>
          <a:lstStyle/>
          <a:p>
            <a:r>
              <a:rPr lang="en-US"/>
              <a:t>Queue – </a:t>
            </a:r>
            <a:r>
              <a:rPr lang="en-AU" altLang="en-US"/>
              <a:t>Tổ ch</a:t>
            </a:r>
            <a:r>
              <a:rPr lang="en-US" altLang="en-US"/>
              <a:t>ức lưu trữ</a:t>
            </a:r>
            <a:endParaRPr lang="en-US"/>
          </a:p>
        </p:txBody>
      </p:sp>
      <p:sp>
        <p:nvSpPr>
          <p:cNvPr id="3" name="Content Placeholder 2">
            <a:extLst>
              <a:ext uri="{FF2B5EF4-FFF2-40B4-BE49-F238E27FC236}">
                <a16:creationId xmlns:a16="http://schemas.microsoft.com/office/drawing/2014/main" id="{B7534A6C-BC39-482D-A46B-57833CDE2B67}"/>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8F940E58-2FE1-4DCF-9D35-F2A7D4089163}"/>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8A3CBB80-8D04-4E3C-831E-ABB9259655D5}"/>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27473904-BE03-48CB-A5DE-E2398BB51FAA}"/>
              </a:ext>
            </a:extLst>
          </p:cNvPr>
          <p:cNvSpPr>
            <a:spLocks noGrp="1"/>
          </p:cNvSpPr>
          <p:nvPr>
            <p:ph type="sldNum" sz="quarter" idx="12"/>
          </p:nvPr>
        </p:nvSpPr>
        <p:spPr/>
        <p:txBody>
          <a:bodyPr/>
          <a:lstStyle/>
          <a:p>
            <a:fld id="{21782F98-F548-4E33-958E-D2A6C4BA8EFA}" type="slidenum">
              <a:rPr lang="en-US" smtClean="0"/>
              <a:t>17</a:t>
            </a:fld>
            <a:endParaRPr lang="en-US"/>
          </a:p>
        </p:txBody>
      </p:sp>
      <p:sp>
        <p:nvSpPr>
          <p:cNvPr id="7" name="Rectangle 6">
            <a:extLst>
              <a:ext uri="{FF2B5EF4-FFF2-40B4-BE49-F238E27FC236}">
                <a16:creationId xmlns:a16="http://schemas.microsoft.com/office/drawing/2014/main" id="{8D51BDE1-8BA5-4B9F-B273-79CA9A32F773}"/>
              </a:ext>
            </a:extLst>
          </p:cNvPr>
          <p:cNvSpPr/>
          <p:nvPr/>
        </p:nvSpPr>
        <p:spPr>
          <a:xfrm>
            <a:off x="1358096" y="3491580"/>
            <a:ext cx="6096000" cy="2677656"/>
          </a:xfrm>
          <a:prstGeom prst="rect">
            <a:avLst/>
          </a:prstGeom>
        </p:spPr>
        <p:txBody>
          <a:bodyPr>
            <a:spAutoFit/>
          </a:bodyPr>
          <a:lstStyle/>
          <a:p>
            <a:r>
              <a:rPr lang="en-US">
                <a:solidFill>
                  <a:srgbClr val="AF00DB"/>
                </a:solidFill>
                <a:latin typeface="Consolas" panose="020B0609020204030204" pitchFamily="49" charset="0"/>
              </a:rPr>
              <a:t>#define</a:t>
            </a:r>
            <a:r>
              <a:rPr lang="en-US">
                <a:solidFill>
                  <a:srgbClr val="0000FF"/>
                </a:solidFill>
                <a:latin typeface="Consolas" panose="020B0609020204030204" pitchFamily="49" charset="0"/>
              </a:rPr>
              <a:t> N </a:t>
            </a:r>
            <a:r>
              <a:rPr lang="en-US">
                <a:solidFill>
                  <a:srgbClr val="098658"/>
                </a:solidFill>
                <a:latin typeface="Consolas" panose="020B0609020204030204" pitchFamily="49" charset="0"/>
              </a:rPr>
              <a:t>100</a:t>
            </a:r>
            <a:endParaRPr lang="en-US">
              <a:solidFill>
                <a:srgbClr val="000000"/>
              </a:solidFill>
              <a:latin typeface="Consolas" panose="020B0609020204030204" pitchFamily="49" charset="0"/>
            </a:endParaRPr>
          </a:p>
          <a:p>
            <a:r>
              <a:rPr lang="en-US">
                <a:solidFill>
                  <a:srgbClr val="0000FF"/>
                </a:solidFill>
                <a:latin typeface="Consolas" panose="020B0609020204030204" pitchFamily="49" charset="0"/>
              </a:rPr>
              <a:t>typedef</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struct</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front</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rear</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DATA</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a</a:t>
            </a:r>
            <a:r>
              <a:rPr lang="en-US">
                <a:solidFill>
                  <a:srgbClr val="000000"/>
                </a:solidFill>
                <a:latin typeface="Consolas" panose="020B0609020204030204" pitchFamily="49" charset="0"/>
              </a:rPr>
              <a:t>[</a:t>
            </a:r>
            <a:r>
              <a:rPr lang="en-US">
                <a:solidFill>
                  <a:srgbClr val="0000FF"/>
                </a:solidFill>
                <a:latin typeface="Consolas" panose="020B0609020204030204" pitchFamily="49" charset="0"/>
              </a:rPr>
              <a:t>N</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count</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267F99"/>
                </a:solidFill>
                <a:latin typeface="Consolas" panose="020B0609020204030204" pitchFamily="49" charset="0"/>
              </a:rPr>
              <a:t>CQUEUE</a:t>
            </a:r>
            <a:r>
              <a:rPr lang="en-US">
                <a:solidFill>
                  <a:srgbClr val="000000"/>
                </a:solidFill>
                <a:latin typeface="Consolas" panose="020B0609020204030204" pitchFamily="49" charset="0"/>
              </a:rPr>
              <a:t>;</a:t>
            </a:r>
          </a:p>
        </p:txBody>
      </p:sp>
      <p:sp>
        <p:nvSpPr>
          <p:cNvPr id="8" name="Rectangle 7">
            <a:extLst>
              <a:ext uri="{FF2B5EF4-FFF2-40B4-BE49-F238E27FC236}">
                <a16:creationId xmlns:a16="http://schemas.microsoft.com/office/drawing/2014/main" id="{BE8D74E7-793E-4CCA-B128-C95FA95DFA7F}"/>
              </a:ext>
            </a:extLst>
          </p:cNvPr>
          <p:cNvSpPr/>
          <p:nvPr/>
        </p:nvSpPr>
        <p:spPr>
          <a:xfrm>
            <a:off x="6096000" y="3245359"/>
            <a:ext cx="6096000" cy="2923877"/>
          </a:xfrm>
          <a:prstGeom prst="rect">
            <a:avLst/>
          </a:prstGeom>
        </p:spPr>
        <p:txBody>
          <a:bodyPr>
            <a:spAutoFit/>
          </a:bodyPr>
          <a:lstStyle/>
          <a:p>
            <a:r>
              <a:rPr lang="en-US" sz="2000">
                <a:solidFill>
                  <a:srgbClr val="0000FF"/>
                </a:solidFill>
                <a:latin typeface="Consolas" panose="020B0609020204030204" pitchFamily="49" charset="0"/>
              </a:rPr>
              <a:t>typedef</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struct</a:t>
            </a:r>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NODE</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info</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NODE</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pNext</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NODE</a:t>
            </a:r>
            <a:r>
              <a:rPr lang="en-US" sz="2000">
                <a:solidFill>
                  <a:srgbClr val="000000"/>
                </a:solidFill>
                <a:latin typeface="Consolas" panose="020B0609020204030204" pitchFamily="49" charset="0"/>
              </a:rPr>
              <a:t>;</a:t>
            </a:r>
          </a:p>
          <a:p>
            <a:br>
              <a:rPr lang="en-US" sz="2000">
                <a:solidFill>
                  <a:srgbClr val="000000"/>
                </a:solidFill>
                <a:latin typeface="Consolas" panose="020B0609020204030204" pitchFamily="49" charset="0"/>
              </a:rPr>
            </a:br>
            <a:r>
              <a:rPr lang="en-US" sz="2000">
                <a:solidFill>
                  <a:srgbClr val="0000FF"/>
                </a:solidFill>
                <a:latin typeface="Consolas" panose="020B0609020204030204" pitchFamily="49" charset="0"/>
              </a:rPr>
              <a:t>typedef</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struct</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NODE</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pHead</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NODE</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pTail</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LQUEUE</a:t>
            </a:r>
            <a:r>
              <a:rPr lang="en-US" sz="2000">
                <a:solidFill>
                  <a:srgbClr val="000000"/>
                </a:solidFill>
                <a:latin typeface="Consolas" panose="020B0609020204030204" pitchFamily="49" charset="0"/>
              </a:rPr>
              <a:t>;</a:t>
            </a:r>
          </a:p>
        </p:txBody>
      </p:sp>
      <p:pic>
        <p:nvPicPr>
          <p:cNvPr id="9" name="Picture 2">
            <a:extLst>
              <a:ext uri="{FF2B5EF4-FFF2-40B4-BE49-F238E27FC236}">
                <a16:creationId xmlns:a16="http://schemas.microsoft.com/office/drawing/2014/main" id="{CD0F98F7-EE77-497B-B153-858616D4B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28509"/>
            <a:ext cx="71247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3524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999DD-04B4-46C4-8016-1F6EAB3ABDDC}"/>
              </a:ext>
            </a:extLst>
          </p:cNvPr>
          <p:cNvSpPr>
            <a:spLocks noGrp="1"/>
          </p:cNvSpPr>
          <p:nvPr>
            <p:ph type="title"/>
          </p:nvPr>
        </p:nvSpPr>
        <p:spPr/>
        <p:txBody>
          <a:bodyPr/>
          <a:lstStyle/>
          <a:p>
            <a:r>
              <a:rPr lang="en-US"/>
              <a:t>Queue – Các thao tác c</a:t>
            </a:r>
            <a:r>
              <a:rPr lang="vi-VN"/>
              <a:t>ơ</a:t>
            </a:r>
            <a:r>
              <a:rPr lang="en-US"/>
              <a:t> bản</a:t>
            </a:r>
          </a:p>
        </p:txBody>
      </p:sp>
      <p:sp>
        <p:nvSpPr>
          <p:cNvPr id="3" name="Content Placeholder 2">
            <a:extLst>
              <a:ext uri="{FF2B5EF4-FFF2-40B4-BE49-F238E27FC236}">
                <a16:creationId xmlns:a16="http://schemas.microsoft.com/office/drawing/2014/main" id="{6D715EC7-C295-45F7-903D-752EE7E3901A}"/>
              </a:ext>
            </a:extLst>
          </p:cNvPr>
          <p:cNvSpPr>
            <a:spLocks noGrp="1"/>
          </p:cNvSpPr>
          <p:nvPr>
            <p:ph idx="1"/>
          </p:nvPr>
        </p:nvSpPr>
        <p:spPr/>
        <p:txBody>
          <a:bodyPr/>
          <a:lstStyle/>
          <a:p>
            <a:r>
              <a:rPr lang="en-US"/>
              <a:t>Khởi tạo Queue:</a:t>
            </a:r>
          </a:p>
        </p:txBody>
      </p:sp>
      <p:sp>
        <p:nvSpPr>
          <p:cNvPr id="4" name="Footer Placeholder 3">
            <a:extLst>
              <a:ext uri="{FF2B5EF4-FFF2-40B4-BE49-F238E27FC236}">
                <a16:creationId xmlns:a16="http://schemas.microsoft.com/office/drawing/2014/main" id="{56E54417-6B54-4EF3-8CE5-B796F8B554A0}"/>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56B90CD3-B199-433D-B50F-7E7A65918B4E}"/>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695DFB4E-D092-4E3C-9E76-14F7A012883B}"/>
              </a:ext>
            </a:extLst>
          </p:cNvPr>
          <p:cNvSpPr>
            <a:spLocks noGrp="1"/>
          </p:cNvSpPr>
          <p:nvPr>
            <p:ph type="sldNum" sz="quarter" idx="12"/>
          </p:nvPr>
        </p:nvSpPr>
        <p:spPr/>
        <p:txBody>
          <a:bodyPr/>
          <a:lstStyle/>
          <a:p>
            <a:fld id="{21782F98-F548-4E33-958E-D2A6C4BA8EFA}" type="slidenum">
              <a:rPr lang="en-US" smtClean="0"/>
              <a:t>18</a:t>
            </a:fld>
            <a:endParaRPr lang="en-US"/>
          </a:p>
        </p:txBody>
      </p:sp>
      <p:pic>
        <p:nvPicPr>
          <p:cNvPr id="7" name="Picture 2">
            <a:extLst>
              <a:ext uri="{FF2B5EF4-FFF2-40B4-BE49-F238E27FC236}">
                <a16:creationId xmlns:a16="http://schemas.microsoft.com/office/drawing/2014/main" id="{2EAF04AD-25E9-488D-9F5D-4F5FFBB38E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762" y="2362200"/>
            <a:ext cx="48482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a:extLst>
              <a:ext uri="{FF2B5EF4-FFF2-40B4-BE49-F238E27FC236}">
                <a16:creationId xmlns:a16="http://schemas.microsoft.com/office/drawing/2014/main" id="{615A41A1-3214-4A87-8BA1-FA9202C47E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1052" y="2079585"/>
            <a:ext cx="29908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E491F102-0A1A-49CE-A1B6-6B88EE294ADF}"/>
              </a:ext>
            </a:extLst>
          </p:cNvPr>
          <p:cNvSpPr/>
          <p:nvPr/>
        </p:nvSpPr>
        <p:spPr>
          <a:xfrm>
            <a:off x="1578015" y="3886200"/>
            <a:ext cx="6096000" cy="1938992"/>
          </a:xfrm>
          <a:prstGeom prst="rect">
            <a:avLst/>
          </a:prstGeom>
        </p:spPr>
        <p:txBody>
          <a:bodyPr>
            <a:spAutoFit/>
          </a:bodyPr>
          <a:lstStyle/>
          <a:p>
            <a:r>
              <a:rPr lang="en-US">
                <a:solidFill>
                  <a:srgbClr val="0000FF"/>
                </a:solidFill>
                <a:latin typeface="Consolas" panose="020B0609020204030204" pitchFamily="49" charset="0"/>
              </a:rPr>
              <a:t>void</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Initialize</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CQUEUE</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&amp;</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front</a:t>
            </a:r>
            <a:r>
              <a:rPr lang="en-US">
                <a:solidFill>
                  <a:srgbClr val="000000"/>
                </a:solidFill>
                <a:latin typeface="Consolas" panose="020B0609020204030204" pitchFamily="49" charset="0"/>
              </a:rPr>
              <a:t> = 0;</a:t>
            </a:r>
          </a:p>
          <a:p>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rear</a:t>
            </a:r>
            <a:r>
              <a:rPr lang="en-US">
                <a:solidFill>
                  <a:srgbClr val="000000"/>
                </a:solidFill>
                <a:latin typeface="Consolas" panose="020B0609020204030204" pitchFamily="49" charset="0"/>
              </a:rPr>
              <a:t> = -</a:t>
            </a:r>
            <a:r>
              <a:rPr lang="en-US">
                <a:solidFill>
                  <a:srgbClr val="098658"/>
                </a:solidFill>
                <a:latin typeface="Consolas" panose="020B0609020204030204" pitchFamily="49" charset="0"/>
              </a:rPr>
              <a:t>1</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count</a:t>
            </a:r>
            <a:r>
              <a:rPr lang="en-US">
                <a:solidFill>
                  <a:srgbClr val="000000"/>
                </a:solidFill>
                <a:latin typeface="Consolas" panose="020B0609020204030204" pitchFamily="49" charset="0"/>
              </a:rPr>
              <a:t> = </a:t>
            </a:r>
            <a:r>
              <a:rPr lang="en-US">
                <a:solidFill>
                  <a:srgbClr val="098658"/>
                </a:solidFill>
                <a:latin typeface="Consolas" panose="020B0609020204030204" pitchFamily="49" charset="0"/>
              </a:rPr>
              <a:t>0</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sp>
        <p:nvSpPr>
          <p:cNvPr id="10" name="Rectangle 9">
            <a:extLst>
              <a:ext uri="{FF2B5EF4-FFF2-40B4-BE49-F238E27FC236}">
                <a16:creationId xmlns:a16="http://schemas.microsoft.com/office/drawing/2014/main" id="{A1A0BE05-A45F-46A0-8CF3-3A8B47C8DD5A}"/>
              </a:ext>
            </a:extLst>
          </p:cNvPr>
          <p:cNvSpPr/>
          <p:nvPr/>
        </p:nvSpPr>
        <p:spPr>
          <a:xfrm>
            <a:off x="7103902" y="3886200"/>
            <a:ext cx="6096000" cy="1569660"/>
          </a:xfrm>
          <a:prstGeom prst="rect">
            <a:avLst/>
          </a:prstGeom>
        </p:spPr>
        <p:txBody>
          <a:bodyPr>
            <a:spAutoFit/>
          </a:bodyPr>
          <a:lstStyle/>
          <a:p>
            <a:r>
              <a:rPr lang="en-US">
                <a:solidFill>
                  <a:srgbClr val="0000FF"/>
                </a:solidFill>
                <a:latin typeface="Consolas" panose="020B0609020204030204" pitchFamily="49" charset="0"/>
              </a:rPr>
              <a:t>void</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Initialize</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LQUEUE</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&amp;</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pHead</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pTail</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spTree>
    <p:extLst>
      <p:ext uri="{BB962C8B-B14F-4D97-AF65-F5344CB8AC3E}">
        <p14:creationId xmlns:p14="http://schemas.microsoft.com/office/powerpoint/2010/main" val="194325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999DD-04B4-46C4-8016-1F6EAB3ABDDC}"/>
              </a:ext>
            </a:extLst>
          </p:cNvPr>
          <p:cNvSpPr>
            <a:spLocks noGrp="1"/>
          </p:cNvSpPr>
          <p:nvPr>
            <p:ph type="title"/>
          </p:nvPr>
        </p:nvSpPr>
        <p:spPr/>
        <p:txBody>
          <a:bodyPr/>
          <a:lstStyle/>
          <a:p>
            <a:r>
              <a:rPr lang="en-US"/>
              <a:t>Queue – Các thao tác c</a:t>
            </a:r>
            <a:r>
              <a:rPr lang="vi-VN"/>
              <a:t>ơ</a:t>
            </a:r>
            <a:r>
              <a:rPr lang="en-US"/>
              <a:t> bản</a:t>
            </a:r>
          </a:p>
        </p:txBody>
      </p:sp>
      <p:sp>
        <p:nvSpPr>
          <p:cNvPr id="3" name="Content Placeholder 2">
            <a:extLst>
              <a:ext uri="{FF2B5EF4-FFF2-40B4-BE49-F238E27FC236}">
                <a16:creationId xmlns:a16="http://schemas.microsoft.com/office/drawing/2014/main" id="{6D715EC7-C295-45F7-903D-752EE7E3901A}"/>
              </a:ext>
            </a:extLst>
          </p:cNvPr>
          <p:cNvSpPr>
            <a:spLocks noGrp="1"/>
          </p:cNvSpPr>
          <p:nvPr>
            <p:ph idx="1"/>
          </p:nvPr>
        </p:nvSpPr>
        <p:spPr/>
        <p:txBody>
          <a:bodyPr/>
          <a:lstStyle/>
          <a:p>
            <a:r>
              <a:rPr lang="en-AU" altLang="en-US">
                <a:solidFill>
                  <a:srgbClr val="001A4F"/>
                </a:solidFill>
              </a:rPr>
              <a:t>Kiểm tra Queue có rỗng hay không</a:t>
            </a:r>
            <a:r>
              <a:rPr lang="en-US" altLang="en-US">
                <a:solidFill>
                  <a:srgbClr val="001A4F"/>
                </a:solidFill>
              </a:rPr>
              <a:t>:</a:t>
            </a:r>
            <a:endParaRPr lang="en-AU" altLang="en-US">
              <a:solidFill>
                <a:srgbClr val="001A4F"/>
              </a:solidFill>
            </a:endParaRPr>
          </a:p>
        </p:txBody>
      </p:sp>
      <p:sp>
        <p:nvSpPr>
          <p:cNvPr id="4" name="Footer Placeholder 3">
            <a:extLst>
              <a:ext uri="{FF2B5EF4-FFF2-40B4-BE49-F238E27FC236}">
                <a16:creationId xmlns:a16="http://schemas.microsoft.com/office/drawing/2014/main" id="{56E54417-6B54-4EF3-8CE5-B796F8B554A0}"/>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56B90CD3-B199-433D-B50F-7E7A65918B4E}"/>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695DFB4E-D092-4E3C-9E76-14F7A012883B}"/>
              </a:ext>
            </a:extLst>
          </p:cNvPr>
          <p:cNvSpPr>
            <a:spLocks noGrp="1"/>
          </p:cNvSpPr>
          <p:nvPr>
            <p:ph type="sldNum" sz="quarter" idx="12"/>
          </p:nvPr>
        </p:nvSpPr>
        <p:spPr/>
        <p:txBody>
          <a:bodyPr/>
          <a:lstStyle/>
          <a:p>
            <a:fld id="{21782F98-F548-4E33-958E-D2A6C4BA8EFA}" type="slidenum">
              <a:rPr lang="en-US" smtClean="0"/>
              <a:t>19</a:t>
            </a:fld>
            <a:endParaRPr lang="en-US"/>
          </a:p>
        </p:txBody>
      </p:sp>
      <p:sp>
        <p:nvSpPr>
          <p:cNvPr id="7" name="Rectangle 6">
            <a:extLst>
              <a:ext uri="{FF2B5EF4-FFF2-40B4-BE49-F238E27FC236}">
                <a16:creationId xmlns:a16="http://schemas.microsoft.com/office/drawing/2014/main" id="{27EA32E7-C914-4A46-9F39-15C1459B0E94}"/>
              </a:ext>
            </a:extLst>
          </p:cNvPr>
          <p:cNvSpPr/>
          <p:nvPr/>
        </p:nvSpPr>
        <p:spPr>
          <a:xfrm>
            <a:off x="1473762" y="3625770"/>
            <a:ext cx="6096000" cy="1938992"/>
          </a:xfrm>
          <a:prstGeom prst="rect">
            <a:avLst/>
          </a:prstGeom>
        </p:spPr>
        <p:txBody>
          <a:bodyPr>
            <a:spAutoFit/>
          </a:bodyPr>
          <a:lstStyle/>
          <a:p>
            <a:r>
              <a:rPr lang="en-US">
                <a:solidFill>
                  <a:srgbClr val="0000FF"/>
                </a:solidFill>
                <a:latin typeface="Consolas" panose="020B0609020204030204" pitchFamily="49" charset="0"/>
              </a:rPr>
              <a:t>bool</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IsEmpty</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CQUEUE</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count</a:t>
            </a:r>
            <a:r>
              <a:rPr lang="en-US">
                <a:solidFill>
                  <a:srgbClr val="000000"/>
                </a:solidFill>
                <a:latin typeface="Consolas" panose="020B0609020204030204" pitchFamily="49" charset="0"/>
              </a:rPr>
              <a:t> == </a:t>
            </a:r>
            <a:r>
              <a:rPr lang="en-US">
                <a:solidFill>
                  <a:srgbClr val="098658"/>
                </a:solidFill>
                <a:latin typeface="Consolas" panose="020B0609020204030204" pitchFamily="49" charset="0"/>
              </a:rPr>
              <a:t>0</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true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false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sp>
        <p:nvSpPr>
          <p:cNvPr id="8" name="Rectangle 7">
            <a:extLst>
              <a:ext uri="{FF2B5EF4-FFF2-40B4-BE49-F238E27FC236}">
                <a16:creationId xmlns:a16="http://schemas.microsoft.com/office/drawing/2014/main" id="{69106038-274E-4312-9522-93F07E5B32D2}"/>
              </a:ext>
            </a:extLst>
          </p:cNvPr>
          <p:cNvSpPr/>
          <p:nvPr/>
        </p:nvSpPr>
        <p:spPr>
          <a:xfrm>
            <a:off x="7103902" y="3625770"/>
            <a:ext cx="6096000" cy="1938992"/>
          </a:xfrm>
          <a:prstGeom prst="rect">
            <a:avLst/>
          </a:prstGeom>
        </p:spPr>
        <p:txBody>
          <a:bodyPr>
            <a:spAutoFit/>
          </a:bodyPr>
          <a:lstStyle/>
          <a:p>
            <a:r>
              <a:rPr lang="en-US">
                <a:solidFill>
                  <a:srgbClr val="0000FF"/>
                </a:solidFill>
                <a:latin typeface="Consolas" panose="020B0609020204030204" pitchFamily="49" charset="0"/>
              </a:rPr>
              <a:t>bool</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IsEmpty</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LQUEUE</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pHead</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true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false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pic>
        <p:nvPicPr>
          <p:cNvPr id="9" name="Picture 2">
            <a:extLst>
              <a:ext uri="{FF2B5EF4-FFF2-40B4-BE49-F238E27FC236}">
                <a16:creationId xmlns:a16="http://schemas.microsoft.com/office/drawing/2014/main" id="{68D99E09-4D41-4334-8FB6-55BC37E65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762" y="2362200"/>
            <a:ext cx="48482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a:extLst>
              <a:ext uri="{FF2B5EF4-FFF2-40B4-BE49-F238E27FC236}">
                <a16:creationId xmlns:a16="http://schemas.microsoft.com/office/drawing/2014/main" id="{62CEBAA2-1140-43CB-86E0-66467B2726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1052" y="2079585"/>
            <a:ext cx="29908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3360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999DD-04B4-46C4-8016-1F6EAB3ABDDC}"/>
              </a:ext>
            </a:extLst>
          </p:cNvPr>
          <p:cNvSpPr>
            <a:spLocks noGrp="1"/>
          </p:cNvSpPr>
          <p:nvPr>
            <p:ph type="title"/>
          </p:nvPr>
        </p:nvSpPr>
        <p:spPr/>
        <p:txBody>
          <a:bodyPr/>
          <a:lstStyle/>
          <a:p>
            <a:r>
              <a:rPr lang="en-US"/>
              <a:t>Queue – Các thao tác c</a:t>
            </a:r>
            <a:r>
              <a:rPr lang="vi-VN"/>
              <a:t>ơ</a:t>
            </a:r>
            <a:r>
              <a:rPr lang="en-US"/>
              <a:t> bản</a:t>
            </a:r>
          </a:p>
        </p:txBody>
      </p:sp>
      <p:sp>
        <p:nvSpPr>
          <p:cNvPr id="3" name="Content Placeholder 2">
            <a:extLst>
              <a:ext uri="{FF2B5EF4-FFF2-40B4-BE49-F238E27FC236}">
                <a16:creationId xmlns:a16="http://schemas.microsoft.com/office/drawing/2014/main" id="{6D715EC7-C295-45F7-903D-752EE7E3901A}"/>
              </a:ext>
            </a:extLst>
          </p:cNvPr>
          <p:cNvSpPr>
            <a:spLocks noGrp="1"/>
          </p:cNvSpPr>
          <p:nvPr>
            <p:ph idx="1"/>
          </p:nvPr>
        </p:nvSpPr>
        <p:spPr/>
        <p:txBody>
          <a:bodyPr/>
          <a:lstStyle/>
          <a:p>
            <a:r>
              <a:rPr lang="vi-VN" altLang="en-US">
                <a:solidFill>
                  <a:srgbClr val="001A4F"/>
                </a:solidFill>
              </a:rPr>
              <a:t>Kiểm tra </a:t>
            </a:r>
            <a:r>
              <a:rPr lang="en-US" altLang="en-US">
                <a:solidFill>
                  <a:srgbClr val="001A4F"/>
                </a:solidFill>
              </a:rPr>
              <a:t>Queue </a:t>
            </a:r>
            <a:r>
              <a:rPr lang="vi-VN" altLang="en-US">
                <a:solidFill>
                  <a:srgbClr val="001A4F"/>
                </a:solidFill>
              </a:rPr>
              <a:t>có đầy hay </a:t>
            </a:r>
            <a:r>
              <a:rPr lang="en-US" altLang="en-US">
                <a:solidFill>
                  <a:srgbClr val="001A4F"/>
                </a:solidFill>
              </a:rPr>
              <a:t>không:</a:t>
            </a:r>
            <a:endParaRPr lang="en-AU" altLang="en-US">
              <a:solidFill>
                <a:srgbClr val="001A4F"/>
              </a:solidFill>
            </a:endParaRPr>
          </a:p>
        </p:txBody>
      </p:sp>
      <p:sp>
        <p:nvSpPr>
          <p:cNvPr id="4" name="Footer Placeholder 3">
            <a:extLst>
              <a:ext uri="{FF2B5EF4-FFF2-40B4-BE49-F238E27FC236}">
                <a16:creationId xmlns:a16="http://schemas.microsoft.com/office/drawing/2014/main" id="{56E54417-6B54-4EF3-8CE5-B796F8B554A0}"/>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56B90CD3-B199-433D-B50F-7E7A65918B4E}"/>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695DFB4E-D092-4E3C-9E76-14F7A012883B}"/>
              </a:ext>
            </a:extLst>
          </p:cNvPr>
          <p:cNvSpPr>
            <a:spLocks noGrp="1"/>
          </p:cNvSpPr>
          <p:nvPr>
            <p:ph type="sldNum" sz="quarter" idx="12"/>
          </p:nvPr>
        </p:nvSpPr>
        <p:spPr/>
        <p:txBody>
          <a:bodyPr/>
          <a:lstStyle/>
          <a:p>
            <a:fld id="{21782F98-F548-4E33-958E-D2A6C4BA8EFA}" type="slidenum">
              <a:rPr lang="en-US" smtClean="0"/>
              <a:t>20</a:t>
            </a:fld>
            <a:endParaRPr lang="en-US"/>
          </a:p>
        </p:txBody>
      </p:sp>
      <p:sp>
        <p:nvSpPr>
          <p:cNvPr id="7" name="Rectangle 6">
            <a:extLst>
              <a:ext uri="{FF2B5EF4-FFF2-40B4-BE49-F238E27FC236}">
                <a16:creationId xmlns:a16="http://schemas.microsoft.com/office/drawing/2014/main" id="{C292C982-0CC7-4BEE-9F7B-3E81804C3AD2}"/>
              </a:ext>
            </a:extLst>
          </p:cNvPr>
          <p:cNvSpPr/>
          <p:nvPr/>
        </p:nvSpPr>
        <p:spPr>
          <a:xfrm>
            <a:off x="1554866" y="4091534"/>
            <a:ext cx="6096000" cy="1938992"/>
          </a:xfrm>
          <a:prstGeom prst="rect">
            <a:avLst/>
          </a:prstGeom>
        </p:spPr>
        <p:txBody>
          <a:bodyPr>
            <a:spAutoFit/>
          </a:bodyPr>
          <a:lstStyle/>
          <a:p>
            <a:r>
              <a:rPr lang="en-US">
                <a:solidFill>
                  <a:srgbClr val="0000FF"/>
                </a:solidFill>
                <a:latin typeface="Consolas" panose="020B0609020204030204" pitchFamily="49" charset="0"/>
              </a:rPr>
              <a:t>bool</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IsFull</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CQUEUE</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q</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count</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true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false</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pic>
        <p:nvPicPr>
          <p:cNvPr id="8" name="Picture 2">
            <a:extLst>
              <a:ext uri="{FF2B5EF4-FFF2-40B4-BE49-F238E27FC236}">
                <a16:creationId xmlns:a16="http://schemas.microsoft.com/office/drawing/2014/main" id="{E1FCA707-C99B-4EA0-A82E-7B7E858EC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0144" y="2446696"/>
            <a:ext cx="493395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0935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999DD-04B4-46C4-8016-1F6EAB3ABDDC}"/>
              </a:ext>
            </a:extLst>
          </p:cNvPr>
          <p:cNvSpPr>
            <a:spLocks noGrp="1"/>
          </p:cNvSpPr>
          <p:nvPr>
            <p:ph type="title"/>
          </p:nvPr>
        </p:nvSpPr>
        <p:spPr/>
        <p:txBody>
          <a:bodyPr/>
          <a:lstStyle/>
          <a:p>
            <a:r>
              <a:rPr lang="en-US"/>
              <a:t>Queue – Các thao tác c</a:t>
            </a:r>
            <a:r>
              <a:rPr lang="vi-VN"/>
              <a:t>ơ</a:t>
            </a:r>
            <a:r>
              <a:rPr lang="en-US"/>
              <a:t> bản</a:t>
            </a:r>
          </a:p>
        </p:txBody>
      </p:sp>
      <p:sp>
        <p:nvSpPr>
          <p:cNvPr id="3" name="Content Placeholder 2">
            <a:extLst>
              <a:ext uri="{FF2B5EF4-FFF2-40B4-BE49-F238E27FC236}">
                <a16:creationId xmlns:a16="http://schemas.microsoft.com/office/drawing/2014/main" id="{6D715EC7-C295-45F7-903D-752EE7E3901A}"/>
              </a:ext>
            </a:extLst>
          </p:cNvPr>
          <p:cNvSpPr>
            <a:spLocks noGrp="1"/>
          </p:cNvSpPr>
          <p:nvPr>
            <p:ph idx="1"/>
          </p:nvPr>
        </p:nvSpPr>
        <p:spPr/>
        <p:txBody>
          <a:bodyPr/>
          <a:lstStyle/>
          <a:p>
            <a:r>
              <a:rPr lang="en-AU" altLang="en-US">
                <a:solidFill>
                  <a:srgbClr val="001A4F"/>
                </a:solidFill>
              </a:rPr>
              <a:t>Thêm một phần tử vào cuối Queue</a:t>
            </a:r>
            <a:r>
              <a:rPr lang="en-US" altLang="en-US">
                <a:solidFill>
                  <a:srgbClr val="001A4F"/>
                </a:solidFill>
              </a:rPr>
              <a:t>:</a:t>
            </a:r>
            <a:endParaRPr lang="en-AU" altLang="en-US">
              <a:solidFill>
                <a:srgbClr val="001A4F"/>
              </a:solidFill>
            </a:endParaRPr>
          </a:p>
        </p:txBody>
      </p:sp>
      <p:sp>
        <p:nvSpPr>
          <p:cNvPr id="4" name="Footer Placeholder 3">
            <a:extLst>
              <a:ext uri="{FF2B5EF4-FFF2-40B4-BE49-F238E27FC236}">
                <a16:creationId xmlns:a16="http://schemas.microsoft.com/office/drawing/2014/main" id="{56E54417-6B54-4EF3-8CE5-B796F8B554A0}"/>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56B90CD3-B199-433D-B50F-7E7A65918B4E}"/>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695DFB4E-D092-4E3C-9E76-14F7A012883B}"/>
              </a:ext>
            </a:extLst>
          </p:cNvPr>
          <p:cNvSpPr>
            <a:spLocks noGrp="1"/>
          </p:cNvSpPr>
          <p:nvPr>
            <p:ph type="sldNum" sz="quarter" idx="12"/>
          </p:nvPr>
        </p:nvSpPr>
        <p:spPr/>
        <p:txBody>
          <a:bodyPr/>
          <a:lstStyle/>
          <a:p>
            <a:fld id="{21782F98-F548-4E33-958E-D2A6C4BA8EFA}" type="slidenum">
              <a:rPr lang="en-US" smtClean="0"/>
              <a:t>21</a:t>
            </a:fld>
            <a:endParaRPr lang="en-US"/>
          </a:p>
        </p:txBody>
      </p:sp>
      <p:pic>
        <p:nvPicPr>
          <p:cNvPr id="7" name="Picture 2">
            <a:extLst>
              <a:ext uri="{FF2B5EF4-FFF2-40B4-BE49-F238E27FC236}">
                <a16:creationId xmlns:a16="http://schemas.microsoft.com/office/drawing/2014/main" id="{479523D4-F2B6-4BFE-92AA-E9C4D1643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664" y="2086157"/>
            <a:ext cx="3902075" cy="191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a:extLst>
              <a:ext uri="{FF2B5EF4-FFF2-40B4-BE49-F238E27FC236}">
                <a16:creationId xmlns:a16="http://schemas.microsoft.com/office/drawing/2014/main" id="{23EC60AE-E599-4956-811F-47FA5B6F9B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5056" y="1945872"/>
            <a:ext cx="4152900" cy="193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7F81EC82-FB91-4FEA-9BE5-A8E093F3BE35}"/>
              </a:ext>
            </a:extLst>
          </p:cNvPr>
          <p:cNvSpPr/>
          <p:nvPr/>
        </p:nvSpPr>
        <p:spPr>
          <a:xfrm>
            <a:off x="1550687" y="4012194"/>
            <a:ext cx="6096000" cy="2923877"/>
          </a:xfrm>
          <a:prstGeom prst="rect">
            <a:avLst/>
          </a:prstGeom>
        </p:spPr>
        <p:txBody>
          <a:bodyPr>
            <a:spAutoFit/>
          </a:bodyPr>
          <a:lstStyle/>
          <a:p>
            <a:r>
              <a:rPr lang="en-US" sz="2000">
                <a:solidFill>
                  <a:srgbClr val="0000FF"/>
                </a:solidFill>
                <a:latin typeface="Consolas" panose="020B0609020204030204" pitchFamily="49" charset="0"/>
              </a:rPr>
              <a:t>bool</a:t>
            </a:r>
            <a:r>
              <a:rPr lang="en-US" sz="2000">
                <a:solidFill>
                  <a:srgbClr val="000000"/>
                </a:solidFill>
                <a:latin typeface="Consolas" panose="020B0609020204030204" pitchFamily="49" charset="0"/>
              </a:rPr>
              <a:t> </a:t>
            </a:r>
            <a:r>
              <a:rPr lang="en-US" sz="2000">
                <a:solidFill>
                  <a:srgbClr val="795E26"/>
                </a:solidFill>
                <a:latin typeface="Consolas" panose="020B0609020204030204" pitchFamily="49" charset="0"/>
              </a:rPr>
              <a:t>Enqueue</a:t>
            </a:r>
            <a:r>
              <a:rPr lang="en-US" sz="2000">
                <a:solidFill>
                  <a:srgbClr val="000000"/>
                </a:solidFill>
                <a:latin typeface="Consolas" panose="020B0609020204030204" pitchFamily="49" charset="0"/>
              </a:rPr>
              <a:t>(</a:t>
            </a:r>
            <a:r>
              <a:rPr lang="en-US" sz="2000">
                <a:solidFill>
                  <a:srgbClr val="267F99"/>
                </a:solidFill>
                <a:latin typeface="Consolas" panose="020B0609020204030204" pitchFamily="49" charset="0"/>
              </a:rPr>
              <a:t>CQUEUE</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&amp;</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if</a:t>
            </a:r>
            <a:r>
              <a:rPr lang="en-US" sz="2000">
                <a:solidFill>
                  <a:srgbClr val="000000"/>
                </a:solidFill>
                <a:latin typeface="Consolas" panose="020B0609020204030204" pitchFamily="49" charset="0"/>
              </a:rPr>
              <a:t> ( !</a:t>
            </a:r>
            <a:r>
              <a:rPr lang="en-US" sz="2000">
                <a:solidFill>
                  <a:srgbClr val="795E26"/>
                </a:solidFill>
                <a:latin typeface="Consolas" panose="020B0609020204030204" pitchFamily="49" charset="0"/>
              </a:rPr>
              <a:t>IsFull</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 ) {</a:t>
            </a:r>
          </a:p>
          <a:p>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rear</a:t>
            </a:r>
            <a:r>
              <a:rPr lang="en-US" sz="2000">
                <a:solidFill>
                  <a:srgbClr val="000000"/>
                </a:solidFill>
                <a:latin typeface="Consolas" panose="020B0609020204030204" pitchFamily="49" charset="0"/>
              </a:rPr>
              <a:t> =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rear</a:t>
            </a:r>
            <a:r>
              <a:rPr lang="en-US" sz="2000">
                <a:solidFill>
                  <a:srgbClr val="000000"/>
                </a:solidFill>
                <a:latin typeface="Consolas" panose="020B0609020204030204" pitchFamily="49" charset="0"/>
              </a:rPr>
              <a:t> + </a:t>
            </a:r>
            <a:r>
              <a:rPr lang="en-US" sz="2000">
                <a:solidFill>
                  <a:srgbClr val="098658"/>
                </a:solidFill>
                <a:latin typeface="Consolas" panose="020B0609020204030204" pitchFamily="49" charset="0"/>
              </a:rPr>
              <a:t>1</a:t>
            </a:r>
            <a:r>
              <a:rPr lang="en-US" sz="2000">
                <a:solidFill>
                  <a:srgbClr val="000000"/>
                </a:solidFill>
                <a:latin typeface="Consolas" panose="020B0609020204030204" pitchFamily="49" charset="0"/>
              </a:rPr>
              <a:t>) % </a:t>
            </a:r>
            <a:r>
              <a:rPr lang="en-US" sz="2000">
                <a:solidFill>
                  <a:srgbClr val="0000FF"/>
                </a:solidFill>
                <a:latin typeface="Consolas" panose="020B0609020204030204" pitchFamily="49" charset="0"/>
              </a:rPr>
              <a:t>N</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a</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rear</a:t>
            </a:r>
            <a:r>
              <a:rPr lang="en-US" sz="2000">
                <a:solidFill>
                  <a:srgbClr val="000000"/>
                </a:solidFill>
                <a:latin typeface="Consolas" panose="020B0609020204030204" pitchFamily="49" charset="0"/>
              </a:rPr>
              <a:t>] =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count</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true</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false</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a:t>
            </a:r>
          </a:p>
        </p:txBody>
      </p:sp>
      <p:sp>
        <p:nvSpPr>
          <p:cNvPr id="10" name="Rectangle 9">
            <a:extLst>
              <a:ext uri="{FF2B5EF4-FFF2-40B4-BE49-F238E27FC236}">
                <a16:creationId xmlns:a16="http://schemas.microsoft.com/office/drawing/2014/main" id="{3D216939-FCC8-4BEA-8538-3599F3D75BD3}"/>
              </a:ext>
            </a:extLst>
          </p:cNvPr>
          <p:cNvSpPr/>
          <p:nvPr/>
        </p:nvSpPr>
        <p:spPr>
          <a:xfrm>
            <a:off x="7086536" y="4012193"/>
            <a:ext cx="4927728" cy="2923877"/>
          </a:xfrm>
          <a:prstGeom prst="rect">
            <a:avLst/>
          </a:prstGeom>
        </p:spPr>
        <p:txBody>
          <a:bodyPr wrap="square">
            <a:spAutoFit/>
          </a:bodyPr>
          <a:lstStyle/>
          <a:p>
            <a:r>
              <a:rPr lang="en-US" sz="2000">
                <a:solidFill>
                  <a:srgbClr val="0000FF"/>
                </a:solidFill>
                <a:latin typeface="Consolas" panose="020B0609020204030204" pitchFamily="49" charset="0"/>
              </a:rPr>
              <a:t>bool</a:t>
            </a:r>
            <a:r>
              <a:rPr lang="en-US" sz="2000">
                <a:solidFill>
                  <a:srgbClr val="000000"/>
                </a:solidFill>
                <a:latin typeface="Consolas" panose="020B0609020204030204" pitchFamily="49" charset="0"/>
              </a:rPr>
              <a:t> </a:t>
            </a:r>
            <a:r>
              <a:rPr lang="en-US" sz="2000">
                <a:solidFill>
                  <a:srgbClr val="795E26"/>
                </a:solidFill>
                <a:latin typeface="Consolas" panose="020B0609020204030204" pitchFamily="49" charset="0"/>
              </a:rPr>
              <a:t>Enqueue</a:t>
            </a:r>
            <a:r>
              <a:rPr lang="en-US" sz="2000">
                <a:solidFill>
                  <a:srgbClr val="000000"/>
                </a:solidFill>
                <a:latin typeface="Consolas" panose="020B0609020204030204" pitchFamily="49" charset="0"/>
              </a:rPr>
              <a:t>(</a:t>
            </a:r>
            <a:r>
              <a:rPr lang="en-US" sz="2000">
                <a:solidFill>
                  <a:srgbClr val="267F99"/>
                </a:solidFill>
                <a:latin typeface="Consolas" panose="020B0609020204030204" pitchFamily="49" charset="0"/>
              </a:rPr>
              <a:t>LQUEUE</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&amp;</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NODE</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p</a:t>
            </a:r>
            <a:r>
              <a:rPr lang="en-US" sz="2000">
                <a:solidFill>
                  <a:srgbClr val="000000"/>
                </a:solidFill>
                <a:latin typeface="Consolas" panose="020B0609020204030204" pitchFamily="49" charset="0"/>
              </a:rPr>
              <a:t> = </a:t>
            </a:r>
            <a:r>
              <a:rPr lang="en-US" sz="2000">
                <a:solidFill>
                  <a:srgbClr val="795E26"/>
                </a:solidFill>
                <a:latin typeface="Consolas" panose="020B0609020204030204" pitchFamily="49" charset="0"/>
              </a:rPr>
              <a:t>CreateNode</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if</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p</a:t>
            </a:r>
            <a:r>
              <a:rPr lang="en-US" sz="2000">
                <a:solidFill>
                  <a:srgbClr val="000000"/>
                </a:solidFill>
                <a:latin typeface="Consolas" panose="020B0609020204030204" pitchFamily="49" charset="0"/>
              </a:rPr>
              <a:t> != </a:t>
            </a:r>
            <a:r>
              <a:rPr lang="en-US" sz="2000">
                <a:solidFill>
                  <a:srgbClr val="0000FF"/>
                </a:solidFill>
                <a:latin typeface="Consolas" panose="020B0609020204030204" pitchFamily="49" charset="0"/>
              </a:rPr>
              <a:t>NULL</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pTail</a:t>
            </a:r>
            <a:r>
              <a:rPr lang="en-US" sz="2000">
                <a:solidFill>
                  <a:srgbClr val="000000"/>
                </a:solidFill>
                <a:latin typeface="Consolas" panose="020B0609020204030204" pitchFamily="49" charset="0"/>
              </a:rPr>
              <a:t>-&gt;</a:t>
            </a:r>
            <a:r>
              <a:rPr lang="en-US" sz="2000">
                <a:solidFill>
                  <a:srgbClr val="001080"/>
                </a:solidFill>
                <a:latin typeface="Consolas" panose="020B0609020204030204" pitchFamily="49" charset="0"/>
              </a:rPr>
              <a:t>pNext</a:t>
            </a:r>
            <a:r>
              <a:rPr lang="en-US" sz="2000">
                <a:solidFill>
                  <a:srgbClr val="000000"/>
                </a:solidFill>
                <a:latin typeface="Consolas" panose="020B0609020204030204" pitchFamily="49" charset="0"/>
              </a:rPr>
              <a:t> = </a:t>
            </a:r>
            <a:r>
              <a:rPr lang="en-US" sz="2000">
                <a:solidFill>
                  <a:srgbClr val="001080"/>
                </a:solidFill>
                <a:latin typeface="Consolas" panose="020B0609020204030204" pitchFamily="49" charset="0"/>
              </a:rPr>
              <a:t>p</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pTail</a:t>
            </a:r>
            <a:r>
              <a:rPr lang="en-US" sz="2000">
                <a:solidFill>
                  <a:srgbClr val="000000"/>
                </a:solidFill>
                <a:latin typeface="Consolas" panose="020B0609020204030204" pitchFamily="49" charset="0"/>
              </a:rPr>
              <a:t> = </a:t>
            </a:r>
            <a:r>
              <a:rPr lang="en-US" sz="2000">
                <a:solidFill>
                  <a:srgbClr val="001080"/>
                </a:solidFill>
                <a:latin typeface="Consolas" panose="020B0609020204030204" pitchFamily="49" charset="0"/>
              </a:rPr>
              <a:t>p</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true</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false</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a:t>
            </a:r>
          </a:p>
        </p:txBody>
      </p:sp>
    </p:spTree>
    <p:extLst>
      <p:ext uri="{BB962C8B-B14F-4D97-AF65-F5344CB8AC3E}">
        <p14:creationId xmlns:p14="http://schemas.microsoft.com/office/powerpoint/2010/main" val="124714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999DD-04B4-46C4-8016-1F6EAB3ABDDC}"/>
              </a:ext>
            </a:extLst>
          </p:cNvPr>
          <p:cNvSpPr>
            <a:spLocks noGrp="1"/>
          </p:cNvSpPr>
          <p:nvPr>
            <p:ph type="title"/>
          </p:nvPr>
        </p:nvSpPr>
        <p:spPr/>
        <p:txBody>
          <a:bodyPr/>
          <a:lstStyle/>
          <a:p>
            <a:r>
              <a:rPr lang="en-US"/>
              <a:t>Queue – Các thao tác c</a:t>
            </a:r>
            <a:r>
              <a:rPr lang="vi-VN"/>
              <a:t>ơ</a:t>
            </a:r>
            <a:r>
              <a:rPr lang="en-US"/>
              <a:t> bản</a:t>
            </a:r>
          </a:p>
        </p:txBody>
      </p:sp>
      <p:sp>
        <p:nvSpPr>
          <p:cNvPr id="3" name="Content Placeholder 2">
            <a:extLst>
              <a:ext uri="{FF2B5EF4-FFF2-40B4-BE49-F238E27FC236}">
                <a16:creationId xmlns:a16="http://schemas.microsoft.com/office/drawing/2014/main" id="{6D715EC7-C295-45F7-903D-752EE7E3901A}"/>
              </a:ext>
            </a:extLst>
          </p:cNvPr>
          <p:cNvSpPr>
            <a:spLocks noGrp="1"/>
          </p:cNvSpPr>
          <p:nvPr>
            <p:ph idx="1"/>
          </p:nvPr>
        </p:nvSpPr>
        <p:spPr/>
        <p:txBody>
          <a:bodyPr/>
          <a:lstStyle/>
          <a:p>
            <a:r>
              <a:rPr lang="en-AU" altLang="en-US">
                <a:solidFill>
                  <a:srgbClr val="001A4F"/>
                </a:solidFill>
              </a:rPr>
              <a:t>Lấy ra một phần tử ở đầu Queue</a:t>
            </a:r>
            <a:r>
              <a:rPr lang="en-US" altLang="en-US">
                <a:solidFill>
                  <a:srgbClr val="001A4F"/>
                </a:solidFill>
              </a:rPr>
              <a:t>:</a:t>
            </a:r>
            <a:endParaRPr lang="en-AU" altLang="en-US">
              <a:solidFill>
                <a:srgbClr val="001A4F"/>
              </a:solidFill>
            </a:endParaRPr>
          </a:p>
        </p:txBody>
      </p:sp>
      <p:sp>
        <p:nvSpPr>
          <p:cNvPr id="4" name="Footer Placeholder 3">
            <a:extLst>
              <a:ext uri="{FF2B5EF4-FFF2-40B4-BE49-F238E27FC236}">
                <a16:creationId xmlns:a16="http://schemas.microsoft.com/office/drawing/2014/main" id="{56E54417-6B54-4EF3-8CE5-B796F8B554A0}"/>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56B90CD3-B199-433D-B50F-7E7A65918B4E}"/>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695DFB4E-D092-4E3C-9E76-14F7A012883B}"/>
              </a:ext>
            </a:extLst>
          </p:cNvPr>
          <p:cNvSpPr>
            <a:spLocks noGrp="1"/>
          </p:cNvSpPr>
          <p:nvPr>
            <p:ph type="sldNum" sz="quarter" idx="12"/>
          </p:nvPr>
        </p:nvSpPr>
        <p:spPr/>
        <p:txBody>
          <a:bodyPr/>
          <a:lstStyle/>
          <a:p>
            <a:fld id="{21782F98-F548-4E33-958E-D2A6C4BA8EFA}" type="slidenum">
              <a:rPr lang="en-US" smtClean="0"/>
              <a:t>22</a:t>
            </a:fld>
            <a:endParaRPr lang="en-US"/>
          </a:p>
        </p:txBody>
      </p:sp>
      <p:pic>
        <p:nvPicPr>
          <p:cNvPr id="9" name="Picture 2">
            <a:extLst>
              <a:ext uri="{FF2B5EF4-FFF2-40B4-BE49-F238E27FC236}">
                <a16:creationId xmlns:a16="http://schemas.microsoft.com/office/drawing/2014/main" id="{54DB286B-B56F-4D32-B126-0181E47C84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4930" y="2084839"/>
            <a:ext cx="3878262" cy="214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a:extLst>
              <a:ext uri="{FF2B5EF4-FFF2-40B4-BE49-F238E27FC236}">
                <a16:creationId xmlns:a16="http://schemas.microsoft.com/office/drawing/2014/main" id="{EB9A9E65-A467-488F-96A7-F0D0DDBC0E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5509" y="2051215"/>
            <a:ext cx="4084637" cy="199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a:extLst>
              <a:ext uri="{FF2B5EF4-FFF2-40B4-BE49-F238E27FC236}">
                <a16:creationId xmlns:a16="http://schemas.microsoft.com/office/drawing/2014/main" id="{7F1830BB-3109-4183-A6DF-BF5A544DBC6F}"/>
              </a:ext>
            </a:extLst>
          </p:cNvPr>
          <p:cNvSpPr/>
          <p:nvPr/>
        </p:nvSpPr>
        <p:spPr>
          <a:xfrm>
            <a:off x="7725509" y="4230589"/>
            <a:ext cx="4173934" cy="2308324"/>
          </a:xfrm>
          <a:prstGeom prst="rect">
            <a:avLst/>
          </a:prstGeom>
        </p:spPr>
        <p:txBody>
          <a:bodyPr wrap="square">
            <a:spAutoFit/>
          </a:bodyPr>
          <a:lstStyle/>
          <a:p>
            <a:r>
              <a:rPr lang="en-US" sz="1800">
                <a:solidFill>
                  <a:srgbClr val="267F99"/>
                </a:solidFill>
                <a:latin typeface="Consolas" panose="020B0609020204030204" pitchFamily="49" charset="0"/>
              </a:rPr>
              <a:t>DATA</a:t>
            </a:r>
            <a:r>
              <a:rPr lang="en-US" sz="1800">
                <a:solidFill>
                  <a:srgbClr val="000000"/>
                </a:solidFill>
                <a:latin typeface="Consolas" panose="020B0609020204030204" pitchFamily="49" charset="0"/>
              </a:rPr>
              <a:t> </a:t>
            </a:r>
            <a:r>
              <a:rPr lang="en-US" sz="1800">
                <a:solidFill>
                  <a:srgbClr val="795E26"/>
                </a:solidFill>
                <a:latin typeface="Consolas" panose="020B0609020204030204" pitchFamily="49" charset="0"/>
              </a:rPr>
              <a:t>Dequeue</a:t>
            </a:r>
            <a:r>
              <a:rPr lang="en-US" sz="1800">
                <a:solidFill>
                  <a:srgbClr val="000000"/>
                </a:solidFill>
                <a:latin typeface="Consolas" panose="020B0609020204030204" pitchFamily="49" charset="0"/>
              </a:rPr>
              <a:t>(</a:t>
            </a:r>
            <a:r>
              <a:rPr lang="en-US" sz="1800">
                <a:solidFill>
                  <a:srgbClr val="267F99"/>
                </a:solidFill>
                <a:latin typeface="Consolas" panose="020B0609020204030204" pitchFamily="49" charset="0"/>
              </a:rPr>
              <a:t>LQUEUE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&amp;</a:t>
            </a:r>
            <a:r>
              <a:rPr lang="en-US" sz="1800">
                <a:solidFill>
                  <a:srgbClr val="001080"/>
                </a:solidFill>
                <a:latin typeface="Consolas" panose="020B0609020204030204" pitchFamily="49" charset="0"/>
              </a:rPr>
              <a:t>q</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AF00DB"/>
                </a:solidFill>
                <a:latin typeface="Consolas" panose="020B0609020204030204" pitchFamily="49" charset="0"/>
              </a:rPr>
              <a:t>if</a:t>
            </a:r>
            <a:r>
              <a:rPr lang="en-US" sz="1800">
                <a:solidFill>
                  <a:srgbClr val="000000"/>
                </a:solidFill>
                <a:latin typeface="Consolas" panose="020B0609020204030204" pitchFamily="49" charset="0"/>
              </a:rPr>
              <a:t> ( !</a:t>
            </a:r>
            <a:r>
              <a:rPr lang="en-US" sz="1800">
                <a:solidFill>
                  <a:srgbClr val="795E26"/>
                </a:solidFill>
                <a:latin typeface="Consolas" panose="020B0609020204030204" pitchFamily="49" charset="0"/>
              </a:rPr>
              <a:t>IsEmpty</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q</a:t>
            </a:r>
            <a:r>
              <a:rPr lang="en-US" sz="1800">
                <a:solidFill>
                  <a:srgbClr val="000000"/>
                </a:solidFill>
                <a:latin typeface="Consolas" panose="020B0609020204030204" pitchFamily="49" charset="0"/>
              </a:rPr>
              <a:t>) ) {</a:t>
            </a:r>
          </a:p>
          <a:p>
            <a:r>
              <a:rPr lang="en-US" sz="1800">
                <a:solidFill>
                  <a:srgbClr val="000000"/>
                </a:solidFill>
                <a:latin typeface="Consolas" panose="020B0609020204030204" pitchFamily="49" charset="0"/>
              </a:rPr>
              <a:t>        </a:t>
            </a:r>
            <a:r>
              <a:rPr lang="en-US" sz="1800">
                <a:solidFill>
                  <a:srgbClr val="267F99"/>
                </a:solidFill>
                <a:latin typeface="Consolas" panose="020B0609020204030204" pitchFamily="49" charset="0"/>
              </a:rPr>
              <a:t>DATA</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 = </a:t>
            </a:r>
            <a:r>
              <a:rPr lang="en-US" sz="1800">
                <a:solidFill>
                  <a:srgbClr val="001080"/>
                </a:solidFill>
                <a:latin typeface="Consolas" panose="020B0609020204030204" pitchFamily="49" charset="0"/>
              </a:rPr>
              <a:t>q</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pHead</a:t>
            </a:r>
            <a:r>
              <a:rPr lang="en-US" sz="1800">
                <a:solidFill>
                  <a:srgbClr val="000000"/>
                </a:solidFill>
                <a:latin typeface="Consolas" panose="020B0609020204030204" pitchFamily="49" charset="0"/>
              </a:rPr>
              <a:t>-&gt;</a:t>
            </a:r>
            <a:r>
              <a:rPr lang="en-US" sz="1800">
                <a:solidFill>
                  <a:srgbClr val="001080"/>
                </a:solidFill>
                <a:latin typeface="Consolas" panose="020B0609020204030204" pitchFamily="49" charset="0"/>
              </a:rPr>
              <a:t>info</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795E26"/>
                </a:solidFill>
                <a:latin typeface="Consolas" panose="020B0609020204030204" pitchFamily="49" charset="0"/>
              </a:rPr>
              <a:t>DeleteHead</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q</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AF00DB"/>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AF00DB"/>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NULL</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a:t>
            </a:r>
          </a:p>
        </p:txBody>
      </p:sp>
      <p:sp>
        <p:nvSpPr>
          <p:cNvPr id="12" name="Rectangle 11">
            <a:extLst>
              <a:ext uri="{FF2B5EF4-FFF2-40B4-BE49-F238E27FC236}">
                <a16:creationId xmlns:a16="http://schemas.microsoft.com/office/drawing/2014/main" id="{6B4B0E4B-820D-4D69-A29B-94172A8DADAD}"/>
              </a:ext>
            </a:extLst>
          </p:cNvPr>
          <p:cNvSpPr/>
          <p:nvPr/>
        </p:nvSpPr>
        <p:spPr>
          <a:xfrm>
            <a:off x="1594930" y="4226377"/>
            <a:ext cx="4761990" cy="2585323"/>
          </a:xfrm>
          <a:prstGeom prst="rect">
            <a:avLst/>
          </a:prstGeom>
        </p:spPr>
        <p:txBody>
          <a:bodyPr wrap="square">
            <a:spAutoFit/>
          </a:bodyPr>
          <a:lstStyle/>
          <a:p>
            <a:r>
              <a:rPr lang="en-US" sz="1800">
                <a:solidFill>
                  <a:srgbClr val="267F99"/>
                </a:solidFill>
                <a:latin typeface="Consolas" panose="020B0609020204030204" pitchFamily="49" charset="0"/>
              </a:rPr>
              <a:t>DATA</a:t>
            </a:r>
            <a:r>
              <a:rPr lang="en-US" sz="1800">
                <a:solidFill>
                  <a:srgbClr val="000000"/>
                </a:solidFill>
                <a:latin typeface="Consolas" panose="020B0609020204030204" pitchFamily="49" charset="0"/>
              </a:rPr>
              <a:t> </a:t>
            </a:r>
            <a:r>
              <a:rPr lang="en-US" sz="1800">
                <a:solidFill>
                  <a:srgbClr val="795E26"/>
                </a:solidFill>
                <a:latin typeface="Consolas" panose="020B0609020204030204" pitchFamily="49" charset="0"/>
              </a:rPr>
              <a:t>Dequeue</a:t>
            </a:r>
            <a:r>
              <a:rPr lang="en-US" sz="1800">
                <a:solidFill>
                  <a:srgbClr val="000000"/>
                </a:solidFill>
                <a:latin typeface="Consolas" panose="020B0609020204030204" pitchFamily="49" charset="0"/>
              </a:rPr>
              <a:t>(</a:t>
            </a:r>
            <a:r>
              <a:rPr lang="en-US" sz="1800">
                <a:solidFill>
                  <a:srgbClr val="267F99"/>
                </a:solidFill>
                <a:latin typeface="Consolas" panose="020B0609020204030204" pitchFamily="49" charset="0"/>
              </a:rPr>
              <a:t>CQUEUE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&amp;</a:t>
            </a:r>
            <a:r>
              <a:rPr lang="en-US" sz="1800">
                <a:solidFill>
                  <a:srgbClr val="001080"/>
                </a:solidFill>
                <a:latin typeface="Consolas" panose="020B0609020204030204" pitchFamily="49" charset="0"/>
              </a:rPr>
              <a:t>q</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AF00DB"/>
                </a:solidFill>
                <a:latin typeface="Consolas" panose="020B0609020204030204" pitchFamily="49" charset="0"/>
              </a:rPr>
              <a:t>if</a:t>
            </a:r>
            <a:r>
              <a:rPr lang="en-US" sz="1800">
                <a:solidFill>
                  <a:srgbClr val="000000"/>
                </a:solidFill>
                <a:latin typeface="Consolas" panose="020B0609020204030204" pitchFamily="49" charset="0"/>
              </a:rPr>
              <a:t> ( !</a:t>
            </a:r>
            <a:r>
              <a:rPr lang="en-US" sz="1800">
                <a:solidFill>
                  <a:srgbClr val="795E26"/>
                </a:solidFill>
                <a:latin typeface="Consolas" panose="020B0609020204030204" pitchFamily="49" charset="0"/>
              </a:rPr>
              <a:t>IsEmpty</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q</a:t>
            </a:r>
            <a:r>
              <a:rPr lang="en-US" sz="1800">
                <a:solidFill>
                  <a:srgbClr val="000000"/>
                </a:solidFill>
                <a:latin typeface="Consolas" panose="020B0609020204030204" pitchFamily="49" charset="0"/>
              </a:rPr>
              <a:t>) ) {</a:t>
            </a:r>
          </a:p>
          <a:p>
            <a:r>
              <a:rPr lang="en-US" sz="1800">
                <a:solidFill>
                  <a:srgbClr val="000000"/>
                </a:solidFill>
                <a:latin typeface="Consolas" panose="020B0609020204030204" pitchFamily="49" charset="0"/>
              </a:rPr>
              <a:t>        </a:t>
            </a:r>
            <a:r>
              <a:rPr lang="en-US" sz="1800">
                <a:solidFill>
                  <a:srgbClr val="267F99"/>
                </a:solidFill>
                <a:latin typeface="Consolas" panose="020B0609020204030204" pitchFamily="49" charset="0"/>
              </a:rPr>
              <a:t>DATA</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 = </a:t>
            </a:r>
            <a:r>
              <a:rPr lang="en-US" sz="1800">
                <a:solidFill>
                  <a:srgbClr val="001080"/>
                </a:solidFill>
                <a:latin typeface="Consolas" panose="020B0609020204030204" pitchFamily="49" charset="0"/>
              </a:rPr>
              <a:t>q</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a</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q</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front</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q</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front</a:t>
            </a:r>
            <a:r>
              <a:rPr lang="en-US" sz="1800">
                <a:solidFill>
                  <a:srgbClr val="000000"/>
                </a:solidFill>
                <a:latin typeface="Consolas" panose="020B0609020204030204" pitchFamily="49" charset="0"/>
              </a:rPr>
              <a:t> = (</a:t>
            </a:r>
            <a:r>
              <a:rPr lang="en-US" sz="1800">
                <a:solidFill>
                  <a:srgbClr val="001080"/>
                </a:solidFill>
                <a:latin typeface="Consolas" panose="020B0609020204030204" pitchFamily="49" charset="0"/>
              </a:rPr>
              <a:t>q</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front</a:t>
            </a:r>
            <a:r>
              <a:rPr lang="en-US" sz="1800">
                <a:solidFill>
                  <a:srgbClr val="000000"/>
                </a:solidFill>
                <a:latin typeface="Consolas" panose="020B0609020204030204" pitchFamily="49" charset="0"/>
              </a:rPr>
              <a:t> + </a:t>
            </a:r>
            <a:r>
              <a:rPr lang="en-US" sz="1800">
                <a:solidFill>
                  <a:srgbClr val="098658"/>
                </a:solidFill>
                <a:latin typeface="Consolas" panose="020B0609020204030204" pitchFamily="49" charset="0"/>
              </a:rPr>
              <a:t>1</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N</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q</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count</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AF00DB"/>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AF00DB"/>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NULL</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a:t>
            </a:r>
          </a:p>
        </p:txBody>
      </p:sp>
    </p:spTree>
    <p:extLst>
      <p:ext uri="{BB962C8B-B14F-4D97-AF65-F5344CB8AC3E}">
        <p14:creationId xmlns:p14="http://schemas.microsoft.com/office/powerpoint/2010/main" val="2763414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999DD-04B4-46C4-8016-1F6EAB3ABDDC}"/>
              </a:ext>
            </a:extLst>
          </p:cNvPr>
          <p:cNvSpPr>
            <a:spLocks noGrp="1"/>
          </p:cNvSpPr>
          <p:nvPr>
            <p:ph type="title"/>
          </p:nvPr>
        </p:nvSpPr>
        <p:spPr/>
        <p:txBody>
          <a:bodyPr/>
          <a:lstStyle/>
          <a:p>
            <a:r>
              <a:rPr lang="en-US"/>
              <a:t>Queue – Các thao tác c</a:t>
            </a:r>
            <a:r>
              <a:rPr lang="vi-VN"/>
              <a:t>ơ</a:t>
            </a:r>
            <a:r>
              <a:rPr lang="en-US"/>
              <a:t> bản</a:t>
            </a:r>
          </a:p>
        </p:txBody>
      </p:sp>
      <p:sp>
        <p:nvSpPr>
          <p:cNvPr id="3" name="Content Placeholder 2">
            <a:extLst>
              <a:ext uri="{FF2B5EF4-FFF2-40B4-BE49-F238E27FC236}">
                <a16:creationId xmlns:a16="http://schemas.microsoft.com/office/drawing/2014/main" id="{6D715EC7-C295-45F7-903D-752EE7E3901A}"/>
              </a:ext>
            </a:extLst>
          </p:cNvPr>
          <p:cNvSpPr>
            <a:spLocks noGrp="1"/>
          </p:cNvSpPr>
          <p:nvPr>
            <p:ph idx="1"/>
          </p:nvPr>
        </p:nvSpPr>
        <p:spPr/>
        <p:txBody>
          <a:bodyPr/>
          <a:lstStyle/>
          <a:p>
            <a:r>
              <a:rPr lang="en-AU" altLang="en-US">
                <a:solidFill>
                  <a:srgbClr val="001A4F"/>
                </a:solidFill>
              </a:rPr>
              <a:t>Xem thông tin phần tử ở đầu/cuối Queue:</a:t>
            </a:r>
          </a:p>
          <a:p>
            <a:endParaRPr lang="en-US"/>
          </a:p>
        </p:txBody>
      </p:sp>
      <p:sp>
        <p:nvSpPr>
          <p:cNvPr id="4" name="Footer Placeholder 3">
            <a:extLst>
              <a:ext uri="{FF2B5EF4-FFF2-40B4-BE49-F238E27FC236}">
                <a16:creationId xmlns:a16="http://schemas.microsoft.com/office/drawing/2014/main" id="{56E54417-6B54-4EF3-8CE5-B796F8B554A0}"/>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56B90CD3-B199-433D-B50F-7E7A65918B4E}"/>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695DFB4E-D092-4E3C-9E76-14F7A012883B}"/>
              </a:ext>
            </a:extLst>
          </p:cNvPr>
          <p:cNvSpPr>
            <a:spLocks noGrp="1"/>
          </p:cNvSpPr>
          <p:nvPr>
            <p:ph type="sldNum" sz="quarter" idx="12"/>
          </p:nvPr>
        </p:nvSpPr>
        <p:spPr/>
        <p:txBody>
          <a:bodyPr/>
          <a:lstStyle/>
          <a:p>
            <a:fld id="{21782F98-F548-4E33-958E-D2A6C4BA8EFA}" type="slidenum">
              <a:rPr lang="en-US" smtClean="0"/>
              <a:t>23</a:t>
            </a:fld>
            <a:endParaRPr lang="en-US"/>
          </a:p>
        </p:txBody>
      </p:sp>
      <p:pic>
        <p:nvPicPr>
          <p:cNvPr id="7" name="Picture 2">
            <a:extLst>
              <a:ext uri="{FF2B5EF4-FFF2-40B4-BE49-F238E27FC236}">
                <a16:creationId xmlns:a16="http://schemas.microsoft.com/office/drawing/2014/main" id="{596E84A0-6EF5-4D5C-8672-43232B3361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125" y="2238072"/>
            <a:ext cx="3634268" cy="150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a:extLst>
              <a:ext uri="{FF2B5EF4-FFF2-40B4-BE49-F238E27FC236}">
                <a16:creationId xmlns:a16="http://schemas.microsoft.com/office/drawing/2014/main" id="{4C26808C-0E22-4C11-8151-533155A360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013" y="2127368"/>
            <a:ext cx="3813787" cy="1723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743F687A-53E9-4C81-A725-A0ECD5F27836}"/>
              </a:ext>
            </a:extLst>
          </p:cNvPr>
          <p:cNvSpPr/>
          <p:nvPr/>
        </p:nvSpPr>
        <p:spPr>
          <a:xfrm>
            <a:off x="1562125" y="4016276"/>
            <a:ext cx="4661200" cy="2308324"/>
          </a:xfrm>
          <a:prstGeom prst="rect">
            <a:avLst/>
          </a:prstGeom>
        </p:spPr>
        <p:txBody>
          <a:bodyPr wrap="square">
            <a:spAutoFit/>
          </a:bodyPr>
          <a:lstStyle/>
          <a:p>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795E26"/>
                </a:solidFill>
                <a:latin typeface="Consolas" panose="020B0609020204030204" pitchFamily="49" charset="0"/>
              </a:rPr>
              <a:t>GetFront</a:t>
            </a:r>
            <a:r>
              <a:rPr lang="en-US" sz="2000">
                <a:solidFill>
                  <a:srgbClr val="000000"/>
                </a:solidFill>
                <a:latin typeface="Consolas" panose="020B0609020204030204" pitchFamily="49" charset="0"/>
              </a:rPr>
              <a:t>(</a:t>
            </a:r>
            <a:r>
              <a:rPr lang="en-US" sz="2000">
                <a:solidFill>
                  <a:srgbClr val="267F99"/>
                </a:solidFill>
                <a:latin typeface="Consolas" panose="020B0609020204030204" pitchFamily="49" charset="0"/>
              </a:rPr>
              <a:t>CQUEUE</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if</a:t>
            </a:r>
            <a:r>
              <a:rPr lang="en-US" sz="2000">
                <a:solidFill>
                  <a:srgbClr val="000000"/>
                </a:solidFill>
                <a:latin typeface="Consolas" panose="020B0609020204030204" pitchFamily="49" charset="0"/>
              </a:rPr>
              <a:t> ( !</a:t>
            </a:r>
            <a:r>
              <a:rPr lang="en-US" sz="2000">
                <a:solidFill>
                  <a:srgbClr val="795E26"/>
                </a:solidFill>
                <a:latin typeface="Consolas" panose="020B0609020204030204" pitchFamily="49" charset="0"/>
              </a:rPr>
              <a:t>IsEmpty</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 ) {</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 =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a</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front</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NULL</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a:t>
            </a:r>
          </a:p>
        </p:txBody>
      </p:sp>
      <p:sp>
        <p:nvSpPr>
          <p:cNvPr id="11" name="Rectangle 10">
            <a:extLst>
              <a:ext uri="{FF2B5EF4-FFF2-40B4-BE49-F238E27FC236}">
                <a16:creationId xmlns:a16="http://schemas.microsoft.com/office/drawing/2014/main" id="{070EABF5-716B-4E24-A5EA-7A4A45ADEC59}"/>
              </a:ext>
            </a:extLst>
          </p:cNvPr>
          <p:cNvSpPr/>
          <p:nvPr/>
        </p:nvSpPr>
        <p:spPr>
          <a:xfrm>
            <a:off x="7155426" y="4016276"/>
            <a:ext cx="4661200" cy="2308324"/>
          </a:xfrm>
          <a:prstGeom prst="rect">
            <a:avLst/>
          </a:prstGeom>
        </p:spPr>
        <p:txBody>
          <a:bodyPr wrap="square">
            <a:spAutoFit/>
          </a:bodyPr>
          <a:lstStyle/>
          <a:p>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795E26"/>
                </a:solidFill>
                <a:latin typeface="Consolas" panose="020B0609020204030204" pitchFamily="49" charset="0"/>
              </a:rPr>
              <a:t>GetFront</a:t>
            </a:r>
            <a:r>
              <a:rPr lang="en-US" sz="2000">
                <a:solidFill>
                  <a:srgbClr val="000000"/>
                </a:solidFill>
                <a:latin typeface="Consolas" panose="020B0609020204030204" pitchFamily="49" charset="0"/>
              </a:rPr>
              <a:t>(</a:t>
            </a:r>
            <a:r>
              <a:rPr lang="en-US" sz="2000">
                <a:solidFill>
                  <a:srgbClr val="267F99"/>
                </a:solidFill>
                <a:latin typeface="Consolas" panose="020B0609020204030204" pitchFamily="49" charset="0"/>
              </a:rPr>
              <a:t>LQUEUE</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if</a:t>
            </a:r>
            <a:r>
              <a:rPr lang="en-US" sz="2000">
                <a:solidFill>
                  <a:srgbClr val="000000"/>
                </a:solidFill>
                <a:latin typeface="Consolas" panose="020B0609020204030204" pitchFamily="49" charset="0"/>
              </a:rPr>
              <a:t> ( !</a:t>
            </a:r>
            <a:r>
              <a:rPr lang="en-US" sz="2000">
                <a:solidFill>
                  <a:srgbClr val="795E26"/>
                </a:solidFill>
                <a:latin typeface="Consolas" panose="020B0609020204030204" pitchFamily="49" charset="0"/>
              </a:rPr>
              <a:t>IsEmpty</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 ) {</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 =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pHead</a:t>
            </a:r>
            <a:r>
              <a:rPr lang="en-US" sz="2000">
                <a:solidFill>
                  <a:srgbClr val="000000"/>
                </a:solidFill>
                <a:latin typeface="Consolas" panose="020B0609020204030204" pitchFamily="49" charset="0"/>
              </a:rPr>
              <a:t>-&gt;</a:t>
            </a:r>
            <a:r>
              <a:rPr lang="en-US" sz="2000">
                <a:solidFill>
                  <a:srgbClr val="001080"/>
                </a:solidFill>
                <a:latin typeface="Consolas" panose="020B0609020204030204" pitchFamily="49" charset="0"/>
              </a:rPr>
              <a:t>info</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NULL</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a:t>
            </a:r>
          </a:p>
        </p:txBody>
      </p:sp>
    </p:spTree>
    <p:extLst>
      <p:ext uri="{BB962C8B-B14F-4D97-AF65-F5344CB8AC3E}">
        <p14:creationId xmlns:p14="http://schemas.microsoft.com/office/powerpoint/2010/main" val="648435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999DD-04B4-46C4-8016-1F6EAB3ABDDC}"/>
              </a:ext>
            </a:extLst>
          </p:cNvPr>
          <p:cNvSpPr>
            <a:spLocks noGrp="1"/>
          </p:cNvSpPr>
          <p:nvPr>
            <p:ph type="title"/>
          </p:nvPr>
        </p:nvSpPr>
        <p:spPr/>
        <p:txBody>
          <a:bodyPr/>
          <a:lstStyle/>
          <a:p>
            <a:r>
              <a:rPr lang="en-US"/>
              <a:t>Queue – Các thao tác c</a:t>
            </a:r>
            <a:r>
              <a:rPr lang="vi-VN"/>
              <a:t>ơ</a:t>
            </a:r>
            <a:r>
              <a:rPr lang="en-US"/>
              <a:t> bản</a:t>
            </a:r>
          </a:p>
        </p:txBody>
      </p:sp>
      <p:sp>
        <p:nvSpPr>
          <p:cNvPr id="3" name="Content Placeholder 2">
            <a:extLst>
              <a:ext uri="{FF2B5EF4-FFF2-40B4-BE49-F238E27FC236}">
                <a16:creationId xmlns:a16="http://schemas.microsoft.com/office/drawing/2014/main" id="{6D715EC7-C295-45F7-903D-752EE7E3901A}"/>
              </a:ext>
            </a:extLst>
          </p:cNvPr>
          <p:cNvSpPr>
            <a:spLocks noGrp="1"/>
          </p:cNvSpPr>
          <p:nvPr>
            <p:ph idx="1"/>
          </p:nvPr>
        </p:nvSpPr>
        <p:spPr/>
        <p:txBody>
          <a:bodyPr/>
          <a:lstStyle/>
          <a:p>
            <a:r>
              <a:rPr lang="en-AU" altLang="en-US">
                <a:solidFill>
                  <a:srgbClr val="001A4F"/>
                </a:solidFill>
              </a:rPr>
              <a:t>Xem thông tin phần tử ở cuối Queue:</a:t>
            </a:r>
          </a:p>
          <a:p>
            <a:endParaRPr lang="en-US"/>
          </a:p>
        </p:txBody>
      </p:sp>
      <p:sp>
        <p:nvSpPr>
          <p:cNvPr id="4" name="Footer Placeholder 3">
            <a:extLst>
              <a:ext uri="{FF2B5EF4-FFF2-40B4-BE49-F238E27FC236}">
                <a16:creationId xmlns:a16="http://schemas.microsoft.com/office/drawing/2014/main" id="{56E54417-6B54-4EF3-8CE5-B796F8B554A0}"/>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56B90CD3-B199-433D-B50F-7E7A65918B4E}"/>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695DFB4E-D092-4E3C-9E76-14F7A012883B}"/>
              </a:ext>
            </a:extLst>
          </p:cNvPr>
          <p:cNvSpPr>
            <a:spLocks noGrp="1"/>
          </p:cNvSpPr>
          <p:nvPr>
            <p:ph type="sldNum" sz="quarter" idx="12"/>
          </p:nvPr>
        </p:nvSpPr>
        <p:spPr/>
        <p:txBody>
          <a:bodyPr/>
          <a:lstStyle/>
          <a:p>
            <a:fld id="{21782F98-F548-4E33-958E-D2A6C4BA8EFA}" type="slidenum">
              <a:rPr lang="en-US" smtClean="0"/>
              <a:t>24</a:t>
            </a:fld>
            <a:endParaRPr lang="en-US"/>
          </a:p>
        </p:txBody>
      </p:sp>
      <p:sp>
        <p:nvSpPr>
          <p:cNvPr id="7" name="Rectangle 6">
            <a:extLst>
              <a:ext uri="{FF2B5EF4-FFF2-40B4-BE49-F238E27FC236}">
                <a16:creationId xmlns:a16="http://schemas.microsoft.com/office/drawing/2014/main" id="{1CB7FD62-4347-45AF-BAB2-2CAD3E781C48}"/>
              </a:ext>
            </a:extLst>
          </p:cNvPr>
          <p:cNvSpPr/>
          <p:nvPr/>
        </p:nvSpPr>
        <p:spPr>
          <a:xfrm>
            <a:off x="1562125" y="4016276"/>
            <a:ext cx="4571999" cy="2308324"/>
          </a:xfrm>
          <a:prstGeom prst="rect">
            <a:avLst/>
          </a:prstGeom>
        </p:spPr>
        <p:txBody>
          <a:bodyPr wrap="square">
            <a:spAutoFit/>
          </a:bodyPr>
          <a:lstStyle/>
          <a:p>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795E26"/>
                </a:solidFill>
                <a:latin typeface="Consolas" panose="020B0609020204030204" pitchFamily="49" charset="0"/>
              </a:rPr>
              <a:t>GetRear</a:t>
            </a:r>
            <a:r>
              <a:rPr lang="en-US" sz="2000">
                <a:solidFill>
                  <a:srgbClr val="000000"/>
                </a:solidFill>
                <a:latin typeface="Consolas" panose="020B0609020204030204" pitchFamily="49" charset="0"/>
              </a:rPr>
              <a:t>(</a:t>
            </a:r>
            <a:r>
              <a:rPr lang="en-US" sz="2000">
                <a:solidFill>
                  <a:srgbClr val="267F99"/>
                </a:solidFill>
                <a:latin typeface="Consolas" panose="020B0609020204030204" pitchFamily="49" charset="0"/>
              </a:rPr>
              <a:t>CQUEUE</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if</a:t>
            </a:r>
            <a:r>
              <a:rPr lang="en-US" sz="2000">
                <a:solidFill>
                  <a:srgbClr val="000000"/>
                </a:solidFill>
                <a:latin typeface="Consolas" panose="020B0609020204030204" pitchFamily="49" charset="0"/>
              </a:rPr>
              <a:t> ( !</a:t>
            </a:r>
            <a:r>
              <a:rPr lang="en-US" sz="2000">
                <a:solidFill>
                  <a:srgbClr val="795E26"/>
                </a:solidFill>
                <a:latin typeface="Consolas" panose="020B0609020204030204" pitchFamily="49" charset="0"/>
              </a:rPr>
              <a:t>IsEmpty</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 ) {</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 =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a</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rear</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NULL</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a:t>
            </a:r>
          </a:p>
        </p:txBody>
      </p:sp>
      <p:sp>
        <p:nvSpPr>
          <p:cNvPr id="8" name="Rectangle 7">
            <a:extLst>
              <a:ext uri="{FF2B5EF4-FFF2-40B4-BE49-F238E27FC236}">
                <a16:creationId xmlns:a16="http://schemas.microsoft.com/office/drawing/2014/main" id="{B98F20F6-6715-4FFD-8A17-1914F767272A}"/>
              </a:ext>
            </a:extLst>
          </p:cNvPr>
          <p:cNvSpPr/>
          <p:nvPr/>
        </p:nvSpPr>
        <p:spPr>
          <a:xfrm>
            <a:off x="7159871" y="4016276"/>
            <a:ext cx="4699779" cy="2308324"/>
          </a:xfrm>
          <a:prstGeom prst="rect">
            <a:avLst/>
          </a:prstGeom>
        </p:spPr>
        <p:txBody>
          <a:bodyPr wrap="square">
            <a:spAutoFit/>
          </a:bodyPr>
          <a:lstStyle/>
          <a:p>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795E26"/>
                </a:solidFill>
                <a:latin typeface="Consolas" panose="020B0609020204030204" pitchFamily="49" charset="0"/>
              </a:rPr>
              <a:t>GetRear</a:t>
            </a:r>
            <a:r>
              <a:rPr lang="en-US" sz="2000">
                <a:solidFill>
                  <a:srgbClr val="000000"/>
                </a:solidFill>
                <a:latin typeface="Consolas" panose="020B0609020204030204" pitchFamily="49" charset="0"/>
              </a:rPr>
              <a:t>(</a:t>
            </a:r>
            <a:r>
              <a:rPr lang="en-US" sz="2000">
                <a:solidFill>
                  <a:srgbClr val="267F99"/>
                </a:solidFill>
                <a:latin typeface="Consolas" panose="020B0609020204030204" pitchFamily="49" charset="0"/>
              </a:rPr>
              <a:t>LQUEUE</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if</a:t>
            </a:r>
            <a:r>
              <a:rPr lang="en-US" sz="2000">
                <a:solidFill>
                  <a:srgbClr val="000000"/>
                </a:solidFill>
                <a:latin typeface="Consolas" panose="020B0609020204030204" pitchFamily="49" charset="0"/>
              </a:rPr>
              <a:t> ( !</a:t>
            </a:r>
            <a:r>
              <a:rPr lang="en-US" sz="2000">
                <a:solidFill>
                  <a:srgbClr val="795E26"/>
                </a:solidFill>
                <a:latin typeface="Consolas" panose="020B0609020204030204" pitchFamily="49" charset="0"/>
              </a:rPr>
              <a:t>IsEmpty</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 ) {</a:t>
            </a:r>
          </a:p>
          <a:p>
            <a:r>
              <a:rPr lang="en-US" sz="2000">
                <a:solidFill>
                  <a:srgbClr val="000000"/>
                </a:solidFill>
                <a:latin typeface="Consolas" panose="020B0609020204030204" pitchFamily="49" charset="0"/>
              </a:rPr>
              <a:t>        </a:t>
            </a:r>
            <a:r>
              <a:rPr lang="en-US" sz="2000">
                <a:solidFill>
                  <a:srgbClr val="267F99"/>
                </a:solidFill>
                <a:latin typeface="Consolas" panose="020B0609020204030204" pitchFamily="49" charset="0"/>
              </a:rPr>
              <a:t>DATA</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 = </a:t>
            </a:r>
            <a:r>
              <a:rPr lang="en-US" sz="2000">
                <a:solidFill>
                  <a:srgbClr val="001080"/>
                </a:solidFill>
                <a:latin typeface="Consolas" panose="020B0609020204030204" pitchFamily="49" charset="0"/>
              </a:rPr>
              <a:t>q</a:t>
            </a:r>
            <a:r>
              <a:rPr lang="en-US" sz="2000">
                <a:solidFill>
                  <a:srgbClr val="000000"/>
                </a:solidFill>
                <a:latin typeface="Consolas" panose="020B0609020204030204" pitchFamily="49" charset="0"/>
              </a:rPr>
              <a:t>.</a:t>
            </a:r>
            <a:r>
              <a:rPr lang="en-US" sz="2000">
                <a:solidFill>
                  <a:srgbClr val="001080"/>
                </a:solidFill>
                <a:latin typeface="Consolas" panose="020B0609020204030204" pitchFamily="49" charset="0"/>
              </a:rPr>
              <a:t>pTail</a:t>
            </a:r>
            <a:r>
              <a:rPr lang="en-US" sz="2000">
                <a:solidFill>
                  <a:srgbClr val="000000"/>
                </a:solidFill>
                <a:latin typeface="Consolas" panose="020B0609020204030204" pitchFamily="49" charset="0"/>
              </a:rPr>
              <a:t>-&gt;</a:t>
            </a:r>
            <a:r>
              <a:rPr lang="en-US" sz="2000">
                <a:solidFill>
                  <a:srgbClr val="001080"/>
                </a:solidFill>
                <a:latin typeface="Consolas" panose="020B0609020204030204" pitchFamily="49" charset="0"/>
              </a:rPr>
              <a:t>info</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1080"/>
                </a:solidFill>
                <a:latin typeface="Consolas" panose="020B0609020204030204" pitchFamily="49" charset="0"/>
              </a:rPr>
              <a:t>x</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    }</a:t>
            </a:r>
          </a:p>
          <a:p>
            <a:r>
              <a:rPr lang="en-US" sz="2000">
                <a:solidFill>
                  <a:srgbClr val="000000"/>
                </a:solidFill>
                <a:latin typeface="Consolas" panose="020B0609020204030204" pitchFamily="49" charset="0"/>
              </a:rPr>
              <a:t>    </a:t>
            </a:r>
            <a:r>
              <a:rPr lang="en-US" sz="2000">
                <a:solidFill>
                  <a:srgbClr val="AF00DB"/>
                </a:solidFill>
                <a:latin typeface="Consolas" panose="020B0609020204030204" pitchFamily="49" charset="0"/>
              </a:rPr>
              <a:t>return</a:t>
            </a:r>
            <a:r>
              <a:rPr lang="en-US" sz="2000">
                <a:solidFill>
                  <a:srgbClr val="000000"/>
                </a:solidFill>
                <a:latin typeface="Consolas" panose="020B0609020204030204" pitchFamily="49" charset="0"/>
              </a:rPr>
              <a:t> </a:t>
            </a:r>
            <a:r>
              <a:rPr lang="en-US" sz="2000">
                <a:solidFill>
                  <a:srgbClr val="0000FF"/>
                </a:solidFill>
                <a:latin typeface="Consolas" panose="020B0609020204030204" pitchFamily="49" charset="0"/>
              </a:rPr>
              <a:t>NULL</a:t>
            </a:r>
            <a:r>
              <a:rPr lang="en-US" sz="2000">
                <a:solidFill>
                  <a:srgbClr val="000000"/>
                </a:solidFill>
                <a:latin typeface="Consolas" panose="020B0609020204030204" pitchFamily="49" charset="0"/>
              </a:rPr>
              <a:t>;</a:t>
            </a:r>
          </a:p>
          <a:p>
            <a:r>
              <a:rPr lang="en-US" sz="2000">
                <a:solidFill>
                  <a:srgbClr val="000000"/>
                </a:solidFill>
                <a:latin typeface="Consolas" panose="020B0609020204030204" pitchFamily="49" charset="0"/>
              </a:rPr>
              <a:t>}</a:t>
            </a:r>
          </a:p>
        </p:txBody>
      </p:sp>
      <p:pic>
        <p:nvPicPr>
          <p:cNvPr id="9" name="Picture 2">
            <a:extLst>
              <a:ext uri="{FF2B5EF4-FFF2-40B4-BE49-F238E27FC236}">
                <a16:creationId xmlns:a16="http://schemas.microsoft.com/office/drawing/2014/main" id="{97C3715C-2137-41D2-AC5E-6E85007F2A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125" y="2238072"/>
            <a:ext cx="3634268" cy="150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a:extLst>
              <a:ext uri="{FF2B5EF4-FFF2-40B4-BE49-F238E27FC236}">
                <a16:creationId xmlns:a16="http://schemas.microsoft.com/office/drawing/2014/main" id="{CCBB34FF-FB21-4203-9153-A3EF1171E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013" y="2127368"/>
            <a:ext cx="3813787" cy="1723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3776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CDA39-50DB-4DD6-A472-53C9F66EE469}"/>
              </a:ext>
            </a:extLst>
          </p:cNvPr>
          <p:cNvSpPr>
            <a:spLocks noGrp="1"/>
          </p:cNvSpPr>
          <p:nvPr>
            <p:ph type="title"/>
          </p:nvPr>
        </p:nvSpPr>
        <p:spPr/>
        <p:txBody>
          <a:bodyPr/>
          <a:lstStyle/>
          <a:p>
            <a:r>
              <a:rPr lang="en-US"/>
              <a:t>Cách biểu diễn biểu thức đại số</a:t>
            </a:r>
          </a:p>
        </p:txBody>
      </p:sp>
      <p:sp>
        <p:nvSpPr>
          <p:cNvPr id="3" name="Content Placeholder 2">
            <a:extLst>
              <a:ext uri="{FF2B5EF4-FFF2-40B4-BE49-F238E27FC236}">
                <a16:creationId xmlns:a16="http://schemas.microsoft.com/office/drawing/2014/main" id="{D1BA146B-1203-40D6-8B0A-ECDD847EDD62}"/>
              </a:ext>
            </a:extLst>
          </p:cNvPr>
          <p:cNvSpPr>
            <a:spLocks noGrp="1"/>
          </p:cNvSpPr>
          <p:nvPr>
            <p:ph idx="1"/>
          </p:nvPr>
        </p:nvSpPr>
        <p:spPr/>
        <p:txBody>
          <a:bodyPr>
            <a:normAutofit/>
          </a:bodyPr>
          <a:lstStyle/>
          <a:p>
            <a:r>
              <a:rPr lang="en-US"/>
              <a:t>C</a:t>
            </a:r>
            <a:r>
              <a:rPr lang="vi-VN"/>
              <a:t>ó ba cách </a:t>
            </a:r>
            <a:r>
              <a:rPr lang="en-US"/>
              <a:t>biểu diễn một</a:t>
            </a:r>
            <a:r>
              <a:rPr lang="vi-VN"/>
              <a:t> biểu thức </a:t>
            </a:r>
            <a:r>
              <a:rPr lang="en-US"/>
              <a:t>đại số:</a:t>
            </a:r>
          </a:p>
          <a:p>
            <a:pPr lvl="1"/>
            <a:r>
              <a:rPr lang="vi-VN"/>
              <a:t>Biểu thức </a:t>
            </a:r>
            <a:r>
              <a:rPr lang="en-US"/>
              <a:t>trung</a:t>
            </a:r>
            <a:r>
              <a:rPr lang="vi-VN"/>
              <a:t> tố </a:t>
            </a:r>
            <a:r>
              <a:rPr lang="en-US"/>
              <a:t>(Infix): </a:t>
            </a:r>
            <a:r>
              <a:rPr lang="vi-VN"/>
              <a:t>toán tử </a:t>
            </a:r>
            <a:r>
              <a:rPr lang="en-US"/>
              <a:t>đặt</a:t>
            </a:r>
            <a:r>
              <a:rPr lang="vi-VN"/>
              <a:t> </a:t>
            </a:r>
            <a:r>
              <a:rPr lang="en-US"/>
              <a:t>giữa</a:t>
            </a:r>
            <a:r>
              <a:rPr lang="vi-VN"/>
              <a:t> các toán hạng</a:t>
            </a:r>
            <a:r>
              <a:rPr lang="en-US"/>
              <a:t>.</a:t>
            </a:r>
          </a:p>
          <a:p>
            <a:pPr lvl="1"/>
            <a:r>
              <a:rPr lang="vi-VN"/>
              <a:t>Biểu thức tiền tố </a:t>
            </a:r>
            <a:r>
              <a:rPr lang="en-US"/>
              <a:t>(</a:t>
            </a:r>
            <a:r>
              <a:rPr lang="vi-VN"/>
              <a:t>Prefix</a:t>
            </a:r>
            <a:r>
              <a:rPr lang="en-US"/>
              <a:t>)</a:t>
            </a:r>
            <a:r>
              <a:rPr lang="vi-VN"/>
              <a:t>: toán tử </a:t>
            </a:r>
            <a:r>
              <a:rPr lang="en-US"/>
              <a:t>đặt</a:t>
            </a:r>
            <a:r>
              <a:rPr lang="vi-VN"/>
              <a:t> trước các toán hạng. </a:t>
            </a:r>
            <a:endParaRPr lang="en-US"/>
          </a:p>
          <a:p>
            <a:pPr lvl="1"/>
            <a:r>
              <a:rPr lang="vi-VN"/>
              <a:t>Biểu thức </a:t>
            </a:r>
            <a:r>
              <a:rPr lang="en-US"/>
              <a:t>hậu</a:t>
            </a:r>
            <a:r>
              <a:rPr lang="vi-VN"/>
              <a:t> tố </a:t>
            </a:r>
            <a:r>
              <a:rPr lang="en-US"/>
              <a:t>(</a:t>
            </a:r>
            <a:r>
              <a:rPr lang="vi-VN"/>
              <a:t>Pos</a:t>
            </a:r>
            <a:r>
              <a:rPr lang="en-US"/>
              <a:t>t</a:t>
            </a:r>
            <a:r>
              <a:rPr lang="vi-VN"/>
              <a:t>fix</a:t>
            </a:r>
            <a:r>
              <a:rPr lang="en-US"/>
              <a:t>)</a:t>
            </a:r>
            <a:r>
              <a:rPr lang="vi-VN"/>
              <a:t>: toán tử đặt sau các toán hạng. </a:t>
            </a:r>
            <a:endParaRPr lang="en-US"/>
          </a:p>
        </p:txBody>
      </p:sp>
      <p:sp>
        <p:nvSpPr>
          <p:cNvPr id="4" name="Footer Placeholder 3">
            <a:extLst>
              <a:ext uri="{FF2B5EF4-FFF2-40B4-BE49-F238E27FC236}">
                <a16:creationId xmlns:a16="http://schemas.microsoft.com/office/drawing/2014/main" id="{7EC6B3E1-93FB-4F3F-8D46-1A330F980298}"/>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9D96A93A-3B4E-4185-B298-BFD048FFF631}"/>
              </a:ext>
            </a:extLst>
          </p:cNvPr>
          <p:cNvSpPr>
            <a:spLocks noGrp="1"/>
          </p:cNvSpPr>
          <p:nvPr>
            <p:ph type="dt" sz="half" idx="10"/>
          </p:nvPr>
        </p:nvSpPr>
        <p:spPr/>
        <p:txBody>
          <a:bodyPr/>
          <a:lstStyle/>
          <a:p>
            <a:fld id="{A31C3DFC-FA8D-4C71-A105-3FFE54ADD2D5}" type="datetime1">
              <a:rPr lang="en-US" smtClean="0"/>
              <a:pPr/>
              <a:t>5/29/2021</a:t>
            </a:fld>
            <a:endParaRPr lang="en-US"/>
          </a:p>
        </p:txBody>
      </p:sp>
      <p:sp>
        <p:nvSpPr>
          <p:cNvPr id="6" name="Slide Number Placeholder 5">
            <a:extLst>
              <a:ext uri="{FF2B5EF4-FFF2-40B4-BE49-F238E27FC236}">
                <a16:creationId xmlns:a16="http://schemas.microsoft.com/office/drawing/2014/main" id="{34228820-9C91-423A-850B-5443C89CD610}"/>
              </a:ext>
            </a:extLst>
          </p:cNvPr>
          <p:cNvSpPr>
            <a:spLocks noGrp="1"/>
          </p:cNvSpPr>
          <p:nvPr>
            <p:ph type="sldNum" sz="quarter" idx="12"/>
          </p:nvPr>
        </p:nvSpPr>
        <p:spPr/>
        <p:txBody>
          <a:bodyPr/>
          <a:lstStyle/>
          <a:p>
            <a:fld id="{21782F98-F548-4E33-958E-D2A6C4BA8EFA}" type="slidenum">
              <a:rPr lang="en-US" smtClean="0"/>
              <a:pPr/>
              <a:t>25</a:t>
            </a:fld>
            <a:endParaRPr lang="en-US"/>
          </a:p>
        </p:txBody>
      </p:sp>
      <p:graphicFrame>
        <p:nvGraphicFramePr>
          <p:cNvPr id="12" name="Table 11">
            <a:extLst>
              <a:ext uri="{FF2B5EF4-FFF2-40B4-BE49-F238E27FC236}">
                <a16:creationId xmlns:a16="http://schemas.microsoft.com/office/drawing/2014/main" id="{CE8BE5E9-CB2E-4228-83DB-B66F92079C20}"/>
              </a:ext>
            </a:extLst>
          </p:cNvPr>
          <p:cNvGraphicFramePr>
            <a:graphicFrameLocks noGrp="1"/>
          </p:cNvGraphicFramePr>
          <p:nvPr>
            <p:extLst>
              <p:ext uri="{D42A27DB-BD31-4B8C-83A1-F6EECF244321}">
                <p14:modId xmlns:p14="http://schemas.microsoft.com/office/powerpoint/2010/main" val="2587189713"/>
              </p:ext>
            </p:extLst>
          </p:nvPr>
        </p:nvGraphicFramePr>
        <p:xfrm>
          <a:off x="2095017" y="3738623"/>
          <a:ext cx="7928658" cy="2286000"/>
        </p:xfrm>
        <a:graphic>
          <a:graphicData uri="http://schemas.openxmlformats.org/drawingml/2006/table">
            <a:tbl>
              <a:tblPr firstRow="1" bandRow="1">
                <a:tableStyleId>{9DCAF9ED-07DC-4A11-8D7F-57B35C25682E}</a:tableStyleId>
              </a:tblPr>
              <a:tblGrid>
                <a:gridCol w="2642886">
                  <a:extLst>
                    <a:ext uri="{9D8B030D-6E8A-4147-A177-3AD203B41FA5}">
                      <a16:colId xmlns:a16="http://schemas.microsoft.com/office/drawing/2014/main" val="1803626943"/>
                    </a:ext>
                  </a:extLst>
                </a:gridCol>
                <a:gridCol w="2642886">
                  <a:extLst>
                    <a:ext uri="{9D8B030D-6E8A-4147-A177-3AD203B41FA5}">
                      <a16:colId xmlns:a16="http://schemas.microsoft.com/office/drawing/2014/main" val="3941882623"/>
                    </a:ext>
                  </a:extLst>
                </a:gridCol>
                <a:gridCol w="2642886">
                  <a:extLst>
                    <a:ext uri="{9D8B030D-6E8A-4147-A177-3AD203B41FA5}">
                      <a16:colId xmlns:a16="http://schemas.microsoft.com/office/drawing/2014/main" val="4000602676"/>
                    </a:ext>
                  </a:extLst>
                </a:gridCol>
              </a:tblGrid>
              <a:tr h="0">
                <a:tc>
                  <a:txBody>
                    <a:bodyPr/>
                    <a:lstStyle/>
                    <a:p>
                      <a:pPr algn="l" fontAlgn="base"/>
                      <a:r>
                        <a:rPr lang="en-US">
                          <a:solidFill>
                            <a:srgbClr val="002060"/>
                          </a:solidFill>
                          <a:effectLst/>
                        </a:rPr>
                        <a:t>Infix</a:t>
                      </a:r>
                      <a:endParaRPr lang="en-US" b="0">
                        <a:solidFill>
                          <a:srgbClr val="002060"/>
                        </a:solidFill>
                        <a:effectLst/>
                        <a:latin typeface="inherit"/>
                      </a:endParaRPr>
                    </a:p>
                  </a:txBody>
                  <a:tcPr marL="0" marR="76200"/>
                </a:tc>
                <a:tc>
                  <a:txBody>
                    <a:bodyPr/>
                    <a:lstStyle/>
                    <a:p>
                      <a:pPr algn="l" fontAlgn="base"/>
                      <a:r>
                        <a:rPr lang="en-US">
                          <a:solidFill>
                            <a:srgbClr val="002060"/>
                          </a:solidFill>
                          <a:effectLst/>
                        </a:rPr>
                        <a:t>Prefix</a:t>
                      </a:r>
                      <a:endParaRPr lang="en-US" b="0">
                        <a:solidFill>
                          <a:srgbClr val="002060"/>
                        </a:solidFill>
                        <a:effectLst/>
                        <a:latin typeface="inherit"/>
                      </a:endParaRPr>
                    </a:p>
                  </a:txBody>
                  <a:tcPr marL="0" marR="76200"/>
                </a:tc>
                <a:tc>
                  <a:txBody>
                    <a:bodyPr/>
                    <a:lstStyle/>
                    <a:p>
                      <a:pPr algn="l" fontAlgn="base"/>
                      <a:r>
                        <a:rPr lang="en-US">
                          <a:solidFill>
                            <a:srgbClr val="002060"/>
                          </a:solidFill>
                          <a:effectLst/>
                        </a:rPr>
                        <a:t>Postfix</a:t>
                      </a:r>
                      <a:endParaRPr lang="en-US" b="0">
                        <a:solidFill>
                          <a:srgbClr val="002060"/>
                        </a:solidFill>
                        <a:effectLst/>
                        <a:latin typeface="inherit"/>
                      </a:endParaRPr>
                    </a:p>
                  </a:txBody>
                  <a:tcPr marL="0" marR="76200"/>
                </a:tc>
                <a:extLst>
                  <a:ext uri="{0D108BD9-81ED-4DB2-BD59-A6C34878D82A}">
                    <a16:rowId xmlns:a16="http://schemas.microsoft.com/office/drawing/2014/main" val="1675653486"/>
                  </a:ext>
                </a:extLst>
              </a:tr>
              <a:tr h="0">
                <a:tc>
                  <a:txBody>
                    <a:bodyPr/>
                    <a:lstStyle/>
                    <a:p>
                      <a:pPr algn="l" fontAlgn="base"/>
                      <a:r>
                        <a:rPr lang="en-US">
                          <a:solidFill>
                            <a:srgbClr val="002060"/>
                          </a:solidFill>
                          <a:effectLst/>
                        </a:rPr>
                        <a:t>x+y</a:t>
                      </a:r>
                      <a:endParaRPr lang="en-US" b="0">
                        <a:solidFill>
                          <a:srgbClr val="002060"/>
                        </a:solidFill>
                        <a:effectLst/>
                        <a:latin typeface="inherit"/>
                      </a:endParaRPr>
                    </a:p>
                  </a:txBody>
                  <a:tcPr marL="0" marR="76200"/>
                </a:tc>
                <a:tc>
                  <a:txBody>
                    <a:bodyPr/>
                    <a:lstStyle/>
                    <a:p>
                      <a:pPr algn="l" fontAlgn="base"/>
                      <a:r>
                        <a:rPr lang="en-US">
                          <a:solidFill>
                            <a:srgbClr val="002060"/>
                          </a:solidFill>
                          <a:effectLst/>
                        </a:rPr>
                        <a:t>+xy</a:t>
                      </a:r>
                      <a:endParaRPr lang="en-US" b="0">
                        <a:solidFill>
                          <a:srgbClr val="002060"/>
                        </a:solidFill>
                        <a:effectLst/>
                        <a:latin typeface="inherit"/>
                      </a:endParaRPr>
                    </a:p>
                  </a:txBody>
                  <a:tcPr marL="0" marR="76200"/>
                </a:tc>
                <a:tc>
                  <a:txBody>
                    <a:bodyPr/>
                    <a:lstStyle/>
                    <a:p>
                      <a:pPr algn="l" fontAlgn="base"/>
                      <a:r>
                        <a:rPr lang="en-US">
                          <a:solidFill>
                            <a:srgbClr val="002060"/>
                          </a:solidFill>
                          <a:effectLst/>
                        </a:rPr>
                        <a:t>xy+</a:t>
                      </a:r>
                      <a:endParaRPr lang="en-US" b="0">
                        <a:solidFill>
                          <a:srgbClr val="002060"/>
                        </a:solidFill>
                        <a:effectLst/>
                        <a:latin typeface="inherit"/>
                      </a:endParaRPr>
                    </a:p>
                  </a:txBody>
                  <a:tcPr marL="0" marR="76200"/>
                </a:tc>
                <a:extLst>
                  <a:ext uri="{0D108BD9-81ED-4DB2-BD59-A6C34878D82A}">
                    <a16:rowId xmlns:a16="http://schemas.microsoft.com/office/drawing/2014/main" val="3841015100"/>
                  </a:ext>
                </a:extLst>
              </a:tr>
              <a:tr h="0">
                <a:tc>
                  <a:txBody>
                    <a:bodyPr/>
                    <a:lstStyle/>
                    <a:p>
                      <a:pPr algn="l" fontAlgn="base"/>
                      <a:r>
                        <a:rPr lang="en-US">
                          <a:solidFill>
                            <a:srgbClr val="002060"/>
                          </a:solidFill>
                          <a:effectLst/>
                        </a:rPr>
                        <a:t>x+y-z</a:t>
                      </a:r>
                      <a:endParaRPr lang="en-US" b="0">
                        <a:solidFill>
                          <a:srgbClr val="002060"/>
                        </a:solidFill>
                        <a:effectLst/>
                        <a:latin typeface="inherit"/>
                      </a:endParaRPr>
                    </a:p>
                  </a:txBody>
                  <a:tcPr marL="0" marR="76200"/>
                </a:tc>
                <a:tc>
                  <a:txBody>
                    <a:bodyPr/>
                    <a:lstStyle/>
                    <a:p>
                      <a:pPr algn="l" fontAlgn="base"/>
                      <a:r>
                        <a:rPr lang="en-US">
                          <a:solidFill>
                            <a:srgbClr val="002060"/>
                          </a:solidFill>
                          <a:effectLst/>
                        </a:rPr>
                        <a:t>-+xyz</a:t>
                      </a:r>
                      <a:endParaRPr lang="en-US" b="0">
                        <a:solidFill>
                          <a:srgbClr val="002060"/>
                        </a:solidFill>
                        <a:effectLst/>
                        <a:latin typeface="inherit"/>
                      </a:endParaRPr>
                    </a:p>
                  </a:txBody>
                  <a:tcPr marL="0" marR="76200"/>
                </a:tc>
                <a:tc>
                  <a:txBody>
                    <a:bodyPr/>
                    <a:lstStyle/>
                    <a:p>
                      <a:pPr algn="l" fontAlgn="base"/>
                      <a:r>
                        <a:rPr lang="en-US">
                          <a:solidFill>
                            <a:srgbClr val="002060"/>
                          </a:solidFill>
                          <a:effectLst/>
                        </a:rPr>
                        <a:t>xy+z –</a:t>
                      </a:r>
                      <a:endParaRPr lang="en-US" b="0">
                        <a:solidFill>
                          <a:srgbClr val="002060"/>
                        </a:solidFill>
                        <a:effectLst/>
                        <a:latin typeface="inherit"/>
                      </a:endParaRPr>
                    </a:p>
                  </a:txBody>
                  <a:tcPr marL="0" marR="76200"/>
                </a:tc>
                <a:extLst>
                  <a:ext uri="{0D108BD9-81ED-4DB2-BD59-A6C34878D82A}">
                    <a16:rowId xmlns:a16="http://schemas.microsoft.com/office/drawing/2014/main" val="3685435120"/>
                  </a:ext>
                </a:extLst>
              </a:tr>
              <a:tr h="0">
                <a:tc>
                  <a:txBody>
                    <a:bodyPr/>
                    <a:lstStyle/>
                    <a:p>
                      <a:pPr algn="l" fontAlgn="base"/>
                      <a:r>
                        <a:rPr lang="en-US">
                          <a:solidFill>
                            <a:srgbClr val="002060"/>
                          </a:solidFill>
                          <a:effectLst/>
                        </a:rPr>
                        <a:t>x+y*z</a:t>
                      </a:r>
                      <a:endParaRPr lang="en-US" b="0">
                        <a:solidFill>
                          <a:srgbClr val="002060"/>
                        </a:solidFill>
                        <a:effectLst/>
                        <a:latin typeface="inherit"/>
                      </a:endParaRPr>
                    </a:p>
                  </a:txBody>
                  <a:tcPr marL="0" marR="76200"/>
                </a:tc>
                <a:tc>
                  <a:txBody>
                    <a:bodyPr/>
                    <a:lstStyle/>
                    <a:p>
                      <a:pPr algn="l" fontAlgn="base"/>
                      <a:r>
                        <a:rPr lang="en-US">
                          <a:solidFill>
                            <a:srgbClr val="002060"/>
                          </a:solidFill>
                          <a:effectLst/>
                        </a:rPr>
                        <a:t>+x*yz</a:t>
                      </a:r>
                      <a:endParaRPr lang="en-US" b="0">
                        <a:solidFill>
                          <a:srgbClr val="002060"/>
                        </a:solidFill>
                        <a:effectLst/>
                        <a:latin typeface="inherit"/>
                      </a:endParaRPr>
                    </a:p>
                  </a:txBody>
                  <a:tcPr marL="0" marR="76200"/>
                </a:tc>
                <a:tc>
                  <a:txBody>
                    <a:bodyPr/>
                    <a:lstStyle/>
                    <a:p>
                      <a:pPr algn="l" fontAlgn="base"/>
                      <a:r>
                        <a:rPr lang="en-US">
                          <a:solidFill>
                            <a:srgbClr val="002060"/>
                          </a:solidFill>
                          <a:effectLst/>
                        </a:rPr>
                        <a:t>xyz*+</a:t>
                      </a:r>
                      <a:endParaRPr lang="en-US" b="0">
                        <a:solidFill>
                          <a:srgbClr val="002060"/>
                        </a:solidFill>
                        <a:effectLst/>
                        <a:latin typeface="inherit"/>
                      </a:endParaRPr>
                    </a:p>
                  </a:txBody>
                  <a:tcPr marL="0" marR="76200"/>
                </a:tc>
                <a:extLst>
                  <a:ext uri="{0D108BD9-81ED-4DB2-BD59-A6C34878D82A}">
                    <a16:rowId xmlns:a16="http://schemas.microsoft.com/office/drawing/2014/main" val="270035499"/>
                  </a:ext>
                </a:extLst>
              </a:tr>
              <a:tr h="0">
                <a:tc>
                  <a:txBody>
                    <a:bodyPr/>
                    <a:lstStyle/>
                    <a:p>
                      <a:pPr algn="l" fontAlgn="base"/>
                      <a:r>
                        <a:rPr lang="en-US">
                          <a:solidFill>
                            <a:srgbClr val="002060"/>
                          </a:solidFill>
                          <a:effectLst/>
                        </a:rPr>
                        <a:t>x+(y-z)</a:t>
                      </a:r>
                      <a:endParaRPr lang="en-US" b="0">
                        <a:solidFill>
                          <a:srgbClr val="002060"/>
                        </a:solidFill>
                        <a:effectLst/>
                        <a:latin typeface="inherit"/>
                      </a:endParaRPr>
                    </a:p>
                  </a:txBody>
                  <a:tcPr marL="0" marR="76200"/>
                </a:tc>
                <a:tc>
                  <a:txBody>
                    <a:bodyPr/>
                    <a:lstStyle/>
                    <a:p>
                      <a:pPr algn="l" fontAlgn="base"/>
                      <a:r>
                        <a:rPr lang="en-US">
                          <a:solidFill>
                            <a:srgbClr val="002060"/>
                          </a:solidFill>
                          <a:effectLst/>
                        </a:rPr>
                        <a:t>+x-yz</a:t>
                      </a:r>
                      <a:endParaRPr lang="en-US" b="0">
                        <a:solidFill>
                          <a:srgbClr val="002060"/>
                        </a:solidFill>
                        <a:effectLst/>
                        <a:latin typeface="inherit"/>
                      </a:endParaRPr>
                    </a:p>
                  </a:txBody>
                  <a:tcPr marL="0" marR="76200"/>
                </a:tc>
                <a:tc>
                  <a:txBody>
                    <a:bodyPr/>
                    <a:lstStyle/>
                    <a:p>
                      <a:pPr algn="l" fontAlgn="base"/>
                      <a:r>
                        <a:rPr lang="en-US">
                          <a:solidFill>
                            <a:srgbClr val="002060"/>
                          </a:solidFill>
                          <a:effectLst/>
                        </a:rPr>
                        <a:t>xyz-+</a:t>
                      </a:r>
                      <a:endParaRPr lang="en-US" b="0">
                        <a:solidFill>
                          <a:srgbClr val="002060"/>
                        </a:solidFill>
                        <a:effectLst/>
                        <a:latin typeface="inherit"/>
                      </a:endParaRPr>
                    </a:p>
                  </a:txBody>
                  <a:tcPr marL="0" marR="76200"/>
                </a:tc>
                <a:extLst>
                  <a:ext uri="{0D108BD9-81ED-4DB2-BD59-A6C34878D82A}">
                    <a16:rowId xmlns:a16="http://schemas.microsoft.com/office/drawing/2014/main" val="2809200818"/>
                  </a:ext>
                </a:extLst>
              </a:tr>
            </a:tbl>
          </a:graphicData>
        </a:graphic>
      </p:graphicFrame>
    </p:spTree>
    <p:extLst>
      <p:ext uri="{BB962C8B-B14F-4D97-AF65-F5344CB8AC3E}">
        <p14:creationId xmlns:p14="http://schemas.microsoft.com/office/powerpoint/2010/main" val="3629579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096ED-0C7A-4A5B-8C2D-1AE15FCB9423}"/>
              </a:ext>
            </a:extLst>
          </p:cNvPr>
          <p:cNvSpPr>
            <a:spLocks noGrp="1"/>
          </p:cNvSpPr>
          <p:nvPr>
            <p:ph type="title"/>
          </p:nvPr>
        </p:nvSpPr>
        <p:spPr/>
        <p:txBody>
          <a:bodyPr/>
          <a:lstStyle/>
          <a:p>
            <a:r>
              <a:rPr lang="en-US"/>
              <a:t>Chuyển biểu thức trung tố sang hậu tố</a:t>
            </a:r>
          </a:p>
        </p:txBody>
      </p:sp>
      <p:sp>
        <p:nvSpPr>
          <p:cNvPr id="3" name="Content Placeholder 2">
            <a:extLst>
              <a:ext uri="{FF2B5EF4-FFF2-40B4-BE49-F238E27FC236}">
                <a16:creationId xmlns:a16="http://schemas.microsoft.com/office/drawing/2014/main" id="{355555F6-7735-4BAD-885E-26F986938E14}"/>
              </a:ext>
            </a:extLst>
          </p:cNvPr>
          <p:cNvSpPr>
            <a:spLocks noGrp="1"/>
          </p:cNvSpPr>
          <p:nvPr>
            <p:ph idx="1"/>
          </p:nvPr>
        </p:nvSpPr>
        <p:spPr/>
        <p:txBody>
          <a:bodyPr>
            <a:normAutofit lnSpcReduction="10000"/>
          </a:bodyPr>
          <a:lstStyle/>
          <a:p>
            <a:r>
              <a:rPr lang="en-US" altLang="en-US"/>
              <a:t>Đ</a:t>
            </a:r>
            <a:r>
              <a:rPr lang="vi-VN"/>
              <a:t>ọc từng token trong biểu thức </a:t>
            </a:r>
            <a:r>
              <a:rPr lang="en-US"/>
              <a:t>trung tố</a:t>
            </a:r>
            <a:r>
              <a:rPr lang="vi-VN"/>
              <a:t> từ trái qua phải:</a:t>
            </a:r>
            <a:endParaRPr lang="vi-VN" altLang="en-US"/>
          </a:p>
          <a:p>
            <a:pPr lvl="1"/>
            <a:r>
              <a:rPr lang="vi-VN" altLang="en-US"/>
              <a:t>Nếu gặp toán hạng</a:t>
            </a:r>
            <a:r>
              <a:rPr lang="en-US" altLang="en-US"/>
              <a:t> thì </a:t>
            </a:r>
            <a:r>
              <a:rPr lang="vi-VN" altLang="en-US"/>
              <a:t>ghi nó vào chuỗi kết quả</a:t>
            </a:r>
            <a:r>
              <a:rPr lang="en-US" altLang="en-US"/>
              <a:t>.</a:t>
            </a:r>
          </a:p>
          <a:p>
            <a:pPr lvl="1"/>
            <a:r>
              <a:rPr lang="vi-VN" altLang="en-US"/>
              <a:t>Nếu gặp dấu mở ngoặc</a:t>
            </a:r>
            <a:r>
              <a:rPr lang="en-US" altLang="en-US"/>
              <a:t> “(“ thì để </a:t>
            </a:r>
            <a:r>
              <a:rPr lang="vi-VN" altLang="en-US"/>
              <a:t>nó vào stack.</a:t>
            </a:r>
          </a:p>
          <a:p>
            <a:pPr lvl="1"/>
            <a:r>
              <a:rPr lang="vi-VN" altLang="en-US"/>
              <a:t>Nếu gặp một toán tử </a:t>
            </a:r>
            <a:r>
              <a:rPr lang="en-US" altLang="en-US"/>
              <a:t>“+-*/” (</a:t>
            </a:r>
            <a:r>
              <a:rPr lang="vi-VN" altLang="en-US"/>
              <a:t>gọi là o</a:t>
            </a:r>
            <a:r>
              <a:rPr lang="vi-VN" altLang="en-US" baseline="-25000"/>
              <a:t>1</a:t>
            </a:r>
            <a:r>
              <a:rPr lang="vi-VN" altLang="en-US"/>
              <a:t>), thực hiện </a:t>
            </a:r>
            <a:r>
              <a:rPr lang="en-US" altLang="en-US"/>
              <a:t>2</a:t>
            </a:r>
            <a:r>
              <a:rPr lang="vi-VN" altLang="en-US"/>
              <a:t> bước sau:</a:t>
            </a:r>
          </a:p>
          <a:p>
            <a:pPr lvl="2"/>
            <a:r>
              <a:rPr lang="en-US" altLang="en-US"/>
              <a:t>Nếu có</a:t>
            </a:r>
            <a:r>
              <a:rPr lang="vi-VN" altLang="en-US"/>
              <a:t> toán tử o</a:t>
            </a:r>
            <a:r>
              <a:rPr lang="vi-VN" altLang="en-US" baseline="-25000"/>
              <a:t>2</a:t>
            </a:r>
            <a:r>
              <a:rPr lang="vi-VN" altLang="en-US"/>
              <a:t> ở đỉnh </a:t>
            </a:r>
            <a:r>
              <a:rPr lang="en-US" altLang="en-US"/>
              <a:t>stack</a:t>
            </a:r>
            <a:r>
              <a:rPr lang="vi-VN" altLang="en-US"/>
              <a:t> </a:t>
            </a:r>
            <a:r>
              <a:rPr lang="en-US" altLang="en-US"/>
              <a:t>&amp;</a:t>
            </a:r>
            <a:r>
              <a:rPr lang="vi-VN" altLang="en-US"/>
              <a:t> độ ưu tiên của o</a:t>
            </a:r>
            <a:r>
              <a:rPr lang="vi-VN" altLang="en-US" baseline="-25000"/>
              <a:t>1</a:t>
            </a:r>
            <a:r>
              <a:rPr lang="vi-VN" altLang="en-US"/>
              <a:t> ≤</a:t>
            </a:r>
            <a:r>
              <a:rPr lang="en-US" altLang="en-US"/>
              <a:t> </a:t>
            </a:r>
            <a:r>
              <a:rPr lang="vi-VN" altLang="en-US"/>
              <a:t>o</a:t>
            </a:r>
            <a:r>
              <a:rPr lang="vi-VN" altLang="en-US" baseline="-25000"/>
              <a:t>2</a:t>
            </a:r>
            <a:r>
              <a:rPr lang="vi-VN" altLang="en-US"/>
              <a:t> thì lấy o</a:t>
            </a:r>
            <a:r>
              <a:rPr lang="vi-VN" altLang="en-US" baseline="-25000"/>
              <a:t>2</a:t>
            </a:r>
            <a:r>
              <a:rPr lang="vi-VN" altLang="en-US"/>
              <a:t> ra khỏi </a:t>
            </a:r>
            <a:r>
              <a:rPr lang="en-US" altLang="en-US"/>
              <a:t>stack</a:t>
            </a:r>
            <a:r>
              <a:rPr lang="vi-VN" altLang="en-US"/>
              <a:t> và ghi vào kết quả.</a:t>
            </a:r>
          </a:p>
          <a:p>
            <a:pPr lvl="2"/>
            <a:r>
              <a:rPr lang="en-US" altLang="en-US"/>
              <a:t>Để</a:t>
            </a:r>
            <a:r>
              <a:rPr lang="vi-VN" altLang="en-US"/>
              <a:t> o</a:t>
            </a:r>
            <a:r>
              <a:rPr lang="vi-VN" altLang="en-US" baseline="-25000"/>
              <a:t>1</a:t>
            </a:r>
            <a:r>
              <a:rPr lang="vi-VN" altLang="en-US"/>
              <a:t> vào </a:t>
            </a:r>
            <a:r>
              <a:rPr lang="en-US" altLang="en-US"/>
              <a:t>stack</a:t>
            </a:r>
          </a:p>
          <a:p>
            <a:pPr lvl="1"/>
            <a:r>
              <a:rPr lang="vi-VN" altLang="en-US"/>
              <a:t>Nếu gặp dấu đóng ngoặc</a:t>
            </a:r>
            <a:r>
              <a:rPr lang="en-US" altLang="en-US"/>
              <a:t> “)”</a:t>
            </a:r>
            <a:r>
              <a:rPr lang="vi-VN" altLang="en-US"/>
              <a:t> thì lấy các toán tử trong </a:t>
            </a:r>
            <a:r>
              <a:rPr lang="en-US" altLang="en-US"/>
              <a:t>stack </a:t>
            </a:r>
            <a:r>
              <a:rPr lang="vi-VN" altLang="en-US"/>
              <a:t>và ghi vào kết quả cho đến khi lấy được dấu mở ngoặc</a:t>
            </a:r>
            <a:r>
              <a:rPr lang="en-US" altLang="en-US"/>
              <a:t> “(”</a:t>
            </a:r>
            <a:r>
              <a:rPr lang="vi-VN" altLang="en-US"/>
              <a:t> ra khỏi </a:t>
            </a:r>
            <a:r>
              <a:rPr lang="en-US" altLang="en-US"/>
              <a:t>stack</a:t>
            </a:r>
            <a:r>
              <a:rPr lang="vi-VN" altLang="en-US"/>
              <a:t>.</a:t>
            </a:r>
          </a:p>
          <a:p>
            <a:pPr lvl="1"/>
            <a:r>
              <a:rPr lang="vi-VN" altLang="en-US"/>
              <a:t>Khi đã </a:t>
            </a:r>
            <a:r>
              <a:rPr lang="en-US" altLang="en-US"/>
              <a:t>duyệt hết </a:t>
            </a:r>
            <a:r>
              <a:rPr lang="vi-VN" altLang="en-US"/>
              <a:t>biểu thức trung tố, lần lượt lấy tất cả </a:t>
            </a:r>
            <a:r>
              <a:rPr lang="en-US" altLang="en-US"/>
              <a:t>toán tử trong stack </a:t>
            </a:r>
            <a:r>
              <a:rPr lang="vi-VN" altLang="en-US"/>
              <a:t>ra và ghi vào chuỗi kết quả.</a:t>
            </a:r>
          </a:p>
        </p:txBody>
      </p:sp>
      <p:sp>
        <p:nvSpPr>
          <p:cNvPr id="4" name="Footer Placeholder 3">
            <a:extLst>
              <a:ext uri="{FF2B5EF4-FFF2-40B4-BE49-F238E27FC236}">
                <a16:creationId xmlns:a16="http://schemas.microsoft.com/office/drawing/2014/main" id="{690CEBBE-107D-430E-A3B1-694A647A774F}"/>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E24346C4-E9F9-4CEF-8EB3-8B5AA8B47E95}"/>
              </a:ext>
            </a:extLst>
          </p:cNvPr>
          <p:cNvSpPr>
            <a:spLocks noGrp="1"/>
          </p:cNvSpPr>
          <p:nvPr>
            <p:ph type="dt" sz="half" idx="10"/>
          </p:nvPr>
        </p:nvSpPr>
        <p:spPr/>
        <p:txBody>
          <a:bodyPr/>
          <a:lstStyle/>
          <a:p>
            <a:fld id="{A31C3DFC-FA8D-4C71-A105-3FFE54ADD2D5}" type="datetime1">
              <a:rPr lang="en-US" smtClean="0"/>
              <a:pPr/>
              <a:t>5/29/2021</a:t>
            </a:fld>
            <a:endParaRPr lang="en-US"/>
          </a:p>
        </p:txBody>
      </p:sp>
      <p:sp>
        <p:nvSpPr>
          <p:cNvPr id="6" name="Slide Number Placeholder 5">
            <a:extLst>
              <a:ext uri="{FF2B5EF4-FFF2-40B4-BE49-F238E27FC236}">
                <a16:creationId xmlns:a16="http://schemas.microsoft.com/office/drawing/2014/main" id="{AFD3AACF-525C-4918-80C7-E5730E03DCAC}"/>
              </a:ext>
            </a:extLst>
          </p:cNvPr>
          <p:cNvSpPr>
            <a:spLocks noGrp="1"/>
          </p:cNvSpPr>
          <p:nvPr>
            <p:ph type="sldNum" sz="quarter" idx="12"/>
          </p:nvPr>
        </p:nvSpPr>
        <p:spPr/>
        <p:txBody>
          <a:bodyPr/>
          <a:lstStyle/>
          <a:p>
            <a:fld id="{21782F98-F548-4E33-958E-D2A6C4BA8EFA}" type="slidenum">
              <a:rPr lang="en-US" smtClean="0"/>
              <a:pPr/>
              <a:t>26</a:t>
            </a:fld>
            <a:endParaRPr lang="en-US"/>
          </a:p>
        </p:txBody>
      </p:sp>
    </p:spTree>
    <p:extLst>
      <p:ext uri="{BB962C8B-B14F-4D97-AF65-F5344CB8AC3E}">
        <p14:creationId xmlns:p14="http://schemas.microsoft.com/office/powerpoint/2010/main" val="333310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096ED-0C7A-4A5B-8C2D-1AE15FCB9423}"/>
              </a:ext>
            </a:extLst>
          </p:cNvPr>
          <p:cNvSpPr>
            <a:spLocks noGrp="1"/>
          </p:cNvSpPr>
          <p:nvPr>
            <p:ph type="title"/>
          </p:nvPr>
        </p:nvSpPr>
        <p:spPr/>
        <p:txBody>
          <a:bodyPr/>
          <a:lstStyle/>
          <a:p>
            <a:r>
              <a:rPr lang="en-US" altLang="en-US"/>
              <a:t>Chuyển 3+4*2/(1-5) sang dạng hậu tố</a:t>
            </a:r>
            <a:endParaRPr lang="en-US"/>
          </a:p>
        </p:txBody>
      </p:sp>
      <p:sp>
        <p:nvSpPr>
          <p:cNvPr id="4" name="Footer Placeholder 3">
            <a:extLst>
              <a:ext uri="{FF2B5EF4-FFF2-40B4-BE49-F238E27FC236}">
                <a16:creationId xmlns:a16="http://schemas.microsoft.com/office/drawing/2014/main" id="{690CEBBE-107D-430E-A3B1-694A647A774F}"/>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E24346C4-E9F9-4CEF-8EB3-8B5AA8B47E95}"/>
              </a:ext>
            </a:extLst>
          </p:cNvPr>
          <p:cNvSpPr>
            <a:spLocks noGrp="1"/>
          </p:cNvSpPr>
          <p:nvPr>
            <p:ph type="dt" sz="half" idx="10"/>
          </p:nvPr>
        </p:nvSpPr>
        <p:spPr/>
        <p:txBody>
          <a:bodyPr/>
          <a:lstStyle/>
          <a:p>
            <a:fld id="{A31C3DFC-FA8D-4C71-A105-3FFE54ADD2D5}" type="datetime1">
              <a:rPr lang="en-US" smtClean="0"/>
              <a:pPr/>
              <a:t>5/29/2021</a:t>
            </a:fld>
            <a:endParaRPr lang="en-US"/>
          </a:p>
        </p:txBody>
      </p:sp>
      <p:sp>
        <p:nvSpPr>
          <p:cNvPr id="6" name="Slide Number Placeholder 5">
            <a:extLst>
              <a:ext uri="{FF2B5EF4-FFF2-40B4-BE49-F238E27FC236}">
                <a16:creationId xmlns:a16="http://schemas.microsoft.com/office/drawing/2014/main" id="{AFD3AACF-525C-4918-80C7-E5730E03DCAC}"/>
              </a:ext>
            </a:extLst>
          </p:cNvPr>
          <p:cNvSpPr>
            <a:spLocks noGrp="1"/>
          </p:cNvSpPr>
          <p:nvPr>
            <p:ph type="sldNum" sz="quarter" idx="12"/>
          </p:nvPr>
        </p:nvSpPr>
        <p:spPr/>
        <p:txBody>
          <a:bodyPr/>
          <a:lstStyle/>
          <a:p>
            <a:fld id="{21782F98-F548-4E33-958E-D2A6C4BA8EFA}" type="slidenum">
              <a:rPr lang="en-US" smtClean="0"/>
              <a:pPr/>
              <a:t>27</a:t>
            </a:fld>
            <a:endParaRPr lang="en-US"/>
          </a:p>
        </p:txBody>
      </p:sp>
      <p:graphicFrame>
        <p:nvGraphicFramePr>
          <p:cNvPr id="12" name="Content Placeholder 5">
            <a:extLst>
              <a:ext uri="{FF2B5EF4-FFF2-40B4-BE49-F238E27FC236}">
                <a16:creationId xmlns:a16="http://schemas.microsoft.com/office/drawing/2014/main" id="{AB122B05-005E-4B28-AA9B-7D8B88C8694C}"/>
              </a:ext>
            </a:extLst>
          </p:cNvPr>
          <p:cNvGraphicFramePr>
            <a:graphicFrameLocks/>
          </p:cNvGraphicFramePr>
          <p:nvPr>
            <p:extLst>
              <p:ext uri="{D42A27DB-BD31-4B8C-83A1-F6EECF244321}">
                <p14:modId xmlns:p14="http://schemas.microsoft.com/office/powerpoint/2010/main" val="3524435941"/>
              </p:ext>
            </p:extLst>
          </p:nvPr>
        </p:nvGraphicFramePr>
        <p:xfrm>
          <a:off x="1219200" y="1724628"/>
          <a:ext cx="10667999" cy="4599969"/>
        </p:xfrm>
        <a:graphic>
          <a:graphicData uri="http://schemas.openxmlformats.org/drawingml/2006/table">
            <a:tbl>
              <a:tblPr firstRow="1" bandRow="1">
                <a:tableStyleId>{9DCAF9ED-07DC-4A11-8D7F-57B35C25682E}</a:tableStyleId>
              </a:tblPr>
              <a:tblGrid>
                <a:gridCol w="1089319">
                  <a:extLst>
                    <a:ext uri="{9D8B030D-6E8A-4147-A177-3AD203B41FA5}">
                      <a16:colId xmlns:a16="http://schemas.microsoft.com/office/drawing/2014/main" val="20000"/>
                    </a:ext>
                  </a:extLst>
                </a:gridCol>
                <a:gridCol w="6089671">
                  <a:extLst>
                    <a:ext uri="{9D8B030D-6E8A-4147-A177-3AD203B41FA5}">
                      <a16:colId xmlns:a16="http://schemas.microsoft.com/office/drawing/2014/main" val="20001"/>
                    </a:ext>
                  </a:extLst>
                </a:gridCol>
                <a:gridCol w="1120124">
                  <a:extLst>
                    <a:ext uri="{9D8B030D-6E8A-4147-A177-3AD203B41FA5}">
                      <a16:colId xmlns:a16="http://schemas.microsoft.com/office/drawing/2014/main" val="20002"/>
                    </a:ext>
                  </a:extLst>
                </a:gridCol>
                <a:gridCol w="2368885">
                  <a:extLst>
                    <a:ext uri="{9D8B030D-6E8A-4147-A177-3AD203B41FA5}">
                      <a16:colId xmlns:a16="http://schemas.microsoft.com/office/drawing/2014/main" val="20003"/>
                    </a:ext>
                  </a:extLst>
                </a:gridCol>
              </a:tblGrid>
              <a:tr h="384873">
                <a:tc>
                  <a:txBody>
                    <a:bodyPr/>
                    <a:lstStyle/>
                    <a:p>
                      <a:pPr algn="l"/>
                      <a:r>
                        <a:rPr lang="en-US" sz="1600" dirty="0" err="1">
                          <a:solidFill>
                            <a:srgbClr val="002060"/>
                          </a:solidFill>
                        </a:rPr>
                        <a:t>Duyệt</a:t>
                      </a:r>
                      <a:endParaRPr lang="en-US" sz="1600" dirty="0">
                        <a:solidFill>
                          <a:srgbClr val="002060"/>
                        </a:solidFill>
                      </a:endParaRPr>
                    </a:p>
                  </a:txBody>
                  <a:tcPr marT="45717" marB="45717"/>
                </a:tc>
                <a:tc>
                  <a:txBody>
                    <a:bodyPr/>
                    <a:lstStyle/>
                    <a:p>
                      <a:pPr algn="l"/>
                      <a:r>
                        <a:rPr lang="en-US" sz="1600" dirty="0">
                          <a:solidFill>
                            <a:srgbClr val="002060"/>
                          </a:solidFill>
                        </a:rPr>
                        <a:t>Thao </a:t>
                      </a:r>
                      <a:r>
                        <a:rPr lang="en-US" sz="1600" dirty="0" err="1">
                          <a:solidFill>
                            <a:srgbClr val="002060"/>
                          </a:solidFill>
                        </a:rPr>
                        <a:t>tác</a:t>
                      </a:r>
                      <a:r>
                        <a:rPr lang="en-US" sz="1600" baseline="0" dirty="0">
                          <a:solidFill>
                            <a:srgbClr val="002060"/>
                          </a:solidFill>
                        </a:rPr>
                        <a:t> </a:t>
                      </a:r>
                      <a:endParaRPr lang="en-US" sz="1600" dirty="0">
                        <a:solidFill>
                          <a:srgbClr val="002060"/>
                        </a:solidFill>
                      </a:endParaRPr>
                    </a:p>
                  </a:txBody>
                  <a:tcPr marT="45717" marB="45717"/>
                </a:tc>
                <a:tc>
                  <a:txBody>
                    <a:bodyPr/>
                    <a:lstStyle/>
                    <a:p>
                      <a:pPr algn="l"/>
                      <a:r>
                        <a:rPr lang="en-US" sz="1600" dirty="0">
                          <a:solidFill>
                            <a:srgbClr val="002060"/>
                          </a:solidFill>
                        </a:rPr>
                        <a:t>Stack </a:t>
                      </a:r>
                    </a:p>
                  </a:txBody>
                  <a:tcPr marT="45717" marB="45717"/>
                </a:tc>
                <a:tc>
                  <a:txBody>
                    <a:bodyPr/>
                    <a:lstStyle/>
                    <a:p>
                      <a:pPr algn="l"/>
                      <a:r>
                        <a:rPr lang="en-US" sz="1600" dirty="0" err="1">
                          <a:solidFill>
                            <a:srgbClr val="002060"/>
                          </a:solidFill>
                        </a:rPr>
                        <a:t>Kết</a:t>
                      </a:r>
                      <a:r>
                        <a:rPr lang="en-US" sz="1600" baseline="0" dirty="0">
                          <a:solidFill>
                            <a:srgbClr val="002060"/>
                          </a:solidFill>
                        </a:rPr>
                        <a:t> </a:t>
                      </a:r>
                      <a:r>
                        <a:rPr lang="en-US" sz="1600" baseline="0" dirty="0" err="1">
                          <a:solidFill>
                            <a:srgbClr val="002060"/>
                          </a:solidFill>
                        </a:rPr>
                        <a:t>quả</a:t>
                      </a:r>
                      <a:endParaRPr lang="en-US" sz="1600" dirty="0">
                        <a:solidFill>
                          <a:srgbClr val="002060"/>
                        </a:solidFill>
                      </a:endParaRPr>
                    </a:p>
                  </a:txBody>
                  <a:tcPr marT="45717" marB="45717"/>
                </a:tc>
                <a:extLst>
                  <a:ext uri="{0D108BD9-81ED-4DB2-BD59-A6C34878D82A}">
                    <a16:rowId xmlns:a16="http://schemas.microsoft.com/office/drawing/2014/main" val="10000"/>
                  </a:ext>
                </a:extLst>
              </a:tr>
              <a:tr h="351258">
                <a:tc>
                  <a:txBody>
                    <a:bodyPr/>
                    <a:lstStyle/>
                    <a:p>
                      <a:r>
                        <a:rPr lang="en-US" sz="1600" dirty="0">
                          <a:solidFill>
                            <a:srgbClr val="002060"/>
                          </a:solidFill>
                        </a:rPr>
                        <a:t>3</a:t>
                      </a:r>
                      <a:endParaRPr lang="en-US" sz="1600" b="1" dirty="0">
                        <a:solidFill>
                          <a:srgbClr val="002060"/>
                        </a:solidFill>
                      </a:endParaRPr>
                    </a:p>
                  </a:txBody>
                  <a:tcPr marT="45717" marB="45717"/>
                </a:tc>
                <a:tc>
                  <a:txBody>
                    <a:bodyPr/>
                    <a:lstStyle/>
                    <a:p>
                      <a:r>
                        <a:rPr lang="en-US" sz="1600" dirty="0" err="1">
                          <a:solidFill>
                            <a:srgbClr val="002060"/>
                          </a:solidFill>
                        </a:rPr>
                        <a:t>Ghi</a:t>
                      </a:r>
                      <a:r>
                        <a:rPr lang="en-US" sz="1600" dirty="0">
                          <a:solidFill>
                            <a:srgbClr val="002060"/>
                          </a:solidFill>
                        </a:rPr>
                        <a:t> 3 </a:t>
                      </a:r>
                      <a:r>
                        <a:rPr lang="en-US" sz="1600" dirty="0" err="1">
                          <a:solidFill>
                            <a:srgbClr val="002060"/>
                          </a:solidFill>
                        </a:rPr>
                        <a:t>vào</a:t>
                      </a:r>
                      <a:r>
                        <a:rPr lang="en-US" sz="1600" baseline="0" dirty="0">
                          <a:solidFill>
                            <a:srgbClr val="002060"/>
                          </a:solidFill>
                        </a:rPr>
                        <a:t> </a:t>
                      </a:r>
                      <a:r>
                        <a:rPr lang="en-US" sz="1600" baseline="0" dirty="0" err="1">
                          <a:solidFill>
                            <a:srgbClr val="002060"/>
                          </a:solidFill>
                        </a:rPr>
                        <a:t>kết</a:t>
                      </a:r>
                      <a:r>
                        <a:rPr lang="en-US" sz="1600" baseline="0" dirty="0">
                          <a:solidFill>
                            <a:srgbClr val="002060"/>
                          </a:solidFill>
                        </a:rPr>
                        <a:t> </a:t>
                      </a:r>
                      <a:r>
                        <a:rPr lang="en-US" sz="1600" baseline="0" dirty="0" err="1">
                          <a:solidFill>
                            <a:srgbClr val="002060"/>
                          </a:solidFill>
                        </a:rPr>
                        <a:t>quả</a:t>
                      </a:r>
                      <a:endParaRPr lang="en-US" sz="1600" dirty="0">
                        <a:solidFill>
                          <a:srgbClr val="002060"/>
                        </a:solidFill>
                      </a:endParaRPr>
                    </a:p>
                  </a:txBody>
                  <a:tcPr marT="45717" marB="45717"/>
                </a:tc>
                <a:tc>
                  <a:txBody>
                    <a:bodyPr/>
                    <a:lstStyle/>
                    <a:p>
                      <a:endParaRPr lang="en-US" sz="1600">
                        <a:solidFill>
                          <a:srgbClr val="002060"/>
                        </a:solidFill>
                      </a:endParaRPr>
                    </a:p>
                  </a:txBody>
                  <a:tcPr marT="45717" marB="45717"/>
                </a:tc>
                <a:tc>
                  <a:txBody>
                    <a:bodyPr/>
                    <a:lstStyle/>
                    <a:p>
                      <a:r>
                        <a:rPr lang="en-US" sz="1600" dirty="0">
                          <a:solidFill>
                            <a:srgbClr val="002060"/>
                          </a:solidFill>
                        </a:rPr>
                        <a:t>3</a:t>
                      </a:r>
                      <a:endParaRPr lang="en-US" sz="1600" b="1" dirty="0">
                        <a:solidFill>
                          <a:srgbClr val="002060"/>
                        </a:solidFill>
                      </a:endParaRPr>
                    </a:p>
                  </a:txBody>
                  <a:tcPr marT="45717" marB="45717"/>
                </a:tc>
                <a:extLst>
                  <a:ext uri="{0D108BD9-81ED-4DB2-BD59-A6C34878D82A}">
                    <a16:rowId xmlns:a16="http://schemas.microsoft.com/office/drawing/2014/main" val="10001"/>
                  </a:ext>
                </a:extLst>
              </a:tr>
              <a:tr h="351258">
                <a:tc>
                  <a:txBody>
                    <a:bodyPr/>
                    <a:lstStyle/>
                    <a:p>
                      <a:r>
                        <a:rPr lang="en-US" sz="1600" dirty="0">
                          <a:solidFill>
                            <a:srgbClr val="002060"/>
                          </a:solidFill>
                        </a:rPr>
                        <a:t>+</a:t>
                      </a:r>
                      <a:endParaRPr lang="en-US" sz="1600" b="1" dirty="0">
                        <a:solidFill>
                          <a:srgbClr val="002060"/>
                        </a:solidFill>
                      </a:endParaRPr>
                    </a:p>
                  </a:txBody>
                  <a:tcPr marT="45717" marB="45717"/>
                </a:tc>
                <a:tc>
                  <a:txBody>
                    <a:bodyPr/>
                    <a:lstStyle/>
                    <a:p>
                      <a:r>
                        <a:rPr lang="en-US" sz="1600" dirty="0">
                          <a:solidFill>
                            <a:srgbClr val="002060"/>
                          </a:solidFill>
                        </a:rPr>
                        <a:t>Push</a:t>
                      </a:r>
                      <a:r>
                        <a:rPr lang="en-US" sz="1600" baseline="0" dirty="0">
                          <a:solidFill>
                            <a:srgbClr val="002060"/>
                          </a:solidFill>
                        </a:rPr>
                        <a:t> +</a:t>
                      </a:r>
                      <a:endParaRPr lang="en-US" sz="1600" dirty="0">
                        <a:solidFill>
                          <a:srgbClr val="002060"/>
                        </a:solidFill>
                      </a:endParaRPr>
                    </a:p>
                  </a:txBody>
                  <a:tcPr marT="45717" marB="45717"/>
                </a:tc>
                <a:tc>
                  <a:txBody>
                    <a:bodyPr/>
                    <a:lstStyle/>
                    <a:p>
                      <a:r>
                        <a:rPr lang="en-US" sz="1600" dirty="0">
                          <a:solidFill>
                            <a:srgbClr val="002060"/>
                          </a:solidFill>
                        </a:rPr>
                        <a:t>+</a:t>
                      </a:r>
                      <a:endParaRPr lang="en-US" sz="1600" b="1" dirty="0">
                        <a:solidFill>
                          <a:srgbClr val="002060"/>
                        </a:solidFill>
                      </a:endParaRPr>
                    </a:p>
                  </a:txBody>
                  <a:tcPr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2060"/>
                          </a:solidFill>
                        </a:rPr>
                        <a:t>3</a:t>
                      </a:r>
                      <a:endParaRPr lang="en-US" sz="1600" b="1" dirty="0">
                        <a:solidFill>
                          <a:srgbClr val="002060"/>
                        </a:solidFill>
                      </a:endParaRPr>
                    </a:p>
                  </a:txBody>
                  <a:tcPr marT="45717" marB="45717"/>
                </a:tc>
                <a:extLst>
                  <a:ext uri="{0D108BD9-81ED-4DB2-BD59-A6C34878D82A}">
                    <a16:rowId xmlns:a16="http://schemas.microsoft.com/office/drawing/2014/main" val="10002"/>
                  </a:ext>
                </a:extLst>
              </a:tr>
              <a:tr h="351258">
                <a:tc>
                  <a:txBody>
                    <a:bodyPr/>
                    <a:lstStyle/>
                    <a:p>
                      <a:r>
                        <a:rPr lang="en-US" sz="1600" dirty="0">
                          <a:solidFill>
                            <a:srgbClr val="002060"/>
                          </a:solidFill>
                        </a:rPr>
                        <a:t>4</a:t>
                      </a:r>
                      <a:endParaRPr lang="en-US" sz="1600" b="1" dirty="0">
                        <a:solidFill>
                          <a:srgbClr val="002060"/>
                        </a:solidFill>
                      </a:endParaRPr>
                    </a:p>
                  </a:txBody>
                  <a:tcPr marT="45717" marB="45717"/>
                </a:tc>
                <a:tc>
                  <a:txBody>
                    <a:bodyPr/>
                    <a:lstStyle/>
                    <a:p>
                      <a:r>
                        <a:rPr lang="en-US" sz="1600" dirty="0" err="1">
                          <a:solidFill>
                            <a:srgbClr val="002060"/>
                          </a:solidFill>
                        </a:rPr>
                        <a:t>Ghi</a:t>
                      </a:r>
                      <a:r>
                        <a:rPr lang="en-US" sz="1600" dirty="0">
                          <a:solidFill>
                            <a:srgbClr val="002060"/>
                          </a:solidFill>
                        </a:rPr>
                        <a:t> 4 </a:t>
                      </a:r>
                      <a:r>
                        <a:rPr lang="en-US" sz="1600" dirty="0" err="1">
                          <a:solidFill>
                            <a:srgbClr val="002060"/>
                          </a:solidFill>
                        </a:rPr>
                        <a:t>vào</a:t>
                      </a:r>
                      <a:r>
                        <a:rPr lang="en-US" sz="1600" baseline="0" dirty="0">
                          <a:solidFill>
                            <a:srgbClr val="002060"/>
                          </a:solidFill>
                        </a:rPr>
                        <a:t> </a:t>
                      </a:r>
                      <a:r>
                        <a:rPr lang="en-US" sz="1600" baseline="0" dirty="0" err="1">
                          <a:solidFill>
                            <a:srgbClr val="002060"/>
                          </a:solidFill>
                        </a:rPr>
                        <a:t>kết</a:t>
                      </a:r>
                      <a:r>
                        <a:rPr lang="en-US" sz="1600" baseline="0" dirty="0">
                          <a:solidFill>
                            <a:srgbClr val="002060"/>
                          </a:solidFill>
                        </a:rPr>
                        <a:t> </a:t>
                      </a:r>
                      <a:r>
                        <a:rPr lang="en-US" sz="1600" baseline="0" dirty="0" err="1">
                          <a:solidFill>
                            <a:srgbClr val="002060"/>
                          </a:solidFill>
                        </a:rPr>
                        <a:t>quả</a:t>
                      </a:r>
                      <a:endParaRPr lang="en-US" sz="1600" dirty="0">
                        <a:solidFill>
                          <a:srgbClr val="002060"/>
                        </a:solidFill>
                      </a:endParaRPr>
                    </a:p>
                  </a:txBody>
                  <a:tcPr marT="45717" marB="45717"/>
                </a:tc>
                <a:tc>
                  <a:txBody>
                    <a:bodyPr/>
                    <a:lstStyle/>
                    <a:p>
                      <a:r>
                        <a:rPr lang="en-US" sz="1600" dirty="0">
                          <a:solidFill>
                            <a:srgbClr val="002060"/>
                          </a:solidFill>
                        </a:rPr>
                        <a:t>+</a:t>
                      </a:r>
                      <a:endParaRPr lang="en-US" sz="1600" b="1" dirty="0">
                        <a:solidFill>
                          <a:srgbClr val="002060"/>
                        </a:solidFill>
                      </a:endParaRPr>
                    </a:p>
                  </a:txBody>
                  <a:tcPr marT="45717" marB="45717"/>
                </a:tc>
                <a:tc>
                  <a:txBody>
                    <a:bodyPr/>
                    <a:lstStyle/>
                    <a:p>
                      <a:r>
                        <a:rPr lang="en-US" sz="1600" dirty="0">
                          <a:solidFill>
                            <a:srgbClr val="002060"/>
                          </a:solidFill>
                        </a:rPr>
                        <a:t>3 4</a:t>
                      </a:r>
                      <a:endParaRPr lang="en-US" sz="1600" b="1" dirty="0">
                        <a:solidFill>
                          <a:srgbClr val="002060"/>
                        </a:solidFill>
                      </a:endParaRPr>
                    </a:p>
                  </a:txBody>
                  <a:tcPr marT="45717" marB="45717"/>
                </a:tc>
                <a:extLst>
                  <a:ext uri="{0D108BD9-81ED-4DB2-BD59-A6C34878D82A}">
                    <a16:rowId xmlns:a16="http://schemas.microsoft.com/office/drawing/2014/main" val="10003"/>
                  </a:ext>
                </a:extLst>
              </a:tr>
              <a:tr h="351258">
                <a:tc>
                  <a:txBody>
                    <a:bodyPr/>
                    <a:lstStyle/>
                    <a:p>
                      <a:r>
                        <a:rPr lang="en-US" sz="1600" dirty="0">
                          <a:solidFill>
                            <a:srgbClr val="002060"/>
                          </a:solidFill>
                        </a:rPr>
                        <a:t>*</a:t>
                      </a:r>
                      <a:endParaRPr lang="en-US" sz="1600" b="1" dirty="0">
                        <a:solidFill>
                          <a:srgbClr val="002060"/>
                        </a:solidFill>
                      </a:endParaRPr>
                    </a:p>
                  </a:txBody>
                  <a:tcPr marT="45717" marB="45717"/>
                </a:tc>
                <a:tc>
                  <a:txBody>
                    <a:bodyPr/>
                    <a:lstStyle/>
                    <a:p>
                      <a:r>
                        <a:rPr lang="en-US" sz="1600" dirty="0">
                          <a:solidFill>
                            <a:srgbClr val="002060"/>
                          </a:solidFill>
                        </a:rPr>
                        <a:t>Push</a:t>
                      </a:r>
                      <a:r>
                        <a:rPr lang="en-US" sz="1600" baseline="0" dirty="0">
                          <a:solidFill>
                            <a:srgbClr val="002060"/>
                          </a:solidFill>
                        </a:rPr>
                        <a:t> *</a:t>
                      </a:r>
                      <a:endParaRPr lang="en-US" sz="1600" dirty="0">
                        <a:solidFill>
                          <a:srgbClr val="002060"/>
                        </a:solidFill>
                      </a:endParaRPr>
                    </a:p>
                  </a:txBody>
                  <a:tcPr marT="45717" marB="45717"/>
                </a:tc>
                <a:tc>
                  <a:txBody>
                    <a:bodyPr/>
                    <a:lstStyle/>
                    <a:p>
                      <a:r>
                        <a:rPr lang="en-US" sz="1600" dirty="0">
                          <a:solidFill>
                            <a:srgbClr val="002060"/>
                          </a:solidFill>
                        </a:rPr>
                        <a:t>+ *</a:t>
                      </a:r>
                      <a:endParaRPr lang="en-US" sz="1600" b="1" dirty="0">
                        <a:solidFill>
                          <a:srgbClr val="002060"/>
                        </a:solidFill>
                      </a:endParaRPr>
                    </a:p>
                  </a:txBody>
                  <a:tcPr marT="45717" marB="45717"/>
                </a:tc>
                <a:tc>
                  <a:txBody>
                    <a:bodyPr/>
                    <a:lstStyle/>
                    <a:p>
                      <a:r>
                        <a:rPr lang="en-US" sz="1600" dirty="0">
                          <a:solidFill>
                            <a:srgbClr val="002060"/>
                          </a:solidFill>
                        </a:rPr>
                        <a:t>3 4</a:t>
                      </a:r>
                      <a:endParaRPr lang="en-US" sz="1600" b="1" dirty="0">
                        <a:solidFill>
                          <a:srgbClr val="002060"/>
                        </a:solidFill>
                      </a:endParaRPr>
                    </a:p>
                  </a:txBody>
                  <a:tcPr marT="45717" marB="45717"/>
                </a:tc>
                <a:extLst>
                  <a:ext uri="{0D108BD9-81ED-4DB2-BD59-A6C34878D82A}">
                    <a16:rowId xmlns:a16="http://schemas.microsoft.com/office/drawing/2014/main" val="10004"/>
                  </a:ext>
                </a:extLst>
              </a:tr>
              <a:tr h="351258">
                <a:tc>
                  <a:txBody>
                    <a:bodyPr/>
                    <a:lstStyle/>
                    <a:p>
                      <a:r>
                        <a:rPr lang="en-US" sz="1600" dirty="0">
                          <a:solidFill>
                            <a:srgbClr val="002060"/>
                          </a:solidFill>
                        </a:rPr>
                        <a:t>2</a:t>
                      </a:r>
                      <a:endParaRPr lang="en-US" sz="1600" b="1" dirty="0">
                        <a:solidFill>
                          <a:srgbClr val="002060"/>
                        </a:solidFill>
                      </a:endParaRPr>
                    </a:p>
                  </a:txBody>
                  <a:tcPr marT="45717" marB="45717"/>
                </a:tc>
                <a:tc>
                  <a:txBody>
                    <a:bodyPr/>
                    <a:lstStyle/>
                    <a:p>
                      <a:r>
                        <a:rPr lang="en-US" sz="1600" dirty="0" err="1">
                          <a:solidFill>
                            <a:srgbClr val="002060"/>
                          </a:solidFill>
                        </a:rPr>
                        <a:t>Ghi</a:t>
                      </a:r>
                      <a:r>
                        <a:rPr lang="en-US" sz="1600" dirty="0">
                          <a:solidFill>
                            <a:srgbClr val="002060"/>
                          </a:solidFill>
                        </a:rPr>
                        <a:t> 2 </a:t>
                      </a:r>
                      <a:r>
                        <a:rPr lang="en-US" sz="1600" dirty="0" err="1">
                          <a:solidFill>
                            <a:srgbClr val="002060"/>
                          </a:solidFill>
                        </a:rPr>
                        <a:t>vào</a:t>
                      </a:r>
                      <a:r>
                        <a:rPr lang="en-US" sz="1600" baseline="0" dirty="0">
                          <a:solidFill>
                            <a:srgbClr val="002060"/>
                          </a:solidFill>
                        </a:rPr>
                        <a:t> </a:t>
                      </a:r>
                      <a:r>
                        <a:rPr lang="en-US" sz="1600" baseline="0" dirty="0" err="1">
                          <a:solidFill>
                            <a:srgbClr val="002060"/>
                          </a:solidFill>
                        </a:rPr>
                        <a:t>kết</a:t>
                      </a:r>
                      <a:r>
                        <a:rPr lang="en-US" sz="1600" baseline="0" dirty="0">
                          <a:solidFill>
                            <a:srgbClr val="002060"/>
                          </a:solidFill>
                        </a:rPr>
                        <a:t> </a:t>
                      </a:r>
                      <a:r>
                        <a:rPr lang="en-US" sz="1600" baseline="0" dirty="0" err="1">
                          <a:solidFill>
                            <a:srgbClr val="002060"/>
                          </a:solidFill>
                        </a:rPr>
                        <a:t>quả</a:t>
                      </a:r>
                      <a:endParaRPr lang="en-US" sz="1600" dirty="0">
                        <a:solidFill>
                          <a:srgbClr val="002060"/>
                        </a:solidFill>
                      </a:endParaRPr>
                    </a:p>
                  </a:txBody>
                  <a:tcPr marT="45717" marB="45717"/>
                </a:tc>
                <a:tc>
                  <a:txBody>
                    <a:bodyPr/>
                    <a:lstStyle/>
                    <a:p>
                      <a:r>
                        <a:rPr lang="en-US" sz="1600" dirty="0">
                          <a:solidFill>
                            <a:srgbClr val="002060"/>
                          </a:solidFill>
                        </a:rPr>
                        <a:t>+ *</a:t>
                      </a:r>
                      <a:endParaRPr lang="en-US" sz="1600" b="1" dirty="0">
                        <a:solidFill>
                          <a:srgbClr val="002060"/>
                        </a:solidFill>
                      </a:endParaRPr>
                    </a:p>
                  </a:txBody>
                  <a:tcPr marT="45717" marB="45717"/>
                </a:tc>
                <a:tc>
                  <a:txBody>
                    <a:bodyPr/>
                    <a:lstStyle/>
                    <a:p>
                      <a:r>
                        <a:rPr lang="en-US" sz="1600" dirty="0">
                          <a:solidFill>
                            <a:srgbClr val="002060"/>
                          </a:solidFill>
                        </a:rPr>
                        <a:t>3 4 2</a:t>
                      </a:r>
                      <a:endParaRPr lang="en-US" sz="1600" b="1" dirty="0">
                        <a:solidFill>
                          <a:srgbClr val="002060"/>
                        </a:solidFill>
                      </a:endParaRPr>
                    </a:p>
                  </a:txBody>
                  <a:tcPr marT="45717" marB="45717"/>
                </a:tc>
                <a:extLst>
                  <a:ext uri="{0D108BD9-81ED-4DB2-BD59-A6C34878D82A}">
                    <a16:rowId xmlns:a16="http://schemas.microsoft.com/office/drawing/2014/main" val="10005"/>
                  </a:ext>
                </a:extLst>
              </a:tr>
              <a:tr h="351258">
                <a:tc>
                  <a:txBody>
                    <a:bodyPr/>
                    <a:lstStyle/>
                    <a:p>
                      <a:r>
                        <a:rPr lang="en-US" sz="1600" dirty="0">
                          <a:solidFill>
                            <a:srgbClr val="002060"/>
                          </a:solidFill>
                        </a:rPr>
                        <a:t>/</a:t>
                      </a:r>
                      <a:endParaRPr lang="en-US" sz="1600" b="1" dirty="0">
                        <a:solidFill>
                          <a:srgbClr val="002060"/>
                        </a:solidFill>
                      </a:endParaRPr>
                    </a:p>
                  </a:txBody>
                  <a:tcPr marT="45717" marB="45717"/>
                </a:tc>
                <a:tc>
                  <a:txBody>
                    <a:bodyPr/>
                    <a:lstStyle/>
                    <a:p>
                      <a:r>
                        <a:rPr lang="en-US" sz="1600" dirty="0">
                          <a:solidFill>
                            <a:srgbClr val="002060"/>
                          </a:solidFill>
                        </a:rPr>
                        <a:t>Pop</a:t>
                      </a:r>
                      <a:r>
                        <a:rPr lang="en-US" sz="1600" baseline="0" dirty="0">
                          <a:solidFill>
                            <a:srgbClr val="002060"/>
                          </a:solidFill>
                        </a:rPr>
                        <a:t> * </a:t>
                      </a:r>
                      <a:r>
                        <a:rPr lang="en-US" sz="1600" baseline="0" dirty="0" err="1">
                          <a:solidFill>
                            <a:srgbClr val="002060"/>
                          </a:solidFill>
                        </a:rPr>
                        <a:t>ra</a:t>
                      </a:r>
                      <a:r>
                        <a:rPr lang="en-US" sz="1600" baseline="0" dirty="0">
                          <a:solidFill>
                            <a:srgbClr val="002060"/>
                          </a:solidFill>
                        </a:rPr>
                        <a:t> </a:t>
                      </a:r>
                      <a:r>
                        <a:rPr lang="en-US" sz="1600" baseline="0" dirty="0" err="1">
                          <a:solidFill>
                            <a:srgbClr val="002060"/>
                          </a:solidFill>
                        </a:rPr>
                        <a:t>khỏi</a:t>
                      </a:r>
                      <a:r>
                        <a:rPr lang="en-US" sz="1600" baseline="0" dirty="0">
                          <a:solidFill>
                            <a:srgbClr val="002060"/>
                          </a:solidFill>
                        </a:rPr>
                        <a:t> Stack </a:t>
                      </a:r>
                      <a:r>
                        <a:rPr lang="en-US" sz="1600" baseline="0" dirty="0" err="1">
                          <a:solidFill>
                            <a:srgbClr val="002060"/>
                          </a:solidFill>
                        </a:rPr>
                        <a:t>và</a:t>
                      </a:r>
                      <a:r>
                        <a:rPr lang="en-US" sz="1600" baseline="0" dirty="0">
                          <a:solidFill>
                            <a:srgbClr val="002060"/>
                          </a:solidFill>
                        </a:rPr>
                        <a:t> </a:t>
                      </a:r>
                      <a:r>
                        <a:rPr lang="en-US" sz="1600" baseline="0" dirty="0" err="1">
                          <a:solidFill>
                            <a:srgbClr val="002060"/>
                          </a:solidFill>
                        </a:rPr>
                        <a:t>ghi</a:t>
                      </a:r>
                      <a:r>
                        <a:rPr lang="en-US" sz="1600" baseline="0" dirty="0">
                          <a:solidFill>
                            <a:srgbClr val="002060"/>
                          </a:solidFill>
                        </a:rPr>
                        <a:t> </a:t>
                      </a:r>
                      <a:r>
                        <a:rPr lang="en-US" sz="1600" baseline="0" dirty="0" err="1">
                          <a:solidFill>
                            <a:srgbClr val="002060"/>
                          </a:solidFill>
                        </a:rPr>
                        <a:t>vào</a:t>
                      </a:r>
                      <a:r>
                        <a:rPr lang="en-US" sz="1600" baseline="0" dirty="0">
                          <a:solidFill>
                            <a:srgbClr val="002060"/>
                          </a:solidFill>
                        </a:rPr>
                        <a:t> </a:t>
                      </a:r>
                      <a:r>
                        <a:rPr lang="en-US" sz="1600" baseline="0" dirty="0" err="1">
                          <a:solidFill>
                            <a:srgbClr val="002060"/>
                          </a:solidFill>
                        </a:rPr>
                        <a:t>kết</a:t>
                      </a:r>
                      <a:r>
                        <a:rPr lang="en-US" sz="1600" baseline="0" dirty="0">
                          <a:solidFill>
                            <a:srgbClr val="002060"/>
                          </a:solidFill>
                        </a:rPr>
                        <a:t> </a:t>
                      </a:r>
                      <a:r>
                        <a:rPr lang="en-US" sz="1600" baseline="0" dirty="0" err="1">
                          <a:solidFill>
                            <a:srgbClr val="002060"/>
                          </a:solidFill>
                        </a:rPr>
                        <a:t>quả</a:t>
                      </a:r>
                      <a:r>
                        <a:rPr lang="en-US" sz="1600" baseline="0" dirty="0">
                          <a:solidFill>
                            <a:srgbClr val="002060"/>
                          </a:solidFill>
                        </a:rPr>
                        <a:t>; Push /</a:t>
                      </a:r>
                      <a:endParaRPr lang="en-US" sz="1600" dirty="0">
                        <a:solidFill>
                          <a:srgbClr val="002060"/>
                        </a:solidFill>
                      </a:endParaRPr>
                    </a:p>
                  </a:txBody>
                  <a:tcPr marT="45717" marB="45717"/>
                </a:tc>
                <a:tc>
                  <a:txBody>
                    <a:bodyPr/>
                    <a:lstStyle/>
                    <a:p>
                      <a:r>
                        <a:rPr lang="en-US" sz="1600" dirty="0">
                          <a:solidFill>
                            <a:srgbClr val="002060"/>
                          </a:solidFill>
                        </a:rPr>
                        <a:t>+ /</a:t>
                      </a:r>
                      <a:endParaRPr lang="en-US" sz="1600" b="1" dirty="0">
                        <a:solidFill>
                          <a:srgbClr val="002060"/>
                        </a:solidFill>
                      </a:endParaRPr>
                    </a:p>
                  </a:txBody>
                  <a:tcPr marT="45717" marB="45717"/>
                </a:tc>
                <a:tc>
                  <a:txBody>
                    <a:bodyPr/>
                    <a:lstStyle/>
                    <a:p>
                      <a:r>
                        <a:rPr lang="en-US" sz="1600" dirty="0">
                          <a:solidFill>
                            <a:srgbClr val="002060"/>
                          </a:solidFill>
                        </a:rPr>
                        <a:t>3 4 2 *</a:t>
                      </a:r>
                      <a:endParaRPr lang="en-US" sz="1600" b="1" dirty="0">
                        <a:solidFill>
                          <a:srgbClr val="002060"/>
                        </a:solidFill>
                      </a:endParaRPr>
                    </a:p>
                  </a:txBody>
                  <a:tcPr marT="45717" marB="45717"/>
                </a:tc>
                <a:extLst>
                  <a:ext uri="{0D108BD9-81ED-4DB2-BD59-A6C34878D82A}">
                    <a16:rowId xmlns:a16="http://schemas.microsoft.com/office/drawing/2014/main" val="10006"/>
                  </a:ext>
                </a:extLst>
              </a:tr>
              <a:tr h="351258">
                <a:tc>
                  <a:txBody>
                    <a:bodyPr/>
                    <a:lstStyle/>
                    <a:p>
                      <a:r>
                        <a:rPr lang="en-US" sz="1600" dirty="0">
                          <a:solidFill>
                            <a:srgbClr val="002060"/>
                          </a:solidFill>
                        </a:rPr>
                        <a:t>(</a:t>
                      </a:r>
                      <a:endParaRPr lang="en-US" sz="1600" b="1" dirty="0">
                        <a:solidFill>
                          <a:srgbClr val="002060"/>
                        </a:solidFill>
                      </a:endParaRPr>
                    </a:p>
                  </a:txBody>
                  <a:tcPr marT="45717" marB="45717"/>
                </a:tc>
                <a:tc>
                  <a:txBody>
                    <a:bodyPr/>
                    <a:lstStyle/>
                    <a:p>
                      <a:r>
                        <a:rPr lang="en-US" sz="1600" dirty="0">
                          <a:solidFill>
                            <a:srgbClr val="002060"/>
                          </a:solidFill>
                        </a:rPr>
                        <a:t>Push</a:t>
                      </a:r>
                      <a:r>
                        <a:rPr lang="en-US" sz="1600" baseline="0" dirty="0">
                          <a:solidFill>
                            <a:srgbClr val="002060"/>
                          </a:solidFill>
                        </a:rPr>
                        <a:t> (</a:t>
                      </a:r>
                      <a:endParaRPr lang="en-US" sz="1600" dirty="0">
                        <a:solidFill>
                          <a:srgbClr val="002060"/>
                        </a:solidFill>
                      </a:endParaRPr>
                    </a:p>
                  </a:txBody>
                  <a:tcPr marT="45717" marB="45717"/>
                </a:tc>
                <a:tc>
                  <a:txBody>
                    <a:bodyPr/>
                    <a:lstStyle/>
                    <a:p>
                      <a:r>
                        <a:rPr lang="en-US" sz="1600" dirty="0">
                          <a:solidFill>
                            <a:srgbClr val="002060"/>
                          </a:solidFill>
                        </a:rPr>
                        <a:t>+ / (</a:t>
                      </a:r>
                      <a:endParaRPr lang="en-US" sz="1600" b="1" dirty="0">
                        <a:solidFill>
                          <a:srgbClr val="002060"/>
                        </a:solidFill>
                      </a:endParaRPr>
                    </a:p>
                  </a:txBody>
                  <a:tcPr marT="45717" marB="45717"/>
                </a:tc>
                <a:tc>
                  <a:txBody>
                    <a:bodyPr/>
                    <a:lstStyle/>
                    <a:p>
                      <a:r>
                        <a:rPr lang="en-US" sz="1600" dirty="0">
                          <a:solidFill>
                            <a:srgbClr val="002060"/>
                          </a:solidFill>
                        </a:rPr>
                        <a:t>3 4 2 *</a:t>
                      </a:r>
                      <a:endParaRPr lang="en-US" sz="1600" b="1" dirty="0">
                        <a:solidFill>
                          <a:srgbClr val="002060"/>
                        </a:solidFill>
                      </a:endParaRPr>
                    </a:p>
                  </a:txBody>
                  <a:tcPr marT="45717" marB="45717"/>
                </a:tc>
                <a:extLst>
                  <a:ext uri="{0D108BD9-81ED-4DB2-BD59-A6C34878D82A}">
                    <a16:rowId xmlns:a16="http://schemas.microsoft.com/office/drawing/2014/main" val="10007"/>
                  </a:ext>
                </a:extLst>
              </a:tr>
              <a:tr h="351258">
                <a:tc>
                  <a:txBody>
                    <a:bodyPr/>
                    <a:lstStyle/>
                    <a:p>
                      <a:r>
                        <a:rPr lang="en-US" sz="1600" dirty="0">
                          <a:solidFill>
                            <a:srgbClr val="002060"/>
                          </a:solidFill>
                        </a:rPr>
                        <a:t>1</a:t>
                      </a:r>
                      <a:endParaRPr lang="en-US" sz="1600" b="1" dirty="0">
                        <a:solidFill>
                          <a:srgbClr val="002060"/>
                        </a:solidFill>
                      </a:endParaRPr>
                    </a:p>
                  </a:txBody>
                  <a:tcPr marT="45717" marB="45717"/>
                </a:tc>
                <a:tc>
                  <a:txBody>
                    <a:bodyPr/>
                    <a:lstStyle/>
                    <a:p>
                      <a:r>
                        <a:rPr lang="en-US" sz="1600" dirty="0" err="1">
                          <a:solidFill>
                            <a:srgbClr val="002060"/>
                          </a:solidFill>
                        </a:rPr>
                        <a:t>Ghi</a:t>
                      </a:r>
                      <a:r>
                        <a:rPr lang="en-US" sz="1600" dirty="0">
                          <a:solidFill>
                            <a:srgbClr val="002060"/>
                          </a:solidFill>
                        </a:rPr>
                        <a:t> 1 </a:t>
                      </a:r>
                      <a:r>
                        <a:rPr lang="en-US" sz="1600" dirty="0" err="1">
                          <a:solidFill>
                            <a:srgbClr val="002060"/>
                          </a:solidFill>
                        </a:rPr>
                        <a:t>vào</a:t>
                      </a:r>
                      <a:r>
                        <a:rPr lang="en-US" sz="1600" baseline="0" dirty="0">
                          <a:solidFill>
                            <a:srgbClr val="002060"/>
                          </a:solidFill>
                        </a:rPr>
                        <a:t> </a:t>
                      </a:r>
                      <a:r>
                        <a:rPr lang="en-US" sz="1600" baseline="0" dirty="0" err="1">
                          <a:solidFill>
                            <a:srgbClr val="002060"/>
                          </a:solidFill>
                        </a:rPr>
                        <a:t>kết</a:t>
                      </a:r>
                      <a:r>
                        <a:rPr lang="en-US" sz="1600" baseline="0" dirty="0">
                          <a:solidFill>
                            <a:srgbClr val="002060"/>
                          </a:solidFill>
                        </a:rPr>
                        <a:t> </a:t>
                      </a:r>
                      <a:r>
                        <a:rPr lang="en-US" sz="1600" baseline="0" dirty="0" err="1">
                          <a:solidFill>
                            <a:srgbClr val="002060"/>
                          </a:solidFill>
                        </a:rPr>
                        <a:t>quả</a:t>
                      </a:r>
                      <a:endParaRPr lang="en-US" sz="1600" dirty="0">
                        <a:solidFill>
                          <a:srgbClr val="002060"/>
                        </a:solidFill>
                      </a:endParaRPr>
                    </a:p>
                  </a:txBody>
                  <a:tcPr marT="45717" marB="45717"/>
                </a:tc>
                <a:tc>
                  <a:txBody>
                    <a:bodyPr/>
                    <a:lstStyle/>
                    <a:p>
                      <a:r>
                        <a:rPr lang="en-US" sz="1600" dirty="0">
                          <a:solidFill>
                            <a:srgbClr val="002060"/>
                          </a:solidFill>
                        </a:rPr>
                        <a:t>+ / (</a:t>
                      </a:r>
                      <a:endParaRPr lang="en-US" sz="1600" b="1" dirty="0">
                        <a:solidFill>
                          <a:srgbClr val="002060"/>
                        </a:solidFill>
                      </a:endParaRPr>
                    </a:p>
                  </a:txBody>
                  <a:tcPr marT="45717" marB="45717"/>
                </a:tc>
                <a:tc>
                  <a:txBody>
                    <a:bodyPr/>
                    <a:lstStyle/>
                    <a:p>
                      <a:r>
                        <a:rPr lang="en-US" sz="1600" dirty="0">
                          <a:solidFill>
                            <a:srgbClr val="002060"/>
                          </a:solidFill>
                        </a:rPr>
                        <a:t>3 4 2 * 1</a:t>
                      </a:r>
                      <a:endParaRPr lang="en-US" sz="1600" b="1" dirty="0">
                        <a:solidFill>
                          <a:srgbClr val="002060"/>
                        </a:solidFill>
                      </a:endParaRPr>
                    </a:p>
                  </a:txBody>
                  <a:tcPr marT="45717" marB="45717"/>
                </a:tc>
                <a:extLst>
                  <a:ext uri="{0D108BD9-81ED-4DB2-BD59-A6C34878D82A}">
                    <a16:rowId xmlns:a16="http://schemas.microsoft.com/office/drawing/2014/main" val="10008"/>
                  </a:ext>
                </a:extLst>
              </a:tr>
              <a:tr h="351258">
                <a:tc>
                  <a:txBody>
                    <a:bodyPr/>
                    <a:lstStyle/>
                    <a:p>
                      <a:r>
                        <a:rPr lang="en-US" sz="1600" dirty="0">
                          <a:solidFill>
                            <a:srgbClr val="002060"/>
                          </a:solidFill>
                        </a:rPr>
                        <a:t>-</a:t>
                      </a:r>
                      <a:endParaRPr lang="en-US" sz="1600" b="1" dirty="0">
                        <a:solidFill>
                          <a:srgbClr val="002060"/>
                        </a:solidFill>
                      </a:endParaRPr>
                    </a:p>
                  </a:txBody>
                  <a:tcPr marT="45717" marB="45717"/>
                </a:tc>
                <a:tc>
                  <a:txBody>
                    <a:bodyPr/>
                    <a:lstStyle/>
                    <a:p>
                      <a:r>
                        <a:rPr lang="en-US" sz="1600" dirty="0">
                          <a:solidFill>
                            <a:srgbClr val="002060"/>
                          </a:solidFill>
                        </a:rPr>
                        <a:t>Push</a:t>
                      </a:r>
                      <a:r>
                        <a:rPr lang="en-US" sz="1600" baseline="0" dirty="0">
                          <a:solidFill>
                            <a:srgbClr val="002060"/>
                          </a:solidFill>
                        </a:rPr>
                        <a:t> -</a:t>
                      </a:r>
                      <a:endParaRPr lang="en-US" sz="1600" dirty="0">
                        <a:solidFill>
                          <a:srgbClr val="002060"/>
                        </a:solidFill>
                      </a:endParaRPr>
                    </a:p>
                  </a:txBody>
                  <a:tcPr marT="45717" marB="45717"/>
                </a:tc>
                <a:tc>
                  <a:txBody>
                    <a:bodyPr/>
                    <a:lstStyle/>
                    <a:p>
                      <a:r>
                        <a:rPr lang="en-US" sz="1600" dirty="0">
                          <a:solidFill>
                            <a:srgbClr val="002060"/>
                          </a:solidFill>
                        </a:rPr>
                        <a:t>+ / ( -</a:t>
                      </a:r>
                      <a:endParaRPr lang="en-US" sz="1600" b="1" dirty="0">
                        <a:solidFill>
                          <a:srgbClr val="002060"/>
                        </a:solidFill>
                      </a:endParaRPr>
                    </a:p>
                  </a:txBody>
                  <a:tcPr marT="45717" marB="45717"/>
                </a:tc>
                <a:tc>
                  <a:txBody>
                    <a:bodyPr/>
                    <a:lstStyle/>
                    <a:p>
                      <a:r>
                        <a:rPr lang="en-US" sz="1600" dirty="0">
                          <a:solidFill>
                            <a:srgbClr val="002060"/>
                          </a:solidFill>
                        </a:rPr>
                        <a:t>3 4 2 * 1</a:t>
                      </a:r>
                      <a:endParaRPr lang="en-US" sz="1600" b="1" dirty="0">
                        <a:solidFill>
                          <a:srgbClr val="002060"/>
                        </a:solidFill>
                      </a:endParaRPr>
                    </a:p>
                  </a:txBody>
                  <a:tcPr marT="45717" marB="45717"/>
                </a:tc>
                <a:extLst>
                  <a:ext uri="{0D108BD9-81ED-4DB2-BD59-A6C34878D82A}">
                    <a16:rowId xmlns:a16="http://schemas.microsoft.com/office/drawing/2014/main" val="10009"/>
                  </a:ext>
                </a:extLst>
              </a:tr>
              <a:tr h="351258">
                <a:tc>
                  <a:txBody>
                    <a:bodyPr/>
                    <a:lstStyle/>
                    <a:p>
                      <a:r>
                        <a:rPr lang="en-US" sz="1600" dirty="0">
                          <a:solidFill>
                            <a:srgbClr val="002060"/>
                          </a:solidFill>
                        </a:rPr>
                        <a:t>5</a:t>
                      </a:r>
                      <a:endParaRPr lang="en-US" sz="1600" b="1" dirty="0">
                        <a:solidFill>
                          <a:srgbClr val="002060"/>
                        </a:solidFill>
                      </a:endParaRPr>
                    </a:p>
                  </a:txBody>
                  <a:tcPr marT="45717" marB="45717"/>
                </a:tc>
                <a:tc>
                  <a:txBody>
                    <a:bodyPr/>
                    <a:lstStyle/>
                    <a:p>
                      <a:r>
                        <a:rPr lang="en-US" sz="1600" dirty="0" err="1">
                          <a:solidFill>
                            <a:srgbClr val="002060"/>
                          </a:solidFill>
                        </a:rPr>
                        <a:t>Ghi</a:t>
                      </a:r>
                      <a:r>
                        <a:rPr lang="en-US" sz="1600" dirty="0">
                          <a:solidFill>
                            <a:srgbClr val="002060"/>
                          </a:solidFill>
                        </a:rPr>
                        <a:t> 5 </a:t>
                      </a:r>
                      <a:r>
                        <a:rPr lang="en-US" sz="1600" dirty="0" err="1">
                          <a:solidFill>
                            <a:srgbClr val="002060"/>
                          </a:solidFill>
                        </a:rPr>
                        <a:t>vào</a:t>
                      </a:r>
                      <a:r>
                        <a:rPr lang="en-US" sz="1600" baseline="0" dirty="0">
                          <a:solidFill>
                            <a:srgbClr val="002060"/>
                          </a:solidFill>
                        </a:rPr>
                        <a:t> </a:t>
                      </a:r>
                      <a:r>
                        <a:rPr lang="en-US" sz="1600" baseline="0" dirty="0" err="1">
                          <a:solidFill>
                            <a:srgbClr val="002060"/>
                          </a:solidFill>
                        </a:rPr>
                        <a:t>kết</a:t>
                      </a:r>
                      <a:r>
                        <a:rPr lang="en-US" sz="1600" baseline="0" dirty="0">
                          <a:solidFill>
                            <a:srgbClr val="002060"/>
                          </a:solidFill>
                        </a:rPr>
                        <a:t> </a:t>
                      </a:r>
                      <a:r>
                        <a:rPr lang="en-US" sz="1600" baseline="0" dirty="0" err="1">
                          <a:solidFill>
                            <a:srgbClr val="002060"/>
                          </a:solidFill>
                        </a:rPr>
                        <a:t>quả</a:t>
                      </a:r>
                      <a:endParaRPr lang="en-US" sz="1600" dirty="0">
                        <a:solidFill>
                          <a:srgbClr val="002060"/>
                        </a:solidFill>
                      </a:endParaRPr>
                    </a:p>
                  </a:txBody>
                  <a:tcPr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2060"/>
                          </a:solidFill>
                        </a:rPr>
                        <a:t>+ / ( -</a:t>
                      </a:r>
                      <a:endParaRPr lang="en-US" sz="1600" b="1" dirty="0">
                        <a:solidFill>
                          <a:srgbClr val="002060"/>
                        </a:solidFill>
                      </a:endParaRPr>
                    </a:p>
                  </a:txBody>
                  <a:tcPr marT="45717" marB="45717"/>
                </a:tc>
                <a:tc>
                  <a:txBody>
                    <a:bodyPr/>
                    <a:lstStyle/>
                    <a:p>
                      <a:r>
                        <a:rPr lang="en-US" sz="1600" dirty="0">
                          <a:solidFill>
                            <a:srgbClr val="002060"/>
                          </a:solidFill>
                        </a:rPr>
                        <a:t>3 4 2 * 1 5</a:t>
                      </a:r>
                      <a:endParaRPr lang="en-US" sz="1600" b="1" dirty="0">
                        <a:solidFill>
                          <a:srgbClr val="002060"/>
                        </a:solidFill>
                      </a:endParaRPr>
                    </a:p>
                  </a:txBody>
                  <a:tcPr marT="45717" marB="45717"/>
                </a:tc>
                <a:extLst>
                  <a:ext uri="{0D108BD9-81ED-4DB2-BD59-A6C34878D82A}">
                    <a16:rowId xmlns:a16="http://schemas.microsoft.com/office/drawing/2014/main" val="10010"/>
                  </a:ext>
                </a:extLst>
              </a:tr>
              <a:tr h="351258">
                <a:tc>
                  <a:txBody>
                    <a:bodyPr/>
                    <a:lstStyle/>
                    <a:p>
                      <a:r>
                        <a:rPr lang="en-US" sz="1600" dirty="0">
                          <a:solidFill>
                            <a:srgbClr val="002060"/>
                          </a:solidFill>
                        </a:rPr>
                        <a:t>)</a:t>
                      </a:r>
                      <a:endParaRPr lang="en-US" sz="1600" b="1" dirty="0">
                        <a:solidFill>
                          <a:srgbClr val="002060"/>
                        </a:solidFill>
                      </a:endParaRPr>
                    </a:p>
                  </a:txBody>
                  <a:tcPr marT="45717" marB="45717"/>
                </a:tc>
                <a:tc>
                  <a:txBody>
                    <a:bodyPr/>
                    <a:lstStyle/>
                    <a:p>
                      <a:r>
                        <a:rPr lang="en-US" sz="1600" dirty="0">
                          <a:solidFill>
                            <a:srgbClr val="002060"/>
                          </a:solidFill>
                        </a:rPr>
                        <a:t>Pop </a:t>
                      </a:r>
                      <a:r>
                        <a:rPr lang="en-US" sz="1600" dirty="0" err="1">
                          <a:solidFill>
                            <a:srgbClr val="002060"/>
                          </a:solidFill>
                        </a:rPr>
                        <a:t>cho</a:t>
                      </a:r>
                      <a:r>
                        <a:rPr lang="en-US" sz="1600" dirty="0">
                          <a:solidFill>
                            <a:srgbClr val="002060"/>
                          </a:solidFill>
                        </a:rPr>
                        <a:t> </a:t>
                      </a:r>
                      <a:r>
                        <a:rPr lang="en-US" sz="1600" dirty="0" err="1">
                          <a:solidFill>
                            <a:srgbClr val="002060"/>
                          </a:solidFill>
                        </a:rPr>
                        <a:t>đến</a:t>
                      </a:r>
                      <a:r>
                        <a:rPr lang="en-US" sz="1600" baseline="0" dirty="0">
                          <a:solidFill>
                            <a:srgbClr val="002060"/>
                          </a:solidFill>
                        </a:rPr>
                        <a:t> </a:t>
                      </a:r>
                      <a:r>
                        <a:rPr lang="en-US" sz="1600" baseline="0" dirty="0" err="1">
                          <a:solidFill>
                            <a:srgbClr val="002060"/>
                          </a:solidFill>
                        </a:rPr>
                        <a:t>khi</a:t>
                      </a:r>
                      <a:r>
                        <a:rPr lang="en-US" sz="1600" baseline="0" dirty="0">
                          <a:solidFill>
                            <a:srgbClr val="002060"/>
                          </a:solidFill>
                        </a:rPr>
                        <a:t> </a:t>
                      </a:r>
                      <a:r>
                        <a:rPr lang="en-US" sz="1600" baseline="0" dirty="0" err="1">
                          <a:solidFill>
                            <a:srgbClr val="002060"/>
                          </a:solidFill>
                        </a:rPr>
                        <a:t>lấy</a:t>
                      </a:r>
                      <a:r>
                        <a:rPr lang="en-US" sz="1600" baseline="0" dirty="0">
                          <a:solidFill>
                            <a:srgbClr val="002060"/>
                          </a:solidFill>
                        </a:rPr>
                        <a:t> </a:t>
                      </a:r>
                      <a:r>
                        <a:rPr lang="en-US" sz="1600" baseline="0" dirty="0" err="1">
                          <a:solidFill>
                            <a:srgbClr val="002060"/>
                          </a:solidFill>
                        </a:rPr>
                        <a:t>được</a:t>
                      </a:r>
                      <a:r>
                        <a:rPr lang="en-US" sz="1600" baseline="0" dirty="0">
                          <a:solidFill>
                            <a:srgbClr val="002060"/>
                          </a:solidFill>
                        </a:rPr>
                        <a:t> (, </a:t>
                      </a:r>
                      <a:r>
                        <a:rPr lang="en-US" sz="1600" baseline="0" dirty="0" err="1">
                          <a:solidFill>
                            <a:srgbClr val="002060"/>
                          </a:solidFill>
                        </a:rPr>
                        <a:t>ghi</a:t>
                      </a:r>
                      <a:r>
                        <a:rPr lang="en-US" sz="1600" baseline="0" dirty="0">
                          <a:solidFill>
                            <a:srgbClr val="002060"/>
                          </a:solidFill>
                        </a:rPr>
                        <a:t> </a:t>
                      </a:r>
                      <a:r>
                        <a:rPr lang="en-US" sz="1600" baseline="0" dirty="0" err="1">
                          <a:solidFill>
                            <a:srgbClr val="002060"/>
                          </a:solidFill>
                        </a:rPr>
                        <a:t>các</a:t>
                      </a:r>
                      <a:r>
                        <a:rPr lang="en-US" sz="1600" baseline="0" dirty="0">
                          <a:solidFill>
                            <a:srgbClr val="002060"/>
                          </a:solidFill>
                        </a:rPr>
                        <a:t> </a:t>
                      </a:r>
                      <a:r>
                        <a:rPr lang="en-US" sz="1600" baseline="0" dirty="0" err="1">
                          <a:solidFill>
                            <a:srgbClr val="002060"/>
                          </a:solidFill>
                        </a:rPr>
                        <a:t>toán</a:t>
                      </a:r>
                      <a:r>
                        <a:rPr lang="en-US" sz="1600" baseline="0" dirty="0">
                          <a:solidFill>
                            <a:srgbClr val="002060"/>
                          </a:solidFill>
                        </a:rPr>
                        <a:t> </a:t>
                      </a:r>
                      <a:r>
                        <a:rPr lang="en-US" sz="1600" baseline="0" dirty="0" err="1">
                          <a:solidFill>
                            <a:srgbClr val="002060"/>
                          </a:solidFill>
                        </a:rPr>
                        <a:t>tử</a:t>
                      </a:r>
                      <a:r>
                        <a:rPr lang="en-US" sz="1600" baseline="0" dirty="0">
                          <a:solidFill>
                            <a:srgbClr val="002060"/>
                          </a:solidFill>
                        </a:rPr>
                        <a:t> </a:t>
                      </a:r>
                      <a:r>
                        <a:rPr lang="en-US" sz="1600" baseline="0" dirty="0" err="1">
                          <a:solidFill>
                            <a:srgbClr val="002060"/>
                          </a:solidFill>
                        </a:rPr>
                        <a:t>ra</a:t>
                      </a:r>
                      <a:r>
                        <a:rPr lang="en-US" sz="1600" baseline="0" dirty="0">
                          <a:solidFill>
                            <a:srgbClr val="002060"/>
                          </a:solidFill>
                        </a:rPr>
                        <a:t> </a:t>
                      </a:r>
                      <a:r>
                        <a:rPr lang="en-US" sz="1600" baseline="0" dirty="0" err="1">
                          <a:solidFill>
                            <a:srgbClr val="002060"/>
                          </a:solidFill>
                        </a:rPr>
                        <a:t>kết</a:t>
                      </a:r>
                      <a:r>
                        <a:rPr lang="en-US" sz="1600" baseline="0" dirty="0">
                          <a:solidFill>
                            <a:srgbClr val="002060"/>
                          </a:solidFill>
                        </a:rPr>
                        <a:t> </a:t>
                      </a:r>
                      <a:r>
                        <a:rPr lang="en-US" sz="1600" baseline="0" dirty="0" err="1">
                          <a:solidFill>
                            <a:srgbClr val="002060"/>
                          </a:solidFill>
                        </a:rPr>
                        <a:t>quả</a:t>
                      </a:r>
                      <a:endParaRPr lang="en-US" sz="1600" dirty="0">
                        <a:solidFill>
                          <a:srgbClr val="002060"/>
                        </a:solidFill>
                      </a:endParaRPr>
                    </a:p>
                  </a:txBody>
                  <a:tcPr marT="45717" marB="45717"/>
                </a:tc>
                <a:tc>
                  <a:txBody>
                    <a:bodyPr/>
                    <a:lstStyle/>
                    <a:p>
                      <a:r>
                        <a:rPr lang="en-US" sz="1600" dirty="0">
                          <a:solidFill>
                            <a:srgbClr val="002060"/>
                          </a:solidFill>
                        </a:rPr>
                        <a:t>+ /</a:t>
                      </a:r>
                      <a:endParaRPr lang="en-US" sz="1600" b="1" dirty="0">
                        <a:solidFill>
                          <a:srgbClr val="002060"/>
                        </a:solidFill>
                      </a:endParaRPr>
                    </a:p>
                  </a:txBody>
                  <a:tcPr marT="45717" marB="45717"/>
                </a:tc>
                <a:tc>
                  <a:txBody>
                    <a:bodyPr/>
                    <a:lstStyle/>
                    <a:p>
                      <a:r>
                        <a:rPr lang="en-US" sz="1600" dirty="0">
                          <a:solidFill>
                            <a:srgbClr val="002060"/>
                          </a:solidFill>
                        </a:rPr>
                        <a:t>3 4 2 * 1 5 -</a:t>
                      </a:r>
                      <a:endParaRPr lang="en-US" sz="1600" b="1" dirty="0">
                        <a:solidFill>
                          <a:srgbClr val="002060"/>
                        </a:solidFill>
                      </a:endParaRPr>
                    </a:p>
                  </a:txBody>
                  <a:tcPr marT="45717" marB="45717"/>
                </a:tc>
                <a:extLst>
                  <a:ext uri="{0D108BD9-81ED-4DB2-BD59-A6C34878D82A}">
                    <a16:rowId xmlns:a16="http://schemas.microsoft.com/office/drawing/2014/main" val="10011"/>
                  </a:ext>
                </a:extLst>
              </a:tr>
              <a:tr h="351258">
                <a:tc>
                  <a:txBody>
                    <a:bodyPr/>
                    <a:lstStyle/>
                    <a:p>
                      <a:endParaRPr lang="en-US" sz="1600" b="1" dirty="0">
                        <a:solidFill>
                          <a:srgbClr val="002060"/>
                        </a:solidFill>
                      </a:endParaRPr>
                    </a:p>
                  </a:txBody>
                  <a:tcPr marT="45717" marB="45717"/>
                </a:tc>
                <a:tc>
                  <a:txBody>
                    <a:bodyPr/>
                    <a:lstStyle/>
                    <a:p>
                      <a:r>
                        <a:rPr lang="en-US" sz="1600" dirty="0">
                          <a:solidFill>
                            <a:srgbClr val="002060"/>
                          </a:solidFill>
                        </a:rPr>
                        <a:t>Pop </a:t>
                      </a:r>
                      <a:r>
                        <a:rPr lang="en-US" sz="1600" dirty="0" err="1">
                          <a:solidFill>
                            <a:srgbClr val="002060"/>
                          </a:solidFill>
                        </a:rPr>
                        <a:t>tất</a:t>
                      </a:r>
                      <a:r>
                        <a:rPr lang="en-US" sz="1600" baseline="0" dirty="0">
                          <a:solidFill>
                            <a:srgbClr val="002060"/>
                          </a:solidFill>
                        </a:rPr>
                        <a:t> </a:t>
                      </a:r>
                      <a:r>
                        <a:rPr lang="en-US" sz="1600" baseline="0" dirty="0" err="1">
                          <a:solidFill>
                            <a:srgbClr val="002060"/>
                          </a:solidFill>
                        </a:rPr>
                        <a:t>cả</a:t>
                      </a:r>
                      <a:r>
                        <a:rPr lang="en-US" sz="1600" baseline="0" dirty="0">
                          <a:solidFill>
                            <a:srgbClr val="002060"/>
                          </a:solidFill>
                        </a:rPr>
                        <a:t> </a:t>
                      </a:r>
                      <a:r>
                        <a:rPr lang="en-US" sz="1600" baseline="0" dirty="0" err="1">
                          <a:solidFill>
                            <a:srgbClr val="002060"/>
                          </a:solidFill>
                        </a:rPr>
                        <a:t>toán</a:t>
                      </a:r>
                      <a:r>
                        <a:rPr lang="en-US" sz="1600" baseline="0" dirty="0">
                          <a:solidFill>
                            <a:srgbClr val="002060"/>
                          </a:solidFill>
                        </a:rPr>
                        <a:t> </a:t>
                      </a:r>
                      <a:r>
                        <a:rPr lang="en-US" sz="1600" baseline="0" dirty="0" err="1">
                          <a:solidFill>
                            <a:srgbClr val="002060"/>
                          </a:solidFill>
                        </a:rPr>
                        <a:t>tử</a:t>
                      </a:r>
                      <a:r>
                        <a:rPr lang="en-US" sz="1600" baseline="0" dirty="0">
                          <a:solidFill>
                            <a:srgbClr val="002060"/>
                          </a:solidFill>
                        </a:rPr>
                        <a:t> </a:t>
                      </a:r>
                      <a:r>
                        <a:rPr lang="en-US" sz="1600" baseline="0" dirty="0" err="1">
                          <a:solidFill>
                            <a:srgbClr val="002060"/>
                          </a:solidFill>
                        </a:rPr>
                        <a:t>ra</a:t>
                      </a:r>
                      <a:r>
                        <a:rPr lang="en-US" sz="1600" baseline="0" dirty="0">
                          <a:solidFill>
                            <a:srgbClr val="002060"/>
                          </a:solidFill>
                        </a:rPr>
                        <a:t> </a:t>
                      </a:r>
                      <a:r>
                        <a:rPr lang="en-US" sz="1600" baseline="0" dirty="0" err="1">
                          <a:solidFill>
                            <a:srgbClr val="002060"/>
                          </a:solidFill>
                        </a:rPr>
                        <a:t>khỏi</a:t>
                      </a:r>
                      <a:r>
                        <a:rPr lang="en-US" sz="1600" baseline="0" dirty="0">
                          <a:solidFill>
                            <a:srgbClr val="002060"/>
                          </a:solidFill>
                        </a:rPr>
                        <a:t> Stack, </a:t>
                      </a:r>
                      <a:r>
                        <a:rPr lang="en-US" sz="1600" baseline="0" dirty="0" err="1">
                          <a:solidFill>
                            <a:srgbClr val="002060"/>
                          </a:solidFill>
                        </a:rPr>
                        <a:t>ghi</a:t>
                      </a:r>
                      <a:r>
                        <a:rPr lang="en-US" sz="1600" baseline="0" dirty="0">
                          <a:solidFill>
                            <a:srgbClr val="002060"/>
                          </a:solidFill>
                        </a:rPr>
                        <a:t> </a:t>
                      </a:r>
                      <a:r>
                        <a:rPr lang="en-US" sz="1600" baseline="0" dirty="0" err="1">
                          <a:solidFill>
                            <a:srgbClr val="002060"/>
                          </a:solidFill>
                        </a:rPr>
                        <a:t>vào</a:t>
                      </a:r>
                      <a:r>
                        <a:rPr lang="en-US" sz="1600" baseline="0" dirty="0">
                          <a:solidFill>
                            <a:srgbClr val="002060"/>
                          </a:solidFill>
                        </a:rPr>
                        <a:t> </a:t>
                      </a:r>
                      <a:r>
                        <a:rPr lang="en-US" sz="1600" baseline="0" dirty="0" err="1">
                          <a:solidFill>
                            <a:srgbClr val="002060"/>
                          </a:solidFill>
                        </a:rPr>
                        <a:t>kết</a:t>
                      </a:r>
                      <a:r>
                        <a:rPr lang="en-US" sz="1600" baseline="0" dirty="0">
                          <a:solidFill>
                            <a:srgbClr val="002060"/>
                          </a:solidFill>
                        </a:rPr>
                        <a:t> </a:t>
                      </a:r>
                      <a:r>
                        <a:rPr lang="en-US" sz="1600" baseline="0" dirty="0" err="1">
                          <a:solidFill>
                            <a:srgbClr val="002060"/>
                          </a:solidFill>
                        </a:rPr>
                        <a:t>quả</a:t>
                      </a:r>
                      <a:endParaRPr lang="en-US" sz="1600" dirty="0">
                        <a:solidFill>
                          <a:srgbClr val="002060"/>
                        </a:solidFill>
                      </a:endParaRPr>
                    </a:p>
                  </a:txBody>
                  <a:tcPr marT="45717" marB="45717"/>
                </a:tc>
                <a:tc>
                  <a:txBody>
                    <a:bodyPr/>
                    <a:lstStyle/>
                    <a:p>
                      <a:endParaRPr lang="en-US" sz="1600">
                        <a:solidFill>
                          <a:srgbClr val="002060"/>
                        </a:solidFill>
                      </a:endParaRPr>
                    </a:p>
                  </a:txBody>
                  <a:tcPr marT="45717" marB="45717"/>
                </a:tc>
                <a:tc>
                  <a:txBody>
                    <a:bodyPr/>
                    <a:lstStyle/>
                    <a:p>
                      <a:r>
                        <a:rPr lang="en-US" sz="1600" dirty="0">
                          <a:solidFill>
                            <a:srgbClr val="002060"/>
                          </a:solidFill>
                        </a:rPr>
                        <a:t>3 4 2 * 1 5 - / + </a:t>
                      </a:r>
                      <a:endParaRPr lang="en-US" sz="1600" b="1" dirty="0">
                        <a:solidFill>
                          <a:srgbClr val="002060"/>
                        </a:solidFill>
                      </a:endParaRPr>
                    </a:p>
                  </a:txBody>
                  <a:tcPr marT="45717" marB="45717"/>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9946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096ED-0C7A-4A5B-8C2D-1AE15FCB9423}"/>
              </a:ext>
            </a:extLst>
          </p:cNvPr>
          <p:cNvSpPr>
            <a:spLocks noGrp="1"/>
          </p:cNvSpPr>
          <p:nvPr>
            <p:ph type="title"/>
          </p:nvPr>
        </p:nvSpPr>
        <p:spPr/>
        <p:txBody>
          <a:bodyPr/>
          <a:lstStyle/>
          <a:p>
            <a:r>
              <a:rPr lang="en-US" altLang="en-US"/>
              <a:t>Chuyển 3+4*2/(1-5) sang dạng hậu tố</a:t>
            </a:r>
            <a:endParaRPr lang="en-US"/>
          </a:p>
        </p:txBody>
      </p:sp>
      <p:sp>
        <p:nvSpPr>
          <p:cNvPr id="3" name="Content Placeholder 2">
            <a:extLst>
              <a:ext uri="{FF2B5EF4-FFF2-40B4-BE49-F238E27FC236}">
                <a16:creationId xmlns:a16="http://schemas.microsoft.com/office/drawing/2014/main" id="{355555F6-7735-4BAD-885E-26F986938E14}"/>
              </a:ext>
            </a:extLst>
          </p:cNvPr>
          <p:cNvSpPr>
            <a:spLocks noGrp="1"/>
          </p:cNvSpPr>
          <p:nvPr>
            <p:ph idx="1"/>
          </p:nvPr>
        </p:nvSpPr>
        <p:spPr>
          <a:xfrm>
            <a:off x="1219201" y="1600200"/>
            <a:ext cx="5054278" cy="4572000"/>
          </a:xfrm>
        </p:spPr>
        <p:txBody>
          <a:bodyPr>
            <a:normAutofit fontScale="70000" lnSpcReduction="20000"/>
          </a:bodyPr>
          <a:lstStyle/>
          <a:p>
            <a:r>
              <a:rPr lang="en-US" altLang="en-US"/>
              <a:t>Đ</a:t>
            </a:r>
            <a:r>
              <a:rPr lang="vi-VN"/>
              <a:t>ọc từng token trong biểu thức </a:t>
            </a:r>
            <a:r>
              <a:rPr lang="en-US"/>
              <a:t>trung tố</a:t>
            </a:r>
            <a:r>
              <a:rPr lang="vi-VN"/>
              <a:t> từ trái qua phải:</a:t>
            </a:r>
            <a:endParaRPr lang="vi-VN" altLang="en-US"/>
          </a:p>
          <a:p>
            <a:pPr lvl="1"/>
            <a:r>
              <a:rPr lang="vi-VN" altLang="en-US"/>
              <a:t>Nếu gặp toán hạng</a:t>
            </a:r>
            <a:r>
              <a:rPr lang="en-US" altLang="en-US"/>
              <a:t> thì </a:t>
            </a:r>
            <a:r>
              <a:rPr lang="vi-VN" altLang="en-US"/>
              <a:t>ghi nó vào chuỗi kết quả</a:t>
            </a:r>
            <a:r>
              <a:rPr lang="en-US" altLang="en-US"/>
              <a:t>.</a:t>
            </a:r>
          </a:p>
          <a:p>
            <a:pPr lvl="1"/>
            <a:r>
              <a:rPr lang="vi-VN" altLang="en-US"/>
              <a:t>Nếu gặp dấu mở ngoặc</a:t>
            </a:r>
            <a:r>
              <a:rPr lang="en-US" altLang="en-US"/>
              <a:t> “(“ thì để </a:t>
            </a:r>
            <a:r>
              <a:rPr lang="vi-VN" altLang="en-US"/>
              <a:t>nó vào stack.</a:t>
            </a:r>
          </a:p>
          <a:p>
            <a:pPr lvl="1"/>
            <a:r>
              <a:rPr lang="vi-VN" altLang="en-US"/>
              <a:t>Nếu gặp một toán tử </a:t>
            </a:r>
            <a:r>
              <a:rPr lang="en-US" altLang="en-US"/>
              <a:t>“+-*/” (</a:t>
            </a:r>
            <a:r>
              <a:rPr lang="vi-VN" altLang="en-US"/>
              <a:t>gọi là o</a:t>
            </a:r>
            <a:r>
              <a:rPr lang="vi-VN" altLang="en-US" baseline="-25000"/>
              <a:t>1</a:t>
            </a:r>
            <a:r>
              <a:rPr lang="vi-VN" altLang="en-US"/>
              <a:t>), thực hiện </a:t>
            </a:r>
            <a:r>
              <a:rPr lang="en-US" altLang="en-US"/>
              <a:t>2</a:t>
            </a:r>
            <a:r>
              <a:rPr lang="vi-VN" altLang="en-US"/>
              <a:t> bước sau:</a:t>
            </a:r>
          </a:p>
          <a:p>
            <a:pPr lvl="2"/>
            <a:r>
              <a:rPr lang="en-US" altLang="en-US"/>
              <a:t>Nếu có</a:t>
            </a:r>
            <a:r>
              <a:rPr lang="vi-VN" altLang="en-US"/>
              <a:t> toán tử o</a:t>
            </a:r>
            <a:r>
              <a:rPr lang="vi-VN" altLang="en-US" baseline="-25000"/>
              <a:t>2</a:t>
            </a:r>
            <a:r>
              <a:rPr lang="vi-VN" altLang="en-US"/>
              <a:t> ở đỉnh </a:t>
            </a:r>
            <a:r>
              <a:rPr lang="en-US" altLang="en-US"/>
              <a:t>stack</a:t>
            </a:r>
            <a:r>
              <a:rPr lang="vi-VN" altLang="en-US"/>
              <a:t> </a:t>
            </a:r>
            <a:r>
              <a:rPr lang="en-US" altLang="en-US"/>
              <a:t>&amp;</a:t>
            </a:r>
            <a:r>
              <a:rPr lang="vi-VN" altLang="en-US"/>
              <a:t> độ ưu tiên của o</a:t>
            </a:r>
            <a:r>
              <a:rPr lang="vi-VN" altLang="en-US" baseline="-25000"/>
              <a:t>1</a:t>
            </a:r>
            <a:r>
              <a:rPr lang="vi-VN" altLang="en-US"/>
              <a:t> ≤</a:t>
            </a:r>
            <a:r>
              <a:rPr lang="en-US" altLang="en-US"/>
              <a:t> </a:t>
            </a:r>
            <a:r>
              <a:rPr lang="vi-VN" altLang="en-US"/>
              <a:t>o</a:t>
            </a:r>
            <a:r>
              <a:rPr lang="vi-VN" altLang="en-US" baseline="-25000"/>
              <a:t>2</a:t>
            </a:r>
            <a:r>
              <a:rPr lang="vi-VN" altLang="en-US"/>
              <a:t> thì lấy o</a:t>
            </a:r>
            <a:r>
              <a:rPr lang="vi-VN" altLang="en-US" baseline="-25000"/>
              <a:t>2</a:t>
            </a:r>
            <a:r>
              <a:rPr lang="vi-VN" altLang="en-US"/>
              <a:t> ra khỏi </a:t>
            </a:r>
            <a:r>
              <a:rPr lang="en-US" altLang="en-US"/>
              <a:t>stack</a:t>
            </a:r>
            <a:r>
              <a:rPr lang="vi-VN" altLang="en-US"/>
              <a:t> và ghi vào kết quả.</a:t>
            </a:r>
          </a:p>
          <a:p>
            <a:pPr lvl="2"/>
            <a:r>
              <a:rPr lang="en-US" altLang="en-US"/>
              <a:t>Để</a:t>
            </a:r>
            <a:r>
              <a:rPr lang="vi-VN" altLang="en-US"/>
              <a:t> o</a:t>
            </a:r>
            <a:r>
              <a:rPr lang="vi-VN" altLang="en-US" baseline="-25000"/>
              <a:t>1</a:t>
            </a:r>
            <a:r>
              <a:rPr lang="vi-VN" altLang="en-US"/>
              <a:t> vào </a:t>
            </a:r>
            <a:r>
              <a:rPr lang="en-US" altLang="en-US"/>
              <a:t>stack</a:t>
            </a:r>
          </a:p>
          <a:p>
            <a:pPr lvl="1"/>
            <a:r>
              <a:rPr lang="vi-VN" altLang="en-US"/>
              <a:t>Nếu gặp dấu đóng ngoặc</a:t>
            </a:r>
            <a:r>
              <a:rPr lang="en-US" altLang="en-US"/>
              <a:t> “)”</a:t>
            </a:r>
            <a:r>
              <a:rPr lang="vi-VN" altLang="en-US"/>
              <a:t> thì lấy các toán tử trong </a:t>
            </a:r>
            <a:r>
              <a:rPr lang="en-US" altLang="en-US"/>
              <a:t>stack </a:t>
            </a:r>
            <a:r>
              <a:rPr lang="vi-VN" altLang="en-US"/>
              <a:t>và ghi vào kết quả cho đến khi lấy được dấu mở ngoặc</a:t>
            </a:r>
            <a:r>
              <a:rPr lang="en-US" altLang="en-US"/>
              <a:t> “(“</a:t>
            </a:r>
            <a:r>
              <a:rPr lang="vi-VN" altLang="en-US"/>
              <a:t> ra khỏi </a:t>
            </a:r>
            <a:r>
              <a:rPr lang="en-US" altLang="en-US"/>
              <a:t>stack</a:t>
            </a:r>
            <a:r>
              <a:rPr lang="vi-VN" altLang="en-US"/>
              <a:t>.</a:t>
            </a:r>
          </a:p>
          <a:p>
            <a:pPr lvl="1"/>
            <a:r>
              <a:rPr lang="vi-VN" altLang="en-US"/>
              <a:t>Khi đã </a:t>
            </a:r>
            <a:r>
              <a:rPr lang="en-US" altLang="en-US"/>
              <a:t>duyệt hết </a:t>
            </a:r>
            <a:r>
              <a:rPr lang="vi-VN" altLang="en-US"/>
              <a:t>biểu thức trung tố, lần lượt lấy tất cả </a:t>
            </a:r>
            <a:r>
              <a:rPr lang="en-US" altLang="en-US"/>
              <a:t>toán tử trong stack </a:t>
            </a:r>
            <a:r>
              <a:rPr lang="vi-VN" altLang="en-US"/>
              <a:t>ra và ghi vào chuỗi kết quả.</a:t>
            </a:r>
          </a:p>
        </p:txBody>
      </p:sp>
      <p:sp>
        <p:nvSpPr>
          <p:cNvPr id="4" name="Footer Placeholder 3">
            <a:extLst>
              <a:ext uri="{FF2B5EF4-FFF2-40B4-BE49-F238E27FC236}">
                <a16:creationId xmlns:a16="http://schemas.microsoft.com/office/drawing/2014/main" id="{690CEBBE-107D-430E-A3B1-694A647A774F}"/>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E24346C4-E9F9-4CEF-8EB3-8B5AA8B47E95}"/>
              </a:ext>
            </a:extLst>
          </p:cNvPr>
          <p:cNvSpPr>
            <a:spLocks noGrp="1"/>
          </p:cNvSpPr>
          <p:nvPr>
            <p:ph type="dt" sz="half" idx="10"/>
          </p:nvPr>
        </p:nvSpPr>
        <p:spPr/>
        <p:txBody>
          <a:bodyPr/>
          <a:lstStyle/>
          <a:p>
            <a:fld id="{A31C3DFC-FA8D-4C71-A105-3FFE54ADD2D5}" type="datetime1">
              <a:rPr lang="en-US" smtClean="0"/>
              <a:pPr/>
              <a:t>5/29/2021</a:t>
            </a:fld>
            <a:endParaRPr lang="en-US"/>
          </a:p>
        </p:txBody>
      </p:sp>
      <p:sp>
        <p:nvSpPr>
          <p:cNvPr id="6" name="Slide Number Placeholder 5">
            <a:extLst>
              <a:ext uri="{FF2B5EF4-FFF2-40B4-BE49-F238E27FC236}">
                <a16:creationId xmlns:a16="http://schemas.microsoft.com/office/drawing/2014/main" id="{AFD3AACF-525C-4918-80C7-E5730E03DCAC}"/>
              </a:ext>
            </a:extLst>
          </p:cNvPr>
          <p:cNvSpPr>
            <a:spLocks noGrp="1"/>
          </p:cNvSpPr>
          <p:nvPr>
            <p:ph type="sldNum" sz="quarter" idx="12"/>
          </p:nvPr>
        </p:nvSpPr>
        <p:spPr/>
        <p:txBody>
          <a:bodyPr/>
          <a:lstStyle/>
          <a:p>
            <a:fld id="{21782F98-F548-4E33-958E-D2A6C4BA8EFA}" type="slidenum">
              <a:rPr lang="en-US" smtClean="0"/>
              <a:pPr/>
              <a:t>28</a:t>
            </a:fld>
            <a:endParaRPr lang="en-US"/>
          </a:p>
        </p:txBody>
      </p:sp>
      <p:graphicFrame>
        <p:nvGraphicFramePr>
          <p:cNvPr id="12" name="Content Placeholder 5">
            <a:extLst>
              <a:ext uri="{FF2B5EF4-FFF2-40B4-BE49-F238E27FC236}">
                <a16:creationId xmlns:a16="http://schemas.microsoft.com/office/drawing/2014/main" id="{AB122B05-005E-4B28-AA9B-7D8B88C8694C}"/>
              </a:ext>
            </a:extLst>
          </p:cNvPr>
          <p:cNvGraphicFramePr>
            <a:graphicFrameLocks/>
          </p:cNvGraphicFramePr>
          <p:nvPr>
            <p:extLst>
              <p:ext uri="{D42A27DB-BD31-4B8C-83A1-F6EECF244321}">
                <p14:modId xmlns:p14="http://schemas.microsoft.com/office/powerpoint/2010/main" val="1529585965"/>
              </p:ext>
            </p:extLst>
          </p:nvPr>
        </p:nvGraphicFramePr>
        <p:xfrm>
          <a:off x="6273479" y="1631958"/>
          <a:ext cx="5613719" cy="4649880"/>
        </p:xfrm>
        <a:graphic>
          <a:graphicData uri="http://schemas.openxmlformats.org/drawingml/2006/table">
            <a:tbl>
              <a:tblPr firstRow="1" bandRow="1">
                <a:tableStyleId>{9DCAF9ED-07DC-4A11-8D7F-57B35C25682E}</a:tableStyleId>
              </a:tblPr>
              <a:tblGrid>
                <a:gridCol w="671331">
                  <a:extLst>
                    <a:ext uri="{9D8B030D-6E8A-4147-A177-3AD203B41FA5}">
                      <a16:colId xmlns:a16="http://schemas.microsoft.com/office/drawing/2014/main" val="20000"/>
                    </a:ext>
                  </a:extLst>
                </a:gridCol>
                <a:gridCol w="3106399">
                  <a:extLst>
                    <a:ext uri="{9D8B030D-6E8A-4147-A177-3AD203B41FA5}">
                      <a16:colId xmlns:a16="http://schemas.microsoft.com/office/drawing/2014/main" val="20001"/>
                    </a:ext>
                  </a:extLst>
                </a:gridCol>
                <a:gridCol w="724821">
                  <a:extLst>
                    <a:ext uri="{9D8B030D-6E8A-4147-A177-3AD203B41FA5}">
                      <a16:colId xmlns:a16="http://schemas.microsoft.com/office/drawing/2014/main" val="20002"/>
                    </a:ext>
                  </a:extLst>
                </a:gridCol>
                <a:gridCol w="1111168">
                  <a:extLst>
                    <a:ext uri="{9D8B030D-6E8A-4147-A177-3AD203B41FA5}">
                      <a16:colId xmlns:a16="http://schemas.microsoft.com/office/drawing/2014/main" val="20003"/>
                    </a:ext>
                  </a:extLst>
                </a:gridCol>
              </a:tblGrid>
              <a:tr h="426504">
                <a:tc>
                  <a:txBody>
                    <a:bodyPr/>
                    <a:lstStyle/>
                    <a:p>
                      <a:pPr algn="l"/>
                      <a:r>
                        <a:rPr lang="en-US" sz="1200" dirty="0" err="1">
                          <a:solidFill>
                            <a:srgbClr val="002060"/>
                          </a:solidFill>
                        </a:rPr>
                        <a:t>Duyệt</a:t>
                      </a:r>
                      <a:endParaRPr lang="en-US" sz="1200" dirty="0">
                        <a:solidFill>
                          <a:srgbClr val="002060"/>
                        </a:solidFill>
                      </a:endParaRPr>
                    </a:p>
                  </a:txBody>
                  <a:tcPr marT="45717" marB="45717"/>
                </a:tc>
                <a:tc>
                  <a:txBody>
                    <a:bodyPr/>
                    <a:lstStyle/>
                    <a:p>
                      <a:pPr algn="l"/>
                      <a:r>
                        <a:rPr lang="en-US" sz="1200" dirty="0">
                          <a:solidFill>
                            <a:srgbClr val="002060"/>
                          </a:solidFill>
                        </a:rPr>
                        <a:t>Thao </a:t>
                      </a:r>
                      <a:r>
                        <a:rPr lang="en-US" sz="1200" dirty="0" err="1">
                          <a:solidFill>
                            <a:srgbClr val="002060"/>
                          </a:solidFill>
                        </a:rPr>
                        <a:t>tác</a:t>
                      </a:r>
                      <a:r>
                        <a:rPr lang="en-US" sz="1200" baseline="0" dirty="0">
                          <a:solidFill>
                            <a:srgbClr val="002060"/>
                          </a:solidFill>
                        </a:rPr>
                        <a:t> </a:t>
                      </a:r>
                      <a:endParaRPr lang="en-US" sz="1200" dirty="0">
                        <a:solidFill>
                          <a:srgbClr val="002060"/>
                        </a:solidFill>
                      </a:endParaRPr>
                    </a:p>
                  </a:txBody>
                  <a:tcPr marT="45717" marB="45717"/>
                </a:tc>
                <a:tc>
                  <a:txBody>
                    <a:bodyPr/>
                    <a:lstStyle/>
                    <a:p>
                      <a:pPr algn="l"/>
                      <a:r>
                        <a:rPr lang="en-US" sz="1200" dirty="0">
                          <a:solidFill>
                            <a:srgbClr val="002060"/>
                          </a:solidFill>
                        </a:rPr>
                        <a:t>Stack </a:t>
                      </a:r>
                    </a:p>
                  </a:txBody>
                  <a:tcPr marT="45717" marB="45717"/>
                </a:tc>
                <a:tc>
                  <a:txBody>
                    <a:bodyPr/>
                    <a:lstStyle/>
                    <a:p>
                      <a:pPr algn="l"/>
                      <a:r>
                        <a:rPr lang="en-US" sz="1200" dirty="0" err="1">
                          <a:solidFill>
                            <a:srgbClr val="002060"/>
                          </a:solidFill>
                        </a:rPr>
                        <a:t>Kết</a:t>
                      </a:r>
                      <a:r>
                        <a:rPr lang="en-US" sz="1200" baseline="0" dirty="0">
                          <a:solidFill>
                            <a:srgbClr val="002060"/>
                          </a:solidFill>
                        </a:rPr>
                        <a:t> </a:t>
                      </a:r>
                      <a:r>
                        <a:rPr lang="en-US" sz="1200" baseline="0" dirty="0" err="1">
                          <a:solidFill>
                            <a:srgbClr val="002060"/>
                          </a:solidFill>
                        </a:rPr>
                        <a:t>quả</a:t>
                      </a:r>
                      <a:endParaRPr lang="en-US" sz="1200" dirty="0">
                        <a:solidFill>
                          <a:srgbClr val="002060"/>
                        </a:solidFill>
                      </a:endParaRPr>
                    </a:p>
                  </a:txBody>
                  <a:tcPr marT="45717" marB="45717"/>
                </a:tc>
                <a:extLst>
                  <a:ext uri="{0D108BD9-81ED-4DB2-BD59-A6C34878D82A}">
                    <a16:rowId xmlns:a16="http://schemas.microsoft.com/office/drawing/2014/main" val="10000"/>
                  </a:ext>
                </a:extLst>
              </a:tr>
              <a:tr h="316866">
                <a:tc>
                  <a:txBody>
                    <a:bodyPr/>
                    <a:lstStyle/>
                    <a:p>
                      <a:r>
                        <a:rPr lang="en-US" sz="1200" dirty="0">
                          <a:solidFill>
                            <a:srgbClr val="002060"/>
                          </a:solidFill>
                        </a:rPr>
                        <a:t>3</a:t>
                      </a:r>
                      <a:endParaRPr lang="en-US" sz="1200" b="1" dirty="0">
                        <a:solidFill>
                          <a:srgbClr val="002060"/>
                        </a:solidFill>
                      </a:endParaRPr>
                    </a:p>
                  </a:txBody>
                  <a:tcPr marT="45717" marB="45717"/>
                </a:tc>
                <a:tc>
                  <a:txBody>
                    <a:bodyPr/>
                    <a:lstStyle/>
                    <a:p>
                      <a:r>
                        <a:rPr lang="en-US" sz="1200" dirty="0" err="1">
                          <a:solidFill>
                            <a:srgbClr val="002060"/>
                          </a:solidFill>
                        </a:rPr>
                        <a:t>Ghi</a:t>
                      </a:r>
                      <a:r>
                        <a:rPr lang="en-US" sz="1200" dirty="0">
                          <a:solidFill>
                            <a:srgbClr val="002060"/>
                          </a:solidFill>
                        </a:rPr>
                        <a:t> 3 </a:t>
                      </a:r>
                      <a:r>
                        <a:rPr lang="en-US" sz="1200" dirty="0" err="1">
                          <a:solidFill>
                            <a:srgbClr val="002060"/>
                          </a:solidFill>
                        </a:rPr>
                        <a:t>vào</a:t>
                      </a:r>
                      <a:r>
                        <a:rPr lang="en-US" sz="1200" baseline="0" dirty="0">
                          <a:solidFill>
                            <a:srgbClr val="002060"/>
                          </a:solidFill>
                        </a:rPr>
                        <a:t> </a:t>
                      </a:r>
                      <a:r>
                        <a:rPr lang="en-US" sz="1200" baseline="0" dirty="0" err="1">
                          <a:solidFill>
                            <a:srgbClr val="002060"/>
                          </a:solidFill>
                        </a:rPr>
                        <a:t>kết</a:t>
                      </a:r>
                      <a:r>
                        <a:rPr lang="en-US" sz="1200" baseline="0" dirty="0">
                          <a:solidFill>
                            <a:srgbClr val="002060"/>
                          </a:solidFill>
                        </a:rPr>
                        <a:t> </a:t>
                      </a:r>
                      <a:r>
                        <a:rPr lang="en-US" sz="1200" baseline="0" dirty="0" err="1">
                          <a:solidFill>
                            <a:srgbClr val="002060"/>
                          </a:solidFill>
                        </a:rPr>
                        <a:t>quả</a:t>
                      </a:r>
                      <a:endParaRPr lang="en-US" sz="1200" dirty="0">
                        <a:solidFill>
                          <a:srgbClr val="002060"/>
                        </a:solidFill>
                      </a:endParaRPr>
                    </a:p>
                  </a:txBody>
                  <a:tcPr marT="45717" marB="45717"/>
                </a:tc>
                <a:tc>
                  <a:txBody>
                    <a:bodyPr/>
                    <a:lstStyle/>
                    <a:p>
                      <a:endParaRPr lang="en-US" sz="1200">
                        <a:solidFill>
                          <a:srgbClr val="002060"/>
                        </a:solidFill>
                      </a:endParaRPr>
                    </a:p>
                  </a:txBody>
                  <a:tcPr marT="45717" marB="45717"/>
                </a:tc>
                <a:tc>
                  <a:txBody>
                    <a:bodyPr/>
                    <a:lstStyle/>
                    <a:p>
                      <a:r>
                        <a:rPr lang="en-US" sz="1200" dirty="0">
                          <a:solidFill>
                            <a:srgbClr val="002060"/>
                          </a:solidFill>
                        </a:rPr>
                        <a:t>3</a:t>
                      </a:r>
                      <a:endParaRPr lang="en-US" sz="1200" b="1" dirty="0">
                        <a:solidFill>
                          <a:srgbClr val="002060"/>
                        </a:solidFill>
                      </a:endParaRPr>
                    </a:p>
                  </a:txBody>
                  <a:tcPr marT="45717" marB="45717"/>
                </a:tc>
                <a:extLst>
                  <a:ext uri="{0D108BD9-81ED-4DB2-BD59-A6C34878D82A}">
                    <a16:rowId xmlns:a16="http://schemas.microsoft.com/office/drawing/2014/main" val="10001"/>
                  </a:ext>
                </a:extLst>
              </a:tr>
              <a:tr h="316866">
                <a:tc>
                  <a:txBody>
                    <a:bodyPr/>
                    <a:lstStyle/>
                    <a:p>
                      <a:r>
                        <a:rPr lang="en-US" sz="1200" dirty="0">
                          <a:solidFill>
                            <a:srgbClr val="002060"/>
                          </a:solidFill>
                        </a:rPr>
                        <a:t>+</a:t>
                      </a:r>
                      <a:endParaRPr lang="en-US" sz="1200" b="1" dirty="0">
                        <a:solidFill>
                          <a:srgbClr val="002060"/>
                        </a:solidFill>
                      </a:endParaRPr>
                    </a:p>
                  </a:txBody>
                  <a:tcPr marT="45717" marB="45717"/>
                </a:tc>
                <a:tc>
                  <a:txBody>
                    <a:bodyPr/>
                    <a:lstStyle/>
                    <a:p>
                      <a:r>
                        <a:rPr lang="en-US" sz="1200" dirty="0">
                          <a:solidFill>
                            <a:srgbClr val="002060"/>
                          </a:solidFill>
                        </a:rPr>
                        <a:t>Push</a:t>
                      </a:r>
                      <a:r>
                        <a:rPr lang="en-US" sz="1200" baseline="0" dirty="0">
                          <a:solidFill>
                            <a:srgbClr val="002060"/>
                          </a:solidFill>
                        </a:rPr>
                        <a:t> +</a:t>
                      </a:r>
                      <a:endParaRPr lang="en-US" sz="1200" dirty="0">
                        <a:solidFill>
                          <a:srgbClr val="002060"/>
                        </a:solidFill>
                      </a:endParaRPr>
                    </a:p>
                  </a:txBody>
                  <a:tcPr marT="45717" marB="45717"/>
                </a:tc>
                <a:tc>
                  <a:txBody>
                    <a:bodyPr/>
                    <a:lstStyle/>
                    <a:p>
                      <a:r>
                        <a:rPr lang="en-US" sz="1200" dirty="0">
                          <a:solidFill>
                            <a:srgbClr val="002060"/>
                          </a:solidFill>
                        </a:rPr>
                        <a:t>+</a:t>
                      </a:r>
                      <a:endParaRPr lang="en-US" sz="1200" b="1" dirty="0">
                        <a:solidFill>
                          <a:srgbClr val="002060"/>
                        </a:solidFill>
                      </a:endParaRPr>
                    </a:p>
                  </a:txBody>
                  <a:tcPr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3</a:t>
                      </a:r>
                      <a:endParaRPr lang="en-US" sz="1200" b="1" dirty="0">
                        <a:solidFill>
                          <a:srgbClr val="002060"/>
                        </a:solidFill>
                      </a:endParaRPr>
                    </a:p>
                  </a:txBody>
                  <a:tcPr marT="45717" marB="45717"/>
                </a:tc>
                <a:extLst>
                  <a:ext uri="{0D108BD9-81ED-4DB2-BD59-A6C34878D82A}">
                    <a16:rowId xmlns:a16="http://schemas.microsoft.com/office/drawing/2014/main" val="10002"/>
                  </a:ext>
                </a:extLst>
              </a:tr>
              <a:tr h="316866">
                <a:tc>
                  <a:txBody>
                    <a:bodyPr/>
                    <a:lstStyle/>
                    <a:p>
                      <a:r>
                        <a:rPr lang="en-US" sz="1200" dirty="0">
                          <a:solidFill>
                            <a:srgbClr val="002060"/>
                          </a:solidFill>
                        </a:rPr>
                        <a:t>4</a:t>
                      </a:r>
                      <a:endParaRPr lang="en-US" sz="1200" b="1" dirty="0">
                        <a:solidFill>
                          <a:srgbClr val="002060"/>
                        </a:solidFill>
                      </a:endParaRPr>
                    </a:p>
                  </a:txBody>
                  <a:tcPr marT="45717" marB="45717"/>
                </a:tc>
                <a:tc>
                  <a:txBody>
                    <a:bodyPr/>
                    <a:lstStyle/>
                    <a:p>
                      <a:r>
                        <a:rPr lang="en-US" sz="1200" dirty="0" err="1">
                          <a:solidFill>
                            <a:srgbClr val="002060"/>
                          </a:solidFill>
                        </a:rPr>
                        <a:t>Ghi</a:t>
                      </a:r>
                      <a:r>
                        <a:rPr lang="en-US" sz="1200" dirty="0">
                          <a:solidFill>
                            <a:srgbClr val="002060"/>
                          </a:solidFill>
                        </a:rPr>
                        <a:t> 4 </a:t>
                      </a:r>
                      <a:r>
                        <a:rPr lang="en-US" sz="1200" dirty="0" err="1">
                          <a:solidFill>
                            <a:srgbClr val="002060"/>
                          </a:solidFill>
                        </a:rPr>
                        <a:t>vào</a:t>
                      </a:r>
                      <a:r>
                        <a:rPr lang="en-US" sz="1200" baseline="0" dirty="0">
                          <a:solidFill>
                            <a:srgbClr val="002060"/>
                          </a:solidFill>
                        </a:rPr>
                        <a:t> </a:t>
                      </a:r>
                      <a:r>
                        <a:rPr lang="en-US" sz="1200" baseline="0" dirty="0" err="1">
                          <a:solidFill>
                            <a:srgbClr val="002060"/>
                          </a:solidFill>
                        </a:rPr>
                        <a:t>kết</a:t>
                      </a:r>
                      <a:r>
                        <a:rPr lang="en-US" sz="1200" baseline="0" dirty="0">
                          <a:solidFill>
                            <a:srgbClr val="002060"/>
                          </a:solidFill>
                        </a:rPr>
                        <a:t> </a:t>
                      </a:r>
                      <a:r>
                        <a:rPr lang="en-US" sz="1200" baseline="0" dirty="0" err="1">
                          <a:solidFill>
                            <a:srgbClr val="002060"/>
                          </a:solidFill>
                        </a:rPr>
                        <a:t>quả</a:t>
                      </a:r>
                      <a:endParaRPr lang="en-US" sz="1200" dirty="0">
                        <a:solidFill>
                          <a:srgbClr val="002060"/>
                        </a:solidFill>
                      </a:endParaRPr>
                    </a:p>
                  </a:txBody>
                  <a:tcPr marT="45717" marB="45717"/>
                </a:tc>
                <a:tc>
                  <a:txBody>
                    <a:bodyPr/>
                    <a:lstStyle/>
                    <a:p>
                      <a:r>
                        <a:rPr lang="en-US" sz="1200" dirty="0">
                          <a:solidFill>
                            <a:srgbClr val="002060"/>
                          </a:solidFill>
                        </a:rPr>
                        <a:t>+</a:t>
                      </a:r>
                      <a:endParaRPr lang="en-US" sz="1200" b="1" dirty="0">
                        <a:solidFill>
                          <a:srgbClr val="002060"/>
                        </a:solidFill>
                      </a:endParaRPr>
                    </a:p>
                  </a:txBody>
                  <a:tcPr marT="45717" marB="45717"/>
                </a:tc>
                <a:tc>
                  <a:txBody>
                    <a:bodyPr/>
                    <a:lstStyle/>
                    <a:p>
                      <a:r>
                        <a:rPr lang="en-US" sz="1200" dirty="0">
                          <a:solidFill>
                            <a:srgbClr val="002060"/>
                          </a:solidFill>
                        </a:rPr>
                        <a:t>3 4</a:t>
                      </a:r>
                      <a:endParaRPr lang="en-US" sz="1200" b="1" dirty="0">
                        <a:solidFill>
                          <a:srgbClr val="002060"/>
                        </a:solidFill>
                      </a:endParaRPr>
                    </a:p>
                  </a:txBody>
                  <a:tcPr marT="45717" marB="45717"/>
                </a:tc>
                <a:extLst>
                  <a:ext uri="{0D108BD9-81ED-4DB2-BD59-A6C34878D82A}">
                    <a16:rowId xmlns:a16="http://schemas.microsoft.com/office/drawing/2014/main" val="10003"/>
                  </a:ext>
                </a:extLst>
              </a:tr>
              <a:tr h="316866">
                <a:tc>
                  <a:txBody>
                    <a:bodyPr/>
                    <a:lstStyle/>
                    <a:p>
                      <a:r>
                        <a:rPr lang="en-US" sz="1200" dirty="0">
                          <a:solidFill>
                            <a:srgbClr val="002060"/>
                          </a:solidFill>
                        </a:rPr>
                        <a:t>*</a:t>
                      </a:r>
                      <a:endParaRPr lang="en-US" sz="1200" b="1" dirty="0">
                        <a:solidFill>
                          <a:srgbClr val="002060"/>
                        </a:solidFill>
                      </a:endParaRPr>
                    </a:p>
                  </a:txBody>
                  <a:tcPr marT="45717" marB="45717"/>
                </a:tc>
                <a:tc>
                  <a:txBody>
                    <a:bodyPr/>
                    <a:lstStyle/>
                    <a:p>
                      <a:r>
                        <a:rPr lang="en-US" sz="1200" dirty="0">
                          <a:solidFill>
                            <a:srgbClr val="002060"/>
                          </a:solidFill>
                        </a:rPr>
                        <a:t>Push</a:t>
                      </a:r>
                      <a:r>
                        <a:rPr lang="en-US" sz="1200" baseline="0" dirty="0">
                          <a:solidFill>
                            <a:srgbClr val="002060"/>
                          </a:solidFill>
                        </a:rPr>
                        <a:t> *</a:t>
                      </a:r>
                      <a:endParaRPr lang="en-US" sz="1200" dirty="0">
                        <a:solidFill>
                          <a:srgbClr val="002060"/>
                        </a:solidFill>
                      </a:endParaRPr>
                    </a:p>
                  </a:txBody>
                  <a:tcPr marT="45717" marB="45717"/>
                </a:tc>
                <a:tc>
                  <a:txBody>
                    <a:bodyPr/>
                    <a:lstStyle/>
                    <a:p>
                      <a:r>
                        <a:rPr lang="en-US" sz="1200" dirty="0">
                          <a:solidFill>
                            <a:srgbClr val="002060"/>
                          </a:solidFill>
                        </a:rPr>
                        <a:t>+ *</a:t>
                      </a:r>
                      <a:endParaRPr lang="en-US" sz="1200" b="1" dirty="0">
                        <a:solidFill>
                          <a:srgbClr val="002060"/>
                        </a:solidFill>
                      </a:endParaRPr>
                    </a:p>
                  </a:txBody>
                  <a:tcPr marT="45717" marB="45717"/>
                </a:tc>
                <a:tc>
                  <a:txBody>
                    <a:bodyPr/>
                    <a:lstStyle/>
                    <a:p>
                      <a:r>
                        <a:rPr lang="en-US" sz="1200" dirty="0">
                          <a:solidFill>
                            <a:srgbClr val="002060"/>
                          </a:solidFill>
                        </a:rPr>
                        <a:t>3 4</a:t>
                      </a:r>
                      <a:endParaRPr lang="en-US" sz="1200" b="1" dirty="0">
                        <a:solidFill>
                          <a:srgbClr val="002060"/>
                        </a:solidFill>
                      </a:endParaRPr>
                    </a:p>
                  </a:txBody>
                  <a:tcPr marT="45717" marB="45717"/>
                </a:tc>
                <a:extLst>
                  <a:ext uri="{0D108BD9-81ED-4DB2-BD59-A6C34878D82A}">
                    <a16:rowId xmlns:a16="http://schemas.microsoft.com/office/drawing/2014/main" val="10004"/>
                  </a:ext>
                </a:extLst>
              </a:tr>
              <a:tr h="316866">
                <a:tc>
                  <a:txBody>
                    <a:bodyPr/>
                    <a:lstStyle/>
                    <a:p>
                      <a:r>
                        <a:rPr lang="en-US" sz="1200" dirty="0">
                          <a:solidFill>
                            <a:srgbClr val="002060"/>
                          </a:solidFill>
                        </a:rPr>
                        <a:t>2</a:t>
                      </a:r>
                      <a:endParaRPr lang="en-US" sz="1200" b="1" dirty="0">
                        <a:solidFill>
                          <a:srgbClr val="002060"/>
                        </a:solidFill>
                      </a:endParaRPr>
                    </a:p>
                  </a:txBody>
                  <a:tcPr marT="45717" marB="45717"/>
                </a:tc>
                <a:tc>
                  <a:txBody>
                    <a:bodyPr/>
                    <a:lstStyle/>
                    <a:p>
                      <a:r>
                        <a:rPr lang="en-US" sz="1200" dirty="0" err="1">
                          <a:solidFill>
                            <a:srgbClr val="002060"/>
                          </a:solidFill>
                        </a:rPr>
                        <a:t>Ghi</a:t>
                      </a:r>
                      <a:r>
                        <a:rPr lang="en-US" sz="1200" dirty="0">
                          <a:solidFill>
                            <a:srgbClr val="002060"/>
                          </a:solidFill>
                        </a:rPr>
                        <a:t> 2 </a:t>
                      </a:r>
                      <a:r>
                        <a:rPr lang="en-US" sz="1200" dirty="0" err="1">
                          <a:solidFill>
                            <a:srgbClr val="002060"/>
                          </a:solidFill>
                        </a:rPr>
                        <a:t>vào</a:t>
                      </a:r>
                      <a:r>
                        <a:rPr lang="en-US" sz="1200" baseline="0" dirty="0">
                          <a:solidFill>
                            <a:srgbClr val="002060"/>
                          </a:solidFill>
                        </a:rPr>
                        <a:t> </a:t>
                      </a:r>
                      <a:r>
                        <a:rPr lang="en-US" sz="1200" baseline="0" dirty="0" err="1">
                          <a:solidFill>
                            <a:srgbClr val="002060"/>
                          </a:solidFill>
                        </a:rPr>
                        <a:t>kết</a:t>
                      </a:r>
                      <a:r>
                        <a:rPr lang="en-US" sz="1200" baseline="0" dirty="0">
                          <a:solidFill>
                            <a:srgbClr val="002060"/>
                          </a:solidFill>
                        </a:rPr>
                        <a:t> </a:t>
                      </a:r>
                      <a:r>
                        <a:rPr lang="en-US" sz="1200" baseline="0" dirty="0" err="1">
                          <a:solidFill>
                            <a:srgbClr val="002060"/>
                          </a:solidFill>
                        </a:rPr>
                        <a:t>quả</a:t>
                      </a:r>
                      <a:endParaRPr lang="en-US" sz="1200" dirty="0">
                        <a:solidFill>
                          <a:srgbClr val="002060"/>
                        </a:solidFill>
                      </a:endParaRPr>
                    </a:p>
                  </a:txBody>
                  <a:tcPr marT="45717" marB="45717"/>
                </a:tc>
                <a:tc>
                  <a:txBody>
                    <a:bodyPr/>
                    <a:lstStyle/>
                    <a:p>
                      <a:r>
                        <a:rPr lang="en-US" sz="1200" dirty="0">
                          <a:solidFill>
                            <a:srgbClr val="002060"/>
                          </a:solidFill>
                        </a:rPr>
                        <a:t>+ *</a:t>
                      </a:r>
                      <a:endParaRPr lang="en-US" sz="1200" b="1" dirty="0">
                        <a:solidFill>
                          <a:srgbClr val="002060"/>
                        </a:solidFill>
                      </a:endParaRPr>
                    </a:p>
                  </a:txBody>
                  <a:tcPr marT="45717" marB="45717"/>
                </a:tc>
                <a:tc>
                  <a:txBody>
                    <a:bodyPr/>
                    <a:lstStyle/>
                    <a:p>
                      <a:r>
                        <a:rPr lang="en-US" sz="1200" dirty="0">
                          <a:solidFill>
                            <a:srgbClr val="002060"/>
                          </a:solidFill>
                        </a:rPr>
                        <a:t>3 4 2</a:t>
                      </a:r>
                      <a:endParaRPr lang="en-US" sz="1200" b="1" dirty="0">
                        <a:solidFill>
                          <a:srgbClr val="002060"/>
                        </a:solidFill>
                      </a:endParaRPr>
                    </a:p>
                  </a:txBody>
                  <a:tcPr marT="45717" marB="45717"/>
                </a:tc>
                <a:extLst>
                  <a:ext uri="{0D108BD9-81ED-4DB2-BD59-A6C34878D82A}">
                    <a16:rowId xmlns:a16="http://schemas.microsoft.com/office/drawing/2014/main" val="10005"/>
                  </a:ext>
                </a:extLst>
              </a:tr>
              <a:tr h="316866">
                <a:tc>
                  <a:txBody>
                    <a:bodyPr/>
                    <a:lstStyle/>
                    <a:p>
                      <a:r>
                        <a:rPr lang="en-US" sz="1200" dirty="0">
                          <a:solidFill>
                            <a:srgbClr val="002060"/>
                          </a:solidFill>
                        </a:rPr>
                        <a:t>/</a:t>
                      </a:r>
                      <a:endParaRPr lang="en-US" sz="1200" b="1" dirty="0">
                        <a:solidFill>
                          <a:srgbClr val="002060"/>
                        </a:solidFill>
                      </a:endParaRPr>
                    </a:p>
                  </a:txBody>
                  <a:tcPr marT="45717" marB="45717"/>
                </a:tc>
                <a:tc>
                  <a:txBody>
                    <a:bodyPr/>
                    <a:lstStyle/>
                    <a:p>
                      <a:r>
                        <a:rPr lang="en-US" sz="1200" dirty="0">
                          <a:solidFill>
                            <a:srgbClr val="002060"/>
                          </a:solidFill>
                        </a:rPr>
                        <a:t>Pop</a:t>
                      </a:r>
                      <a:r>
                        <a:rPr lang="en-US" sz="1200" baseline="0" dirty="0">
                          <a:solidFill>
                            <a:srgbClr val="002060"/>
                          </a:solidFill>
                        </a:rPr>
                        <a:t> * </a:t>
                      </a:r>
                      <a:r>
                        <a:rPr lang="en-US" sz="1200" baseline="0" dirty="0" err="1">
                          <a:solidFill>
                            <a:srgbClr val="002060"/>
                          </a:solidFill>
                        </a:rPr>
                        <a:t>ra</a:t>
                      </a:r>
                      <a:r>
                        <a:rPr lang="en-US" sz="1200" baseline="0" dirty="0">
                          <a:solidFill>
                            <a:srgbClr val="002060"/>
                          </a:solidFill>
                        </a:rPr>
                        <a:t> </a:t>
                      </a:r>
                      <a:r>
                        <a:rPr lang="en-US" sz="1200" baseline="0" err="1">
                          <a:solidFill>
                            <a:srgbClr val="002060"/>
                          </a:solidFill>
                        </a:rPr>
                        <a:t>khỏi</a:t>
                      </a:r>
                      <a:r>
                        <a:rPr lang="en-US" sz="1200" baseline="0">
                          <a:solidFill>
                            <a:srgbClr val="002060"/>
                          </a:solidFill>
                        </a:rPr>
                        <a:t> stack </a:t>
                      </a:r>
                      <a:r>
                        <a:rPr lang="en-US" sz="1200" baseline="0" dirty="0" err="1">
                          <a:solidFill>
                            <a:srgbClr val="002060"/>
                          </a:solidFill>
                        </a:rPr>
                        <a:t>và</a:t>
                      </a:r>
                      <a:r>
                        <a:rPr lang="en-US" sz="1200" baseline="0" dirty="0">
                          <a:solidFill>
                            <a:srgbClr val="002060"/>
                          </a:solidFill>
                        </a:rPr>
                        <a:t> </a:t>
                      </a:r>
                      <a:r>
                        <a:rPr lang="en-US" sz="1200" baseline="0" dirty="0" err="1">
                          <a:solidFill>
                            <a:srgbClr val="002060"/>
                          </a:solidFill>
                        </a:rPr>
                        <a:t>ghi</a:t>
                      </a:r>
                      <a:r>
                        <a:rPr lang="en-US" sz="1200" baseline="0" dirty="0">
                          <a:solidFill>
                            <a:srgbClr val="002060"/>
                          </a:solidFill>
                        </a:rPr>
                        <a:t> </a:t>
                      </a:r>
                      <a:r>
                        <a:rPr lang="en-US" sz="1200" baseline="0" dirty="0" err="1">
                          <a:solidFill>
                            <a:srgbClr val="002060"/>
                          </a:solidFill>
                        </a:rPr>
                        <a:t>vào</a:t>
                      </a:r>
                      <a:r>
                        <a:rPr lang="en-US" sz="1200" baseline="0" dirty="0">
                          <a:solidFill>
                            <a:srgbClr val="002060"/>
                          </a:solidFill>
                        </a:rPr>
                        <a:t> </a:t>
                      </a:r>
                      <a:r>
                        <a:rPr lang="en-US" sz="1200" baseline="0" dirty="0" err="1">
                          <a:solidFill>
                            <a:srgbClr val="002060"/>
                          </a:solidFill>
                        </a:rPr>
                        <a:t>kết</a:t>
                      </a:r>
                      <a:r>
                        <a:rPr lang="en-US" sz="1200" baseline="0" dirty="0">
                          <a:solidFill>
                            <a:srgbClr val="002060"/>
                          </a:solidFill>
                        </a:rPr>
                        <a:t> </a:t>
                      </a:r>
                      <a:r>
                        <a:rPr lang="en-US" sz="1200" baseline="0" dirty="0" err="1">
                          <a:solidFill>
                            <a:srgbClr val="002060"/>
                          </a:solidFill>
                        </a:rPr>
                        <a:t>quả</a:t>
                      </a:r>
                      <a:r>
                        <a:rPr lang="en-US" sz="1200" baseline="0">
                          <a:solidFill>
                            <a:srgbClr val="002060"/>
                          </a:solidFill>
                        </a:rPr>
                        <a:t>; </a:t>
                      </a:r>
                      <a:br>
                        <a:rPr lang="en-US" sz="1200" baseline="0">
                          <a:solidFill>
                            <a:srgbClr val="002060"/>
                          </a:solidFill>
                        </a:rPr>
                      </a:br>
                      <a:r>
                        <a:rPr lang="en-US" sz="1200" baseline="0">
                          <a:solidFill>
                            <a:srgbClr val="002060"/>
                          </a:solidFill>
                        </a:rPr>
                        <a:t>Push </a:t>
                      </a:r>
                      <a:r>
                        <a:rPr lang="en-US" sz="1200" baseline="0" dirty="0">
                          <a:solidFill>
                            <a:srgbClr val="002060"/>
                          </a:solidFill>
                        </a:rPr>
                        <a:t>/</a:t>
                      </a:r>
                      <a:endParaRPr lang="en-US" sz="1200" dirty="0">
                        <a:solidFill>
                          <a:srgbClr val="002060"/>
                        </a:solidFill>
                      </a:endParaRPr>
                    </a:p>
                  </a:txBody>
                  <a:tcPr marT="45717" marB="45717"/>
                </a:tc>
                <a:tc>
                  <a:txBody>
                    <a:bodyPr/>
                    <a:lstStyle/>
                    <a:p>
                      <a:r>
                        <a:rPr lang="en-US" sz="1200" dirty="0">
                          <a:solidFill>
                            <a:srgbClr val="002060"/>
                          </a:solidFill>
                        </a:rPr>
                        <a:t>+ /</a:t>
                      </a:r>
                      <a:endParaRPr lang="en-US" sz="1200" b="1" dirty="0">
                        <a:solidFill>
                          <a:srgbClr val="002060"/>
                        </a:solidFill>
                      </a:endParaRPr>
                    </a:p>
                  </a:txBody>
                  <a:tcPr marT="45717" marB="45717"/>
                </a:tc>
                <a:tc>
                  <a:txBody>
                    <a:bodyPr/>
                    <a:lstStyle/>
                    <a:p>
                      <a:r>
                        <a:rPr lang="en-US" sz="1200" dirty="0">
                          <a:solidFill>
                            <a:srgbClr val="002060"/>
                          </a:solidFill>
                        </a:rPr>
                        <a:t>3 4 2 *</a:t>
                      </a:r>
                      <a:endParaRPr lang="en-US" sz="1200" b="1" dirty="0">
                        <a:solidFill>
                          <a:srgbClr val="002060"/>
                        </a:solidFill>
                      </a:endParaRPr>
                    </a:p>
                  </a:txBody>
                  <a:tcPr marT="45717" marB="45717"/>
                </a:tc>
                <a:extLst>
                  <a:ext uri="{0D108BD9-81ED-4DB2-BD59-A6C34878D82A}">
                    <a16:rowId xmlns:a16="http://schemas.microsoft.com/office/drawing/2014/main" val="10006"/>
                  </a:ext>
                </a:extLst>
              </a:tr>
              <a:tr h="316866">
                <a:tc>
                  <a:txBody>
                    <a:bodyPr/>
                    <a:lstStyle/>
                    <a:p>
                      <a:r>
                        <a:rPr lang="en-US" sz="1200" dirty="0">
                          <a:solidFill>
                            <a:srgbClr val="002060"/>
                          </a:solidFill>
                        </a:rPr>
                        <a:t>(</a:t>
                      </a:r>
                      <a:endParaRPr lang="en-US" sz="1200" b="1" dirty="0">
                        <a:solidFill>
                          <a:srgbClr val="002060"/>
                        </a:solidFill>
                      </a:endParaRPr>
                    </a:p>
                  </a:txBody>
                  <a:tcPr marT="45717" marB="45717"/>
                </a:tc>
                <a:tc>
                  <a:txBody>
                    <a:bodyPr/>
                    <a:lstStyle/>
                    <a:p>
                      <a:r>
                        <a:rPr lang="en-US" sz="1200" dirty="0">
                          <a:solidFill>
                            <a:srgbClr val="002060"/>
                          </a:solidFill>
                        </a:rPr>
                        <a:t>Push</a:t>
                      </a:r>
                      <a:r>
                        <a:rPr lang="en-US" sz="1200" baseline="0" dirty="0">
                          <a:solidFill>
                            <a:srgbClr val="002060"/>
                          </a:solidFill>
                        </a:rPr>
                        <a:t> (</a:t>
                      </a:r>
                      <a:endParaRPr lang="en-US" sz="1200" dirty="0">
                        <a:solidFill>
                          <a:srgbClr val="002060"/>
                        </a:solidFill>
                      </a:endParaRPr>
                    </a:p>
                  </a:txBody>
                  <a:tcPr marT="45717" marB="45717"/>
                </a:tc>
                <a:tc>
                  <a:txBody>
                    <a:bodyPr/>
                    <a:lstStyle/>
                    <a:p>
                      <a:r>
                        <a:rPr lang="en-US" sz="1200" dirty="0">
                          <a:solidFill>
                            <a:srgbClr val="002060"/>
                          </a:solidFill>
                        </a:rPr>
                        <a:t>+ / (</a:t>
                      </a:r>
                      <a:endParaRPr lang="en-US" sz="1200" b="1" dirty="0">
                        <a:solidFill>
                          <a:srgbClr val="002060"/>
                        </a:solidFill>
                      </a:endParaRPr>
                    </a:p>
                  </a:txBody>
                  <a:tcPr marT="45717" marB="45717"/>
                </a:tc>
                <a:tc>
                  <a:txBody>
                    <a:bodyPr/>
                    <a:lstStyle/>
                    <a:p>
                      <a:r>
                        <a:rPr lang="en-US" sz="1200" dirty="0">
                          <a:solidFill>
                            <a:srgbClr val="002060"/>
                          </a:solidFill>
                        </a:rPr>
                        <a:t>3 4 2 *</a:t>
                      </a:r>
                      <a:endParaRPr lang="en-US" sz="1200" b="1" dirty="0">
                        <a:solidFill>
                          <a:srgbClr val="002060"/>
                        </a:solidFill>
                      </a:endParaRPr>
                    </a:p>
                  </a:txBody>
                  <a:tcPr marT="45717" marB="45717"/>
                </a:tc>
                <a:extLst>
                  <a:ext uri="{0D108BD9-81ED-4DB2-BD59-A6C34878D82A}">
                    <a16:rowId xmlns:a16="http://schemas.microsoft.com/office/drawing/2014/main" val="10007"/>
                  </a:ext>
                </a:extLst>
              </a:tr>
              <a:tr h="316866">
                <a:tc>
                  <a:txBody>
                    <a:bodyPr/>
                    <a:lstStyle/>
                    <a:p>
                      <a:r>
                        <a:rPr lang="en-US" sz="1200" dirty="0">
                          <a:solidFill>
                            <a:srgbClr val="002060"/>
                          </a:solidFill>
                        </a:rPr>
                        <a:t>1</a:t>
                      </a:r>
                      <a:endParaRPr lang="en-US" sz="1200" b="1" dirty="0">
                        <a:solidFill>
                          <a:srgbClr val="002060"/>
                        </a:solidFill>
                      </a:endParaRPr>
                    </a:p>
                  </a:txBody>
                  <a:tcPr marT="45717" marB="45717"/>
                </a:tc>
                <a:tc>
                  <a:txBody>
                    <a:bodyPr/>
                    <a:lstStyle/>
                    <a:p>
                      <a:r>
                        <a:rPr lang="en-US" sz="1200" dirty="0" err="1">
                          <a:solidFill>
                            <a:srgbClr val="002060"/>
                          </a:solidFill>
                        </a:rPr>
                        <a:t>Ghi</a:t>
                      </a:r>
                      <a:r>
                        <a:rPr lang="en-US" sz="1200" dirty="0">
                          <a:solidFill>
                            <a:srgbClr val="002060"/>
                          </a:solidFill>
                        </a:rPr>
                        <a:t> 1 </a:t>
                      </a:r>
                      <a:r>
                        <a:rPr lang="en-US" sz="1200" dirty="0" err="1">
                          <a:solidFill>
                            <a:srgbClr val="002060"/>
                          </a:solidFill>
                        </a:rPr>
                        <a:t>vào</a:t>
                      </a:r>
                      <a:r>
                        <a:rPr lang="en-US" sz="1200" baseline="0" dirty="0">
                          <a:solidFill>
                            <a:srgbClr val="002060"/>
                          </a:solidFill>
                        </a:rPr>
                        <a:t> </a:t>
                      </a:r>
                      <a:r>
                        <a:rPr lang="en-US" sz="1200" baseline="0" dirty="0" err="1">
                          <a:solidFill>
                            <a:srgbClr val="002060"/>
                          </a:solidFill>
                        </a:rPr>
                        <a:t>kết</a:t>
                      </a:r>
                      <a:r>
                        <a:rPr lang="en-US" sz="1200" baseline="0" dirty="0">
                          <a:solidFill>
                            <a:srgbClr val="002060"/>
                          </a:solidFill>
                        </a:rPr>
                        <a:t> </a:t>
                      </a:r>
                      <a:r>
                        <a:rPr lang="en-US" sz="1200" baseline="0" dirty="0" err="1">
                          <a:solidFill>
                            <a:srgbClr val="002060"/>
                          </a:solidFill>
                        </a:rPr>
                        <a:t>quả</a:t>
                      </a:r>
                      <a:endParaRPr lang="en-US" sz="1200" dirty="0">
                        <a:solidFill>
                          <a:srgbClr val="002060"/>
                        </a:solidFill>
                      </a:endParaRPr>
                    </a:p>
                  </a:txBody>
                  <a:tcPr marT="45717" marB="45717"/>
                </a:tc>
                <a:tc>
                  <a:txBody>
                    <a:bodyPr/>
                    <a:lstStyle/>
                    <a:p>
                      <a:r>
                        <a:rPr lang="en-US" sz="1200" dirty="0">
                          <a:solidFill>
                            <a:srgbClr val="002060"/>
                          </a:solidFill>
                        </a:rPr>
                        <a:t>+ / (</a:t>
                      </a:r>
                      <a:endParaRPr lang="en-US" sz="1200" b="1" dirty="0">
                        <a:solidFill>
                          <a:srgbClr val="002060"/>
                        </a:solidFill>
                      </a:endParaRPr>
                    </a:p>
                  </a:txBody>
                  <a:tcPr marT="45717" marB="45717"/>
                </a:tc>
                <a:tc>
                  <a:txBody>
                    <a:bodyPr/>
                    <a:lstStyle/>
                    <a:p>
                      <a:r>
                        <a:rPr lang="en-US" sz="1200" dirty="0">
                          <a:solidFill>
                            <a:srgbClr val="002060"/>
                          </a:solidFill>
                        </a:rPr>
                        <a:t>3 4 2 * 1</a:t>
                      </a:r>
                      <a:endParaRPr lang="en-US" sz="1200" b="1" dirty="0">
                        <a:solidFill>
                          <a:srgbClr val="002060"/>
                        </a:solidFill>
                      </a:endParaRPr>
                    </a:p>
                  </a:txBody>
                  <a:tcPr marT="45717" marB="45717"/>
                </a:tc>
                <a:extLst>
                  <a:ext uri="{0D108BD9-81ED-4DB2-BD59-A6C34878D82A}">
                    <a16:rowId xmlns:a16="http://schemas.microsoft.com/office/drawing/2014/main" val="10008"/>
                  </a:ext>
                </a:extLst>
              </a:tr>
              <a:tr h="316866">
                <a:tc>
                  <a:txBody>
                    <a:bodyPr/>
                    <a:lstStyle/>
                    <a:p>
                      <a:r>
                        <a:rPr lang="en-US" sz="1200" dirty="0">
                          <a:solidFill>
                            <a:srgbClr val="002060"/>
                          </a:solidFill>
                        </a:rPr>
                        <a:t>-</a:t>
                      </a:r>
                      <a:endParaRPr lang="en-US" sz="1200" b="1" dirty="0">
                        <a:solidFill>
                          <a:srgbClr val="002060"/>
                        </a:solidFill>
                      </a:endParaRPr>
                    </a:p>
                  </a:txBody>
                  <a:tcPr marT="45717" marB="45717"/>
                </a:tc>
                <a:tc>
                  <a:txBody>
                    <a:bodyPr/>
                    <a:lstStyle/>
                    <a:p>
                      <a:r>
                        <a:rPr lang="en-US" sz="1200" dirty="0">
                          <a:solidFill>
                            <a:srgbClr val="002060"/>
                          </a:solidFill>
                        </a:rPr>
                        <a:t>Push</a:t>
                      </a:r>
                      <a:r>
                        <a:rPr lang="en-US" sz="1200" baseline="0" dirty="0">
                          <a:solidFill>
                            <a:srgbClr val="002060"/>
                          </a:solidFill>
                        </a:rPr>
                        <a:t> -</a:t>
                      </a:r>
                      <a:endParaRPr lang="en-US" sz="1200" dirty="0">
                        <a:solidFill>
                          <a:srgbClr val="002060"/>
                        </a:solidFill>
                      </a:endParaRPr>
                    </a:p>
                  </a:txBody>
                  <a:tcPr marT="45717" marB="45717"/>
                </a:tc>
                <a:tc>
                  <a:txBody>
                    <a:bodyPr/>
                    <a:lstStyle/>
                    <a:p>
                      <a:r>
                        <a:rPr lang="en-US" sz="1200" dirty="0">
                          <a:solidFill>
                            <a:srgbClr val="002060"/>
                          </a:solidFill>
                        </a:rPr>
                        <a:t>+ / ( -</a:t>
                      </a:r>
                      <a:endParaRPr lang="en-US" sz="1200" b="1" dirty="0">
                        <a:solidFill>
                          <a:srgbClr val="002060"/>
                        </a:solidFill>
                      </a:endParaRPr>
                    </a:p>
                  </a:txBody>
                  <a:tcPr marT="45717" marB="45717"/>
                </a:tc>
                <a:tc>
                  <a:txBody>
                    <a:bodyPr/>
                    <a:lstStyle/>
                    <a:p>
                      <a:r>
                        <a:rPr lang="en-US" sz="1200" dirty="0">
                          <a:solidFill>
                            <a:srgbClr val="002060"/>
                          </a:solidFill>
                        </a:rPr>
                        <a:t>3 4 2 * 1</a:t>
                      </a:r>
                      <a:endParaRPr lang="en-US" sz="1200" b="1" dirty="0">
                        <a:solidFill>
                          <a:srgbClr val="002060"/>
                        </a:solidFill>
                      </a:endParaRPr>
                    </a:p>
                  </a:txBody>
                  <a:tcPr marT="45717" marB="45717"/>
                </a:tc>
                <a:extLst>
                  <a:ext uri="{0D108BD9-81ED-4DB2-BD59-A6C34878D82A}">
                    <a16:rowId xmlns:a16="http://schemas.microsoft.com/office/drawing/2014/main" val="10009"/>
                  </a:ext>
                </a:extLst>
              </a:tr>
              <a:tr h="316866">
                <a:tc>
                  <a:txBody>
                    <a:bodyPr/>
                    <a:lstStyle/>
                    <a:p>
                      <a:r>
                        <a:rPr lang="en-US" sz="1200" dirty="0">
                          <a:solidFill>
                            <a:srgbClr val="002060"/>
                          </a:solidFill>
                        </a:rPr>
                        <a:t>5</a:t>
                      </a:r>
                      <a:endParaRPr lang="en-US" sz="1200" b="1" dirty="0">
                        <a:solidFill>
                          <a:srgbClr val="002060"/>
                        </a:solidFill>
                      </a:endParaRPr>
                    </a:p>
                  </a:txBody>
                  <a:tcPr marT="45717" marB="45717"/>
                </a:tc>
                <a:tc>
                  <a:txBody>
                    <a:bodyPr/>
                    <a:lstStyle/>
                    <a:p>
                      <a:r>
                        <a:rPr lang="en-US" sz="1200" dirty="0" err="1">
                          <a:solidFill>
                            <a:srgbClr val="002060"/>
                          </a:solidFill>
                        </a:rPr>
                        <a:t>Ghi</a:t>
                      </a:r>
                      <a:r>
                        <a:rPr lang="en-US" sz="1200" dirty="0">
                          <a:solidFill>
                            <a:srgbClr val="002060"/>
                          </a:solidFill>
                        </a:rPr>
                        <a:t> 5 </a:t>
                      </a:r>
                      <a:r>
                        <a:rPr lang="en-US" sz="1200" dirty="0" err="1">
                          <a:solidFill>
                            <a:srgbClr val="002060"/>
                          </a:solidFill>
                        </a:rPr>
                        <a:t>vào</a:t>
                      </a:r>
                      <a:r>
                        <a:rPr lang="en-US" sz="1200" baseline="0" dirty="0">
                          <a:solidFill>
                            <a:srgbClr val="002060"/>
                          </a:solidFill>
                        </a:rPr>
                        <a:t> </a:t>
                      </a:r>
                      <a:r>
                        <a:rPr lang="en-US" sz="1200" baseline="0" dirty="0" err="1">
                          <a:solidFill>
                            <a:srgbClr val="002060"/>
                          </a:solidFill>
                        </a:rPr>
                        <a:t>kết</a:t>
                      </a:r>
                      <a:r>
                        <a:rPr lang="en-US" sz="1200" baseline="0" dirty="0">
                          <a:solidFill>
                            <a:srgbClr val="002060"/>
                          </a:solidFill>
                        </a:rPr>
                        <a:t> </a:t>
                      </a:r>
                      <a:r>
                        <a:rPr lang="en-US" sz="1200" baseline="0" dirty="0" err="1">
                          <a:solidFill>
                            <a:srgbClr val="002060"/>
                          </a:solidFill>
                        </a:rPr>
                        <a:t>quả</a:t>
                      </a:r>
                      <a:endParaRPr lang="en-US" sz="1200" dirty="0">
                        <a:solidFill>
                          <a:srgbClr val="002060"/>
                        </a:solidFill>
                      </a:endParaRPr>
                    </a:p>
                  </a:txBody>
                  <a:tcPr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 / ( -</a:t>
                      </a:r>
                      <a:endParaRPr lang="en-US" sz="1200" b="1" dirty="0">
                        <a:solidFill>
                          <a:srgbClr val="002060"/>
                        </a:solidFill>
                      </a:endParaRPr>
                    </a:p>
                  </a:txBody>
                  <a:tcPr marT="45717" marB="45717"/>
                </a:tc>
                <a:tc>
                  <a:txBody>
                    <a:bodyPr/>
                    <a:lstStyle/>
                    <a:p>
                      <a:r>
                        <a:rPr lang="en-US" sz="1200" dirty="0">
                          <a:solidFill>
                            <a:srgbClr val="002060"/>
                          </a:solidFill>
                        </a:rPr>
                        <a:t>3 4 2 * 1 5</a:t>
                      </a:r>
                      <a:endParaRPr lang="en-US" sz="1200" b="1" dirty="0">
                        <a:solidFill>
                          <a:srgbClr val="002060"/>
                        </a:solidFill>
                      </a:endParaRPr>
                    </a:p>
                  </a:txBody>
                  <a:tcPr marT="45717" marB="45717"/>
                </a:tc>
                <a:extLst>
                  <a:ext uri="{0D108BD9-81ED-4DB2-BD59-A6C34878D82A}">
                    <a16:rowId xmlns:a16="http://schemas.microsoft.com/office/drawing/2014/main" val="10010"/>
                  </a:ext>
                </a:extLst>
              </a:tr>
              <a:tr h="426504">
                <a:tc>
                  <a:txBody>
                    <a:bodyPr/>
                    <a:lstStyle/>
                    <a:p>
                      <a:r>
                        <a:rPr lang="en-US" sz="1200" dirty="0">
                          <a:solidFill>
                            <a:srgbClr val="002060"/>
                          </a:solidFill>
                        </a:rPr>
                        <a:t>)</a:t>
                      </a:r>
                      <a:endParaRPr lang="en-US" sz="1200" b="1" dirty="0">
                        <a:solidFill>
                          <a:srgbClr val="002060"/>
                        </a:solidFill>
                      </a:endParaRPr>
                    </a:p>
                  </a:txBody>
                  <a:tcPr marT="45717" marB="45717"/>
                </a:tc>
                <a:tc>
                  <a:txBody>
                    <a:bodyPr/>
                    <a:lstStyle/>
                    <a:p>
                      <a:r>
                        <a:rPr lang="en-US" sz="1200" dirty="0">
                          <a:solidFill>
                            <a:srgbClr val="002060"/>
                          </a:solidFill>
                        </a:rPr>
                        <a:t>Pop </a:t>
                      </a:r>
                      <a:r>
                        <a:rPr lang="en-US" sz="1200" dirty="0" err="1">
                          <a:solidFill>
                            <a:srgbClr val="002060"/>
                          </a:solidFill>
                        </a:rPr>
                        <a:t>cho</a:t>
                      </a:r>
                      <a:r>
                        <a:rPr lang="en-US" sz="1200" dirty="0">
                          <a:solidFill>
                            <a:srgbClr val="002060"/>
                          </a:solidFill>
                        </a:rPr>
                        <a:t> </a:t>
                      </a:r>
                      <a:r>
                        <a:rPr lang="en-US" sz="1200" dirty="0" err="1">
                          <a:solidFill>
                            <a:srgbClr val="002060"/>
                          </a:solidFill>
                        </a:rPr>
                        <a:t>đến</a:t>
                      </a:r>
                      <a:r>
                        <a:rPr lang="en-US" sz="1200" baseline="0" dirty="0">
                          <a:solidFill>
                            <a:srgbClr val="002060"/>
                          </a:solidFill>
                        </a:rPr>
                        <a:t> </a:t>
                      </a:r>
                      <a:r>
                        <a:rPr lang="en-US" sz="1200" baseline="0" dirty="0" err="1">
                          <a:solidFill>
                            <a:srgbClr val="002060"/>
                          </a:solidFill>
                        </a:rPr>
                        <a:t>khi</a:t>
                      </a:r>
                      <a:r>
                        <a:rPr lang="en-US" sz="1200" baseline="0" dirty="0">
                          <a:solidFill>
                            <a:srgbClr val="002060"/>
                          </a:solidFill>
                        </a:rPr>
                        <a:t> </a:t>
                      </a:r>
                      <a:r>
                        <a:rPr lang="en-US" sz="1200" baseline="0" dirty="0" err="1">
                          <a:solidFill>
                            <a:srgbClr val="002060"/>
                          </a:solidFill>
                        </a:rPr>
                        <a:t>lấy</a:t>
                      </a:r>
                      <a:r>
                        <a:rPr lang="en-US" sz="1200" baseline="0" dirty="0">
                          <a:solidFill>
                            <a:srgbClr val="002060"/>
                          </a:solidFill>
                        </a:rPr>
                        <a:t> </a:t>
                      </a:r>
                      <a:r>
                        <a:rPr lang="en-US" sz="1200" baseline="0" dirty="0" err="1">
                          <a:solidFill>
                            <a:srgbClr val="002060"/>
                          </a:solidFill>
                        </a:rPr>
                        <a:t>được</a:t>
                      </a:r>
                      <a:r>
                        <a:rPr lang="en-US" sz="1200" baseline="0" dirty="0">
                          <a:solidFill>
                            <a:srgbClr val="002060"/>
                          </a:solidFill>
                        </a:rPr>
                        <a:t> (, </a:t>
                      </a:r>
                      <a:r>
                        <a:rPr lang="en-US" sz="1200" baseline="0" dirty="0" err="1">
                          <a:solidFill>
                            <a:srgbClr val="002060"/>
                          </a:solidFill>
                        </a:rPr>
                        <a:t>ghi</a:t>
                      </a:r>
                      <a:r>
                        <a:rPr lang="en-US" sz="1200" baseline="0" dirty="0">
                          <a:solidFill>
                            <a:srgbClr val="002060"/>
                          </a:solidFill>
                        </a:rPr>
                        <a:t> </a:t>
                      </a:r>
                      <a:r>
                        <a:rPr lang="en-US" sz="1200" baseline="0" dirty="0" err="1">
                          <a:solidFill>
                            <a:srgbClr val="002060"/>
                          </a:solidFill>
                        </a:rPr>
                        <a:t>các</a:t>
                      </a:r>
                      <a:r>
                        <a:rPr lang="en-US" sz="1200" baseline="0" dirty="0">
                          <a:solidFill>
                            <a:srgbClr val="002060"/>
                          </a:solidFill>
                        </a:rPr>
                        <a:t> </a:t>
                      </a:r>
                      <a:r>
                        <a:rPr lang="en-US" sz="1200" baseline="0" dirty="0" err="1">
                          <a:solidFill>
                            <a:srgbClr val="002060"/>
                          </a:solidFill>
                        </a:rPr>
                        <a:t>toán</a:t>
                      </a:r>
                      <a:r>
                        <a:rPr lang="en-US" sz="1200" baseline="0" dirty="0">
                          <a:solidFill>
                            <a:srgbClr val="002060"/>
                          </a:solidFill>
                        </a:rPr>
                        <a:t> </a:t>
                      </a:r>
                      <a:r>
                        <a:rPr lang="en-US" sz="1200" baseline="0" dirty="0" err="1">
                          <a:solidFill>
                            <a:srgbClr val="002060"/>
                          </a:solidFill>
                        </a:rPr>
                        <a:t>tử</a:t>
                      </a:r>
                      <a:r>
                        <a:rPr lang="en-US" sz="1200" baseline="0" dirty="0">
                          <a:solidFill>
                            <a:srgbClr val="002060"/>
                          </a:solidFill>
                        </a:rPr>
                        <a:t> </a:t>
                      </a:r>
                      <a:r>
                        <a:rPr lang="en-US" sz="1200" baseline="0" dirty="0" err="1">
                          <a:solidFill>
                            <a:srgbClr val="002060"/>
                          </a:solidFill>
                        </a:rPr>
                        <a:t>ra</a:t>
                      </a:r>
                      <a:r>
                        <a:rPr lang="en-US" sz="1200" baseline="0" dirty="0">
                          <a:solidFill>
                            <a:srgbClr val="002060"/>
                          </a:solidFill>
                        </a:rPr>
                        <a:t> </a:t>
                      </a:r>
                      <a:r>
                        <a:rPr lang="en-US" sz="1200" baseline="0" dirty="0" err="1">
                          <a:solidFill>
                            <a:srgbClr val="002060"/>
                          </a:solidFill>
                        </a:rPr>
                        <a:t>kết</a:t>
                      </a:r>
                      <a:r>
                        <a:rPr lang="en-US" sz="1200" baseline="0" dirty="0">
                          <a:solidFill>
                            <a:srgbClr val="002060"/>
                          </a:solidFill>
                        </a:rPr>
                        <a:t> </a:t>
                      </a:r>
                      <a:r>
                        <a:rPr lang="en-US" sz="1200" baseline="0" dirty="0" err="1">
                          <a:solidFill>
                            <a:srgbClr val="002060"/>
                          </a:solidFill>
                        </a:rPr>
                        <a:t>quả</a:t>
                      </a:r>
                      <a:endParaRPr lang="en-US" sz="1200" dirty="0">
                        <a:solidFill>
                          <a:srgbClr val="002060"/>
                        </a:solidFill>
                      </a:endParaRPr>
                    </a:p>
                  </a:txBody>
                  <a:tcPr marT="45717" marB="45717"/>
                </a:tc>
                <a:tc>
                  <a:txBody>
                    <a:bodyPr/>
                    <a:lstStyle/>
                    <a:p>
                      <a:r>
                        <a:rPr lang="en-US" sz="1200" dirty="0">
                          <a:solidFill>
                            <a:srgbClr val="002060"/>
                          </a:solidFill>
                        </a:rPr>
                        <a:t>+ /</a:t>
                      </a:r>
                      <a:endParaRPr lang="en-US" sz="1200" b="1" dirty="0">
                        <a:solidFill>
                          <a:srgbClr val="002060"/>
                        </a:solidFill>
                      </a:endParaRPr>
                    </a:p>
                  </a:txBody>
                  <a:tcPr marT="45717" marB="45717"/>
                </a:tc>
                <a:tc>
                  <a:txBody>
                    <a:bodyPr/>
                    <a:lstStyle/>
                    <a:p>
                      <a:r>
                        <a:rPr lang="en-US" sz="1200" dirty="0">
                          <a:solidFill>
                            <a:srgbClr val="002060"/>
                          </a:solidFill>
                        </a:rPr>
                        <a:t>3 4 2 * 1 5 -</a:t>
                      </a:r>
                      <a:endParaRPr lang="en-US" sz="1200" b="1" dirty="0">
                        <a:solidFill>
                          <a:srgbClr val="002060"/>
                        </a:solidFill>
                      </a:endParaRPr>
                    </a:p>
                  </a:txBody>
                  <a:tcPr marT="45717" marB="45717"/>
                </a:tc>
                <a:extLst>
                  <a:ext uri="{0D108BD9-81ED-4DB2-BD59-A6C34878D82A}">
                    <a16:rowId xmlns:a16="http://schemas.microsoft.com/office/drawing/2014/main" val="10011"/>
                  </a:ext>
                </a:extLst>
              </a:tr>
              <a:tr h="426504">
                <a:tc>
                  <a:txBody>
                    <a:bodyPr/>
                    <a:lstStyle/>
                    <a:p>
                      <a:endParaRPr lang="en-US" sz="1200" b="1" dirty="0">
                        <a:solidFill>
                          <a:srgbClr val="002060"/>
                        </a:solidFill>
                      </a:endParaRPr>
                    </a:p>
                  </a:txBody>
                  <a:tcPr marT="45717" marB="45717"/>
                </a:tc>
                <a:tc>
                  <a:txBody>
                    <a:bodyPr/>
                    <a:lstStyle/>
                    <a:p>
                      <a:r>
                        <a:rPr lang="en-US" sz="1200" dirty="0">
                          <a:solidFill>
                            <a:srgbClr val="002060"/>
                          </a:solidFill>
                        </a:rPr>
                        <a:t>Pop </a:t>
                      </a:r>
                      <a:r>
                        <a:rPr lang="en-US" sz="1200" dirty="0" err="1">
                          <a:solidFill>
                            <a:srgbClr val="002060"/>
                          </a:solidFill>
                        </a:rPr>
                        <a:t>tất</a:t>
                      </a:r>
                      <a:r>
                        <a:rPr lang="en-US" sz="1200" baseline="0" dirty="0">
                          <a:solidFill>
                            <a:srgbClr val="002060"/>
                          </a:solidFill>
                        </a:rPr>
                        <a:t> </a:t>
                      </a:r>
                      <a:r>
                        <a:rPr lang="en-US" sz="1200" baseline="0" dirty="0" err="1">
                          <a:solidFill>
                            <a:srgbClr val="002060"/>
                          </a:solidFill>
                        </a:rPr>
                        <a:t>cả</a:t>
                      </a:r>
                      <a:r>
                        <a:rPr lang="en-US" sz="1200" baseline="0" dirty="0">
                          <a:solidFill>
                            <a:srgbClr val="002060"/>
                          </a:solidFill>
                        </a:rPr>
                        <a:t> </a:t>
                      </a:r>
                      <a:r>
                        <a:rPr lang="en-US" sz="1200" baseline="0" dirty="0" err="1">
                          <a:solidFill>
                            <a:srgbClr val="002060"/>
                          </a:solidFill>
                        </a:rPr>
                        <a:t>toán</a:t>
                      </a:r>
                      <a:r>
                        <a:rPr lang="en-US" sz="1200" baseline="0" dirty="0">
                          <a:solidFill>
                            <a:srgbClr val="002060"/>
                          </a:solidFill>
                        </a:rPr>
                        <a:t> </a:t>
                      </a:r>
                      <a:r>
                        <a:rPr lang="en-US" sz="1200" baseline="0" dirty="0" err="1">
                          <a:solidFill>
                            <a:srgbClr val="002060"/>
                          </a:solidFill>
                        </a:rPr>
                        <a:t>tử</a:t>
                      </a:r>
                      <a:r>
                        <a:rPr lang="en-US" sz="1200" baseline="0" dirty="0">
                          <a:solidFill>
                            <a:srgbClr val="002060"/>
                          </a:solidFill>
                        </a:rPr>
                        <a:t> </a:t>
                      </a:r>
                      <a:r>
                        <a:rPr lang="en-US" sz="1200" baseline="0" dirty="0" err="1">
                          <a:solidFill>
                            <a:srgbClr val="002060"/>
                          </a:solidFill>
                        </a:rPr>
                        <a:t>ra</a:t>
                      </a:r>
                      <a:r>
                        <a:rPr lang="en-US" sz="1200" baseline="0" dirty="0">
                          <a:solidFill>
                            <a:srgbClr val="002060"/>
                          </a:solidFill>
                        </a:rPr>
                        <a:t> </a:t>
                      </a:r>
                      <a:r>
                        <a:rPr lang="en-US" sz="1200" baseline="0" dirty="0" err="1">
                          <a:solidFill>
                            <a:srgbClr val="002060"/>
                          </a:solidFill>
                        </a:rPr>
                        <a:t>khỏi</a:t>
                      </a:r>
                      <a:r>
                        <a:rPr lang="en-US" sz="1200" baseline="0" dirty="0">
                          <a:solidFill>
                            <a:srgbClr val="002060"/>
                          </a:solidFill>
                        </a:rPr>
                        <a:t> Stack, </a:t>
                      </a:r>
                      <a:r>
                        <a:rPr lang="en-US" sz="1200" baseline="0" dirty="0" err="1">
                          <a:solidFill>
                            <a:srgbClr val="002060"/>
                          </a:solidFill>
                        </a:rPr>
                        <a:t>ghi</a:t>
                      </a:r>
                      <a:r>
                        <a:rPr lang="en-US" sz="1200" baseline="0" dirty="0">
                          <a:solidFill>
                            <a:srgbClr val="002060"/>
                          </a:solidFill>
                        </a:rPr>
                        <a:t> </a:t>
                      </a:r>
                      <a:r>
                        <a:rPr lang="en-US" sz="1200" baseline="0" dirty="0" err="1">
                          <a:solidFill>
                            <a:srgbClr val="002060"/>
                          </a:solidFill>
                        </a:rPr>
                        <a:t>vào</a:t>
                      </a:r>
                      <a:r>
                        <a:rPr lang="en-US" sz="1200" baseline="0" dirty="0">
                          <a:solidFill>
                            <a:srgbClr val="002060"/>
                          </a:solidFill>
                        </a:rPr>
                        <a:t> </a:t>
                      </a:r>
                      <a:r>
                        <a:rPr lang="en-US" sz="1200" baseline="0" dirty="0" err="1">
                          <a:solidFill>
                            <a:srgbClr val="002060"/>
                          </a:solidFill>
                        </a:rPr>
                        <a:t>kết</a:t>
                      </a:r>
                      <a:r>
                        <a:rPr lang="en-US" sz="1200" baseline="0" dirty="0">
                          <a:solidFill>
                            <a:srgbClr val="002060"/>
                          </a:solidFill>
                        </a:rPr>
                        <a:t> </a:t>
                      </a:r>
                      <a:r>
                        <a:rPr lang="en-US" sz="1200" baseline="0" dirty="0" err="1">
                          <a:solidFill>
                            <a:srgbClr val="002060"/>
                          </a:solidFill>
                        </a:rPr>
                        <a:t>quả</a:t>
                      </a:r>
                      <a:endParaRPr lang="en-US" sz="1200" dirty="0">
                        <a:solidFill>
                          <a:srgbClr val="002060"/>
                        </a:solidFill>
                      </a:endParaRPr>
                    </a:p>
                  </a:txBody>
                  <a:tcPr marT="45717" marB="45717"/>
                </a:tc>
                <a:tc>
                  <a:txBody>
                    <a:bodyPr/>
                    <a:lstStyle/>
                    <a:p>
                      <a:endParaRPr lang="en-US" sz="1200">
                        <a:solidFill>
                          <a:srgbClr val="002060"/>
                        </a:solidFill>
                      </a:endParaRPr>
                    </a:p>
                  </a:txBody>
                  <a:tcPr marT="45717" marB="45717"/>
                </a:tc>
                <a:tc>
                  <a:txBody>
                    <a:bodyPr/>
                    <a:lstStyle/>
                    <a:p>
                      <a:r>
                        <a:rPr lang="en-US" sz="1200" dirty="0">
                          <a:solidFill>
                            <a:srgbClr val="002060"/>
                          </a:solidFill>
                        </a:rPr>
                        <a:t>3 4 2 * 1 5 - / + </a:t>
                      </a:r>
                      <a:endParaRPr lang="en-US" sz="1200" b="1" dirty="0">
                        <a:solidFill>
                          <a:srgbClr val="002060"/>
                        </a:solidFill>
                      </a:endParaRPr>
                    </a:p>
                  </a:txBody>
                  <a:tcPr marT="45717" marB="45717"/>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49675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87D3A-603D-4E59-A14A-F60BF0692C83}"/>
              </a:ext>
            </a:extLst>
          </p:cNvPr>
          <p:cNvSpPr>
            <a:spLocks noGrp="1"/>
          </p:cNvSpPr>
          <p:nvPr>
            <p:ph type="title"/>
          </p:nvPr>
        </p:nvSpPr>
        <p:spPr/>
        <p:txBody>
          <a:bodyPr/>
          <a:lstStyle/>
          <a:p>
            <a:r>
              <a:rPr lang="en-US"/>
              <a:t>Tính giá trị biểu thức hậu tố</a:t>
            </a:r>
          </a:p>
        </p:txBody>
      </p:sp>
      <p:sp>
        <p:nvSpPr>
          <p:cNvPr id="3" name="Content Placeholder 2">
            <a:extLst>
              <a:ext uri="{FF2B5EF4-FFF2-40B4-BE49-F238E27FC236}">
                <a16:creationId xmlns:a16="http://schemas.microsoft.com/office/drawing/2014/main" id="{DBB097F5-ED39-4A91-A979-2997ED7F7CFF}"/>
              </a:ext>
            </a:extLst>
          </p:cNvPr>
          <p:cNvSpPr>
            <a:spLocks noGrp="1"/>
          </p:cNvSpPr>
          <p:nvPr>
            <p:ph idx="1"/>
          </p:nvPr>
        </p:nvSpPr>
        <p:spPr/>
        <p:txBody>
          <a:bodyPr/>
          <a:lstStyle/>
          <a:p>
            <a:pPr>
              <a:defRPr/>
            </a:pPr>
            <a:r>
              <a:rPr lang="en-US" altLang="en-US"/>
              <a:t>Đ</a:t>
            </a:r>
            <a:r>
              <a:rPr lang="vi-VN"/>
              <a:t>ọc từng token trong biểu thức </a:t>
            </a:r>
            <a:r>
              <a:rPr lang="en-US"/>
              <a:t>hậu tố</a:t>
            </a:r>
            <a:r>
              <a:rPr lang="vi-VN"/>
              <a:t> từ trái qua phải:</a:t>
            </a:r>
            <a:endParaRPr lang="vi-VN" altLang="en-US"/>
          </a:p>
          <a:p>
            <a:pPr lvl="1">
              <a:defRPr/>
            </a:pPr>
            <a:r>
              <a:rPr lang="en-US" altLang="en-US"/>
              <a:t>N</a:t>
            </a:r>
            <a:r>
              <a:rPr lang="vi-VN" altLang="en-US"/>
              <a:t>ếu gặp toán hạng (số hoặc biến) thì push toán hạng này vào </a:t>
            </a:r>
            <a:r>
              <a:rPr lang="en-US" altLang="en-US"/>
              <a:t>stack</a:t>
            </a:r>
          </a:p>
          <a:p>
            <a:pPr lvl="1">
              <a:defRPr/>
            </a:pPr>
            <a:r>
              <a:rPr lang="en-US" altLang="en-US"/>
              <a:t>N</a:t>
            </a:r>
            <a:r>
              <a:rPr lang="vi-VN" altLang="en-US"/>
              <a:t>ếu gặp toán tử</a:t>
            </a:r>
            <a:r>
              <a:rPr lang="en-US" altLang="en-US"/>
              <a:t> “+-*/”</a:t>
            </a:r>
            <a:r>
              <a:rPr lang="vi-VN" altLang="en-US"/>
              <a:t>, lấy </a:t>
            </a:r>
            <a:r>
              <a:rPr lang="en-US" altLang="en-US"/>
              <a:t>2</a:t>
            </a:r>
            <a:r>
              <a:rPr lang="vi-VN" altLang="en-US"/>
              <a:t> toán hạng ra khỏi </a:t>
            </a:r>
            <a:r>
              <a:rPr lang="en-US" altLang="en-US"/>
              <a:t>s</a:t>
            </a:r>
            <a:r>
              <a:rPr lang="vi-VN" altLang="en-US"/>
              <a:t>tack, tính kết quả</a:t>
            </a:r>
            <a:r>
              <a:rPr lang="en-US" altLang="en-US"/>
              <a:t> </a:t>
            </a:r>
            <a:r>
              <a:rPr lang="en-US" altLang="en-US">
                <a:sym typeface="Wingdings" panose="05000000000000000000" pitchFamily="2" charset="2"/>
              </a:rPr>
              <a:t> </a:t>
            </a:r>
            <a:r>
              <a:rPr lang="vi-VN" altLang="en-US"/>
              <a:t>đẩy kết quả trở lại </a:t>
            </a:r>
            <a:r>
              <a:rPr lang="en-US" altLang="en-US"/>
              <a:t>stack</a:t>
            </a:r>
            <a:r>
              <a:rPr lang="vi-VN" altLang="en-US"/>
              <a:t>.</a:t>
            </a:r>
            <a:endParaRPr lang="en-US" altLang="en-US"/>
          </a:p>
          <a:p>
            <a:pPr lvl="1">
              <a:defRPr/>
            </a:pPr>
            <a:r>
              <a:rPr lang="vi-VN" altLang="en-US"/>
              <a:t>Khi quá trình kết thúc thì con số cuối cùng còn lại trong </a:t>
            </a:r>
            <a:r>
              <a:rPr lang="en-US" altLang="en-US"/>
              <a:t>stack </a:t>
            </a:r>
            <a:r>
              <a:rPr lang="vi-VN" altLang="en-US"/>
              <a:t>chính là giá trị của biểu thức đó.</a:t>
            </a:r>
          </a:p>
          <a:p>
            <a:endParaRPr lang="en-US"/>
          </a:p>
        </p:txBody>
      </p:sp>
      <p:sp>
        <p:nvSpPr>
          <p:cNvPr id="4" name="Footer Placeholder 3">
            <a:extLst>
              <a:ext uri="{FF2B5EF4-FFF2-40B4-BE49-F238E27FC236}">
                <a16:creationId xmlns:a16="http://schemas.microsoft.com/office/drawing/2014/main" id="{043EB73E-5F1C-4C61-8FF2-D11E92F786FE}"/>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E175AF5A-1494-487A-8514-15C26115FCE9}"/>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CECDBE69-6328-4D82-BF02-5E339B1B3F0E}"/>
              </a:ext>
            </a:extLst>
          </p:cNvPr>
          <p:cNvSpPr>
            <a:spLocks noGrp="1"/>
          </p:cNvSpPr>
          <p:nvPr>
            <p:ph type="sldNum" sz="quarter" idx="12"/>
          </p:nvPr>
        </p:nvSpPr>
        <p:spPr/>
        <p:txBody>
          <a:bodyPr/>
          <a:lstStyle/>
          <a:p>
            <a:fld id="{21782F98-F548-4E33-958E-D2A6C4BA8EFA}" type="slidenum">
              <a:rPr lang="en-US" smtClean="0"/>
              <a:t>29</a:t>
            </a:fld>
            <a:endParaRPr lang="en-US"/>
          </a:p>
        </p:txBody>
      </p:sp>
    </p:spTree>
    <p:extLst>
      <p:ext uri="{BB962C8B-B14F-4D97-AF65-F5344CB8AC3E}">
        <p14:creationId xmlns:p14="http://schemas.microsoft.com/office/powerpoint/2010/main" val="1321336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EDEAA-A733-4085-AC70-6F3D5FDCBF5A}"/>
              </a:ext>
            </a:extLst>
          </p:cNvPr>
          <p:cNvSpPr>
            <a:spLocks noGrp="1"/>
          </p:cNvSpPr>
          <p:nvPr>
            <p:ph type="title"/>
          </p:nvPr>
        </p:nvSpPr>
        <p:spPr/>
        <p:txBody>
          <a:bodyPr/>
          <a:lstStyle/>
          <a:p>
            <a:r>
              <a:rPr lang="en-US" altLang="en-US">
                <a:sym typeface="Wingdings" panose="05000000000000000000" pitchFamily="2" charset="2"/>
              </a:rPr>
              <a:t>Tính giá trị biểu thức 3 4 2 * 1 5 - / +</a:t>
            </a:r>
            <a:endParaRPr lang="en-US"/>
          </a:p>
        </p:txBody>
      </p:sp>
      <p:sp>
        <p:nvSpPr>
          <p:cNvPr id="3" name="Content Placeholder 2">
            <a:extLst>
              <a:ext uri="{FF2B5EF4-FFF2-40B4-BE49-F238E27FC236}">
                <a16:creationId xmlns:a16="http://schemas.microsoft.com/office/drawing/2014/main" id="{D9094B7D-663D-4CF0-ACD1-52143D240480}"/>
              </a:ext>
            </a:extLst>
          </p:cNvPr>
          <p:cNvSpPr>
            <a:spLocks noGrp="1"/>
          </p:cNvSpPr>
          <p:nvPr>
            <p:ph idx="1"/>
          </p:nvPr>
        </p:nvSpPr>
        <p:spPr>
          <a:xfrm>
            <a:off x="1219200" y="1600200"/>
            <a:ext cx="4876799" cy="4572000"/>
          </a:xfrm>
        </p:spPr>
        <p:txBody>
          <a:bodyPr>
            <a:normAutofit fontScale="92500" lnSpcReduction="10000"/>
          </a:bodyPr>
          <a:lstStyle/>
          <a:p>
            <a:pPr>
              <a:defRPr/>
            </a:pPr>
            <a:r>
              <a:rPr lang="en-US" altLang="en-US"/>
              <a:t>Đ</a:t>
            </a:r>
            <a:r>
              <a:rPr lang="vi-VN"/>
              <a:t>ọc từng token trong biểu thức </a:t>
            </a:r>
            <a:r>
              <a:rPr lang="en-US"/>
              <a:t>hậu tố</a:t>
            </a:r>
            <a:r>
              <a:rPr lang="vi-VN"/>
              <a:t> từ trái qua phải:</a:t>
            </a:r>
            <a:endParaRPr lang="vi-VN" altLang="en-US"/>
          </a:p>
          <a:p>
            <a:pPr lvl="1">
              <a:defRPr/>
            </a:pPr>
            <a:r>
              <a:rPr lang="en-US" altLang="en-US"/>
              <a:t>N</a:t>
            </a:r>
            <a:r>
              <a:rPr lang="vi-VN" altLang="en-US"/>
              <a:t>ếu gặp toán hạng (số hoặc biến) thì push toán hạng này vào </a:t>
            </a:r>
            <a:r>
              <a:rPr lang="en-US" altLang="en-US"/>
              <a:t>stack.</a:t>
            </a:r>
          </a:p>
          <a:p>
            <a:pPr lvl="1">
              <a:defRPr/>
            </a:pPr>
            <a:r>
              <a:rPr lang="en-US" altLang="en-US"/>
              <a:t>N</a:t>
            </a:r>
            <a:r>
              <a:rPr lang="vi-VN" altLang="en-US"/>
              <a:t>ếu gặp toán tử</a:t>
            </a:r>
            <a:r>
              <a:rPr lang="en-US" altLang="en-US"/>
              <a:t> “+-*/”</a:t>
            </a:r>
            <a:r>
              <a:rPr lang="vi-VN" altLang="en-US"/>
              <a:t>, lấy </a:t>
            </a:r>
            <a:r>
              <a:rPr lang="en-US" altLang="en-US"/>
              <a:t>2</a:t>
            </a:r>
            <a:r>
              <a:rPr lang="vi-VN" altLang="en-US"/>
              <a:t> toán hạng ra khỏi </a:t>
            </a:r>
            <a:r>
              <a:rPr lang="en-US" altLang="en-US"/>
              <a:t>s</a:t>
            </a:r>
            <a:r>
              <a:rPr lang="vi-VN" altLang="en-US"/>
              <a:t>tack, tính kết quả</a:t>
            </a:r>
            <a:r>
              <a:rPr lang="en-US" altLang="en-US"/>
              <a:t> </a:t>
            </a:r>
            <a:r>
              <a:rPr lang="en-US" altLang="en-US">
                <a:sym typeface="Wingdings" panose="05000000000000000000" pitchFamily="2" charset="2"/>
              </a:rPr>
              <a:t> </a:t>
            </a:r>
            <a:r>
              <a:rPr lang="vi-VN" altLang="en-US"/>
              <a:t>đẩy kết quả trở lại </a:t>
            </a:r>
            <a:r>
              <a:rPr lang="en-US" altLang="en-US"/>
              <a:t>stack</a:t>
            </a:r>
            <a:r>
              <a:rPr lang="vi-VN" altLang="en-US"/>
              <a:t>.</a:t>
            </a:r>
            <a:endParaRPr lang="en-US" altLang="en-US"/>
          </a:p>
          <a:p>
            <a:pPr lvl="1">
              <a:defRPr/>
            </a:pPr>
            <a:r>
              <a:rPr lang="vi-VN" altLang="en-US"/>
              <a:t>Khi quá trình kết thúc thì con số cuối cùng còn lại trong </a:t>
            </a:r>
            <a:r>
              <a:rPr lang="en-US" altLang="en-US"/>
              <a:t>stack </a:t>
            </a:r>
            <a:r>
              <a:rPr lang="vi-VN" altLang="en-US"/>
              <a:t>chính là giá trị của biểu thức đó.</a:t>
            </a:r>
          </a:p>
          <a:p>
            <a:endParaRPr lang="en-US"/>
          </a:p>
        </p:txBody>
      </p:sp>
      <p:sp>
        <p:nvSpPr>
          <p:cNvPr id="4" name="Footer Placeholder 3">
            <a:extLst>
              <a:ext uri="{FF2B5EF4-FFF2-40B4-BE49-F238E27FC236}">
                <a16:creationId xmlns:a16="http://schemas.microsoft.com/office/drawing/2014/main" id="{1B1CE795-1853-4DBB-ADC0-E6BA656125A0}"/>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8A47748E-284F-4214-95F5-75C578F7B1DE}"/>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F1B80F9C-DD28-4BF3-BA91-854D7B42FD6D}"/>
              </a:ext>
            </a:extLst>
          </p:cNvPr>
          <p:cNvSpPr>
            <a:spLocks noGrp="1"/>
          </p:cNvSpPr>
          <p:nvPr>
            <p:ph type="sldNum" sz="quarter" idx="12"/>
          </p:nvPr>
        </p:nvSpPr>
        <p:spPr/>
        <p:txBody>
          <a:bodyPr/>
          <a:lstStyle/>
          <a:p>
            <a:fld id="{21782F98-F548-4E33-958E-D2A6C4BA8EFA}" type="slidenum">
              <a:rPr lang="en-US" smtClean="0"/>
              <a:t>30</a:t>
            </a:fld>
            <a:endParaRPr lang="en-US"/>
          </a:p>
        </p:txBody>
      </p:sp>
      <p:graphicFrame>
        <p:nvGraphicFramePr>
          <p:cNvPr id="8" name="Table 7">
            <a:extLst>
              <a:ext uri="{FF2B5EF4-FFF2-40B4-BE49-F238E27FC236}">
                <a16:creationId xmlns:a16="http://schemas.microsoft.com/office/drawing/2014/main" id="{E013EBB9-F966-4E58-94E3-5DE4F9D6105F}"/>
              </a:ext>
            </a:extLst>
          </p:cNvPr>
          <p:cNvGraphicFramePr>
            <a:graphicFrameLocks noGrp="1"/>
          </p:cNvGraphicFramePr>
          <p:nvPr>
            <p:extLst>
              <p:ext uri="{D42A27DB-BD31-4B8C-83A1-F6EECF244321}">
                <p14:modId xmlns:p14="http://schemas.microsoft.com/office/powerpoint/2010/main" val="379737778"/>
              </p:ext>
            </p:extLst>
          </p:nvPr>
        </p:nvGraphicFramePr>
        <p:xfrm>
          <a:off x="6095999" y="1724025"/>
          <a:ext cx="5791199" cy="4344992"/>
        </p:xfrm>
        <a:graphic>
          <a:graphicData uri="http://schemas.openxmlformats.org/drawingml/2006/table">
            <a:tbl>
              <a:tblPr firstRow="1" bandRow="1">
                <a:tableStyleId>{9DCAF9ED-07DC-4A11-8D7F-57B35C25682E}</a:tableStyleId>
              </a:tblPr>
              <a:tblGrid>
                <a:gridCol w="987136">
                  <a:extLst>
                    <a:ext uri="{9D8B030D-6E8A-4147-A177-3AD203B41FA5}">
                      <a16:colId xmlns:a16="http://schemas.microsoft.com/office/drawing/2014/main" val="20000"/>
                    </a:ext>
                  </a:extLst>
                </a:gridCol>
                <a:gridCol w="3487881">
                  <a:extLst>
                    <a:ext uri="{9D8B030D-6E8A-4147-A177-3AD203B41FA5}">
                      <a16:colId xmlns:a16="http://schemas.microsoft.com/office/drawing/2014/main" val="20001"/>
                    </a:ext>
                  </a:extLst>
                </a:gridCol>
                <a:gridCol w="1316182">
                  <a:extLst>
                    <a:ext uri="{9D8B030D-6E8A-4147-A177-3AD203B41FA5}">
                      <a16:colId xmlns:a16="http://schemas.microsoft.com/office/drawing/2014/main" val="20002"/>
                    </a:ext>
                  </a:extLst>
                </a:gridCol>
              </a:tblGrid>
              <a:tr h="457271">
                <a:tc>
                  <a:txBody>
                    <a:bodyPr/>
                    <a:lstStyle/>
                    <a:p>
                      <a:pPr algn="l"/>
                      <a:r>
                        <a:rPr lang="en-US" sz="1600" dirty="0" err="1">
                          <a:solidFill>
                            <a:srgbClr val="002060"/>
                          </a:solidFill>
                        </a:rPr>
                        <a:t>Duyệt</a:t>
                      </a:r>
                      <a:endParaRPr lang="en-US" sz="1600" dirty="0">
                        <a:solidFill>
                          <a:srgbClr val="002060"/>
                        </a:solidFill>
                      </a:endParaRPr>
                    </a:p>
                  </a:txBody>
                  <a:tcPr marT="45727" marB="45727"/>
                </a:tc>
                <a:tc>
                  <a:txBody>
                    <a:bodyPr/>
                    <a:lstStyle/>
                    <a:p>
                      <a:pPr algn="l"/>
                      <a:r>
                        <a:rPr lang="en-US" sz="1600" dirty="0">
                          <a:solidFill>
                            <a:srgbClr val="002060"/>
                          </a:solidFill>
                        </a:rPr>
                        <a:t>Thao </a:t>
                      </a:r>
                      <a:r>
                        <a:rPr lang="en-US" sz="1600" dirty="0" err="1">
                          <a:solidFill>
                            <a:srgbClr val="002060"/>
                          </a:solidFill>
                        </a:rPr>
                        <a:t>tác</a:t>
                      </a:r>
                      <a:endParaRPr lang="en-US" sz="1600" dirty="0">
                        <a:solidFill>
                          <a:srgbClr val="002060"/>
                        </a:solidFill>
                      </a:endParaRPr>
                    </a:p>
                  </a:txBody>
                  <a:tcPr marT="45727" marB="45727"/>
                </a:tc>
                <a:tc>
                  <a:txBody>
                    <a:bodyPr/>
                    <a:lstStyle/>
                    <a:p>
                      <a:pPr algn="l"/>
                      <a:r>
                        <a:rPr lang="en-US" sz="1600" dirty="0">
                          <a:solidFill>
                            <a:srgbClr val="002060"/>
                          </a:solidFill>
                        </a:rPr>
                        <a:t>Stack</a:t>
                      </a:r>
                    </a:p>
                  </a:txBody>
                  <a:tcPr marT="45727" marB="45727"/>
                </a:tc>
                <a:extLst>
                  <a:ext uri="{0D108BD9-81ED-4DB2-BD59-A6C34878D82A}">
                    <a16:rowId xmlns:a16="http://schemas.microsoft.com/office/drawing/2014/main" val="10000"/>
                  </a:ext>
                </a:extLst>
              </a:tr>
              <a:tr h="431969">
                <a:tc>
                  <a:txBody>
                    <a:bodyPr/>
                    <a:lstStyle/>
                    <a:p>
                      <a:r>
                        <a:rPr lang="en-US" sz="1600" dirty="0">
                          <a:solidFill>
                            <a:srgbClr val="002060"/>
                          </a:solidFill>
                        </a:rPr>
                        <a:t>3</a:t>
                      </a:r>
                      <a:endParaRPr lang="en-US" sz="1600" b="1" dirty="0">
                        <a:solidFill>
                          <a:srgbClr val="002060"/>
                        </a:solidFill>
                      </a:endParaRPr>
                    </a:p>
                  </a:txBody>
                  <a:tcPr marT="45727" marB="45727"/>
                </a:tc>
                <a:tc>
                  <a:txBody>
                    <a:bodyPr/>
                    <a:lstStyle/>
                    <a:p>
                      <a:r>
                        <a:rPr lang="en-US" sz="1600" dirty="0">
                          <a:solidFill>
                            <a:srgbClr val="002060"/>
                          </a:solidFill>
                        </a:rPr>
                        <a:t>Push</a:t>
                      </a:r>
                      <a:r>
                        <a:rPr lang="en-US" sz="1600" baseline="0" dirty="0">
                          <a:solidFill>
                            <a:srgbClr val="002060"/>
                          </a:solidFill>
                        </a:rPr>
                        <a:t> 3</a:t>
                      </a:r>
                      <a:endParaRPr lang="en-US" sz="1600" dirty="0">
                        <a:solidFill>
                          <a:srgbClr val="002060"/>
                        </a:solidFill>
                      </a:endParaRPr>
                    </a:p>
                  </a:txBody>
                  <a:tcPr marT="45727" marB="45727"/>
                </a:tc>
                <a:tc>
                  <a:txBody>
                    <a:bodyPr/>
                    <a:lstStyle/>
                    <a:p>
                      <a:r>
                        <a:rPr lang="en-US" sz="1600" dirty="0">
                          <a:solidFill>
                            <a:srgbClr val="002060"/>
                          </a:solidFill>
                        </a:rPr>
                        <a:t>3</a:t>
                      </a:r>
                      <a:endParaRPr lang="en-US" sz="1600" b="1" dirty="0">
                        <a:solidFill>
                          <a:srgbClr val="002060"/>
                        </a:solidFill>
                      </a:endParaRPr>
                    </a:p>
                  </a:txBody>
                  <a:tcPr marT="45727" marB="45727"/>
                </a:tc>
                <a:extLst>
                  <a:ext uri="{0D108BD9-81ED-4DB2-BD59-A6C34878D82A}">
                    <a16:rowId xmlns:a16="http://schemas.microsoft.com/office/drawing/2014/main" val="10001"/>
                  </a:ext>
                </a:extLst>
              </a:tr>
              <a:tr h="431969">
                <a:tc>
                  <a:txBody>
                    <a:bodyPr/>
                    <a:lstStyle/>
                    <a:p>
                      <a:r>
                        <a:rPr lang="en-US" sz="1600" dirty="0">
                          <a:solidFill>
                            <a:srgbClr val="002060"/>
                          </a:solidFill>
                        </a:rPr>
                        <a:t>4</a:t>
                      </a:r>
                      <a:endParaRPr lang="en-US" sz="1600" b="1" dirty="0">
                        <a:solidFill>
                          <a:srgbClr val="002060"/>
                        </a:solidFill>
                      </a:endParaRPr>
                    </a:p>
                  </a:txBody>
                  <a:tcPr marT="45727" marB="45727"/>
                </a:tc>
                <a:tc>
                  <a:txBody>
                    <a:bodyPr/>
                    <a:lstStyle/>
                    <a:p>
                      <a:r>
                        <a:rPr lang="en-US" sz="1600" dirty="0">
                          <a:solidFill>
                            <a:srgbClr val="002060"/>
                          </a:solidFill>
                        </a:rPr>
                        <a:t>Push</a:t>
                      </a:r>
                      <a:r>
                        <a:rPr lang="en-US" sz="1600" baseline="0" dirty="0">
                          <a:solidFill>
                            <a:srgbClr val="002060"/>
                          </a:solidFill>
                        </a:rPr>
                        <a:t> 4</a:t>
                      </a:r>
                      <a:endParaRPr lang="en-US" sz="1600" dirty="0">
                        <a:solidFill>
                          <a:srgbClr val="002060"/>
                        </a:solidFill>
                      </a:endParaRPr>
                    </a:p>
                  </a:txBody>
                  <a:tcPr marT="45727" marB="45727"/>
                </a:tc>
                <a:tc>
                  <a:txBody>
                    <a:bodyPr/>
                    <a:lstStyle/>
                    <a:p>
                      <a:r>
                        <a:rPr lang="en-US" sz="1600" dirty="0">
                          <a:solidFill>
                            <a:srgbClr val="002060"/>
                          </a:solidFill>
                        </a:rPr>
                        <a:t>3 4</a:t>
                      </a:r>
                      <a:endParaRPr lang="en-US" sz="1600" b="1" dirty="0">
                        <a:solidFill>
                          <a:srgbClr val="002060"/>
                        </a:solidFill>
                      </a:endParaRPr>
                    </a:p>
                  </a:txBody>
                  <a:tcPr marT="45727" marB="45727"/>
                </a:tc>
                <a:extLst>
                  <a:ext uri="{0D108BD9-81ED-4DB2-BD59-A6C34878D82A}">
                    <a16:rowId xmlns:a16="http://schemas.microsoft.com/office/drawing/2014/main" val="10002"/>
                  </a:ext>
                </a:extLst>
              </a:tr>
              <a:tr h="431969">
                <a:tc>
                  <a:txBody>
                    <a:bodyPr/>
                    <a:lstStyle/>
                    <a:p>
                      <a:r>
                        <a:rPr lang="en-US" sz="1600" dirty="0">
                          <a:solidFill>
                            <a:srgbClr val="002060"/>
                          </a:solidFill>
                        </a:rPr>
                        <a:t>2</a:t>
                      </a:r>
                      <a:endParaRPr lang="en-US" sz="1600" b="1" dirty="0">
                        <a:solidFill>
                          <a:srgbClr val="002060"/>
                        </a:solidFill>
                      </a:endParaRPr>
                    </a:p>
                  </a:txBody>
                  <a:tcPr marT="45727" marB="45727"/>
                </a:tc>
                <a:tc>
                  <a:txBody>
                    <a:bodyPr/>
                    <a:lstStyle/>
                    <a:p>
                      <a:r>
                        <a:rPr lang="en-US" sz="1600" dirty="0">
                          <a:solidFill>
                            <a:srgbClr val="002060"/>
                          </a:solidFill>
                        </a:rPr>
                        <a:t>Push</a:t>
                      </a:r>
                      <a:r>
                        <a:rPr lang="en-US" sz="1600" baseline="0" dirty="0">
                          <a:solidFill>
                            <a:srgbClr val="002060"/>
                          </a:solidFill>
                        </a:rPr>
                        <a:t> 2</a:t>
                      </a:r>
                      <a:endParaRPr lang="en-US" sz="1600" dirty="0">
                        <a:solidFill>
                          <a:srgbClr val="002060"/>
                        </a:solidFill>
                      </a:endParaRPr>
                    </a:p>
                  </a:txBody>
                  <a:tcPr marT="45727" marB="45727"/>
                </a:tc>
                <a:tc>
                  <a:txBody>
                    <a:bodyPr/>
                    <a:lstStyle/>
                    <a:p>
                      <a:r>
                        <a:rPr lang="en-US" sz="1600" dirty="0">
                          <a:solidFill>
                            <a:srgbClr val="002060"/>
                          </a:solidFill>
                        </a:rPr>
                        <a:t>3 4 2 </a:t>
                      </a:r>
                      <a:endParaRPr lang="en-US" sz="1600" b="1" dirty="0">
                        <a:solidFill>
                          <a:srgbClr val="002060"/>
                        </a:solidFill>
                      </a:endParaRPr>
                    </a:p>
                  </a:txBody>
                  <a:tcPr marT="45727" marB="45727"/>
                </a:tc>
                <a:extLst>
                  <a:ext uri="{0D108BD9-81ED-4DB2-BD59-A6C34878D82A}">
                    <a16:rowId xmlns:a16="http://schemas.microsoft.com/office/drawing/2014/main" val="10003"/>
                  </a:ext>
                </a:extLst>
              </a:tr>
              <a:tr h="431969">
                <a:tc>
                  <a:txBody>
                    <a:bodyPr/>
                    <a:lstStyle/>
                    <a:p>
                      <a:r>
                        <a:rPr lang="en-US" sz="1600" dirty="0">
                          <a:solidFill>
                            <a:srgbClr val="002060"/>
                          </a:solidFill>
                        </a:rPr>
                        <a:t>*</a:t>
                      </a:r>
                      <a:endParaRPr lang="en-US" sz="1600" b="1" dirty="0">
                        <a:solidFill>
                          <a:srgbClr val="002060"/>
                        </a:solidFill>
                      </a:endParaRPr>
                    </a:p>
                  </a:txBody>
                  <a:tcPr marT="45727" marB="45727"/>
                </a:tc>
                <a:tc>
                  <a:txBody>
                    <a:bodyPr/>
                    <a:lstStyle/>
                    <a:p>
                      <a:r>
                        <a:rPr lang="en-US" sz="1600" dirty="0">
                          <a:solidFill>
                            <a:srgbClr val="002060"/>
                          </a:solidFill>
                        </a:rPr>
                        <a:t>Pop 4, 2 </a:t>
                      </a:r>
                      <a:r>
                        <a:rPr lang="en-US" sz="1600" dirty="0">
                          <a:solidFill>
                            <a:srgbClr val="002060"/>
                          </a:solidFill>
                          <a:sym typeface="Wingdings" pitchFamily="2" charset="2"/>
                        </a:rPr>
                        <a:t></a:t>
                      </a:r>
                      <a:r>
                        <a:rPr lang="en-US" sz="1600" dirty="0">
                          <a:solidFill>
                            <a:srgbClr val="002060"/>
                          </a:solidFill>
                        </a:rPr>
                        <a:t> </a:t>
                      </a:r>
                      <a:r>
                        <a:rPr lang="en-US" sz="1600" dirty="0" err="1">
                          <a:solidFill>
                            <a:srgbClr val="002060"/>
                          </a:solidFill>
                        </a:rPr>
                        <a:t>Tính</a:t>
                      </a:r>
                      <a:r>
                        <a:rPr lang="en-US" sz="1600" baseline="0" dirty="0">
                          <a:solidFill>
                            <a:srgbClr val="002060"/>
                          </a:solidFill>
                        </a:rPr>
                        <a:t> 4*2 = 8 </a:t>
                      </a:r>
                      <a:r>
                        <a:rPr lang="en-US" sz="1600" baseline="0" dirty="0">
                          <a:solidFill>
                            <a:srgbClr val="002060"/>
                          </a:solidFill>
                          <a:sym typeface="Wingdings" pitchFamily="2" charset="2"/>
                        </a:rPr>
                        <a:t> Push 8 </a:t>
                      </a:r>
                      <a:endParaRPr lang="en-US" sz="1600" dirty="0">
                        <a:solidFill>
                          <a:srgbClr val="002060"/>
                        </a:solidFill>
                      </a:endParaRPr>
                    </a:p>
                  </a:txBody>
                  <a:tcPr marT="45727" marB="45727"/>
                </a:tc>
                <a:tc>
                  <a:txBody>
                    <a:bodyPr/>
                    <a:lstStyle/>
                    <a:p>
                      <a:r>
                        <a:rPr lang="en-US" sz="1600" dirty="0">
                          <a:solidFill>
                            <a:srgbClr val="002060"/>
                          </a:solidFill>
                        </a:rPr>
                        <a:t>3 8</a:t>
                      </a:r>
                      <a:endParaRPr lang="en-US" sz="1600" b="1" dirty="0">
                        <a:solidFill>
                          <a:srgbClr val="002060"/>
                        </a:solidFill>
                      </a:endParaRPr>
                    </a:p>
                  </a:txBody>
                  <a:tcPr marT="45727" marB="45727"/>
                </a:tc>
                <a:extLst>
                  <a:ext uri="{0D108BD9-81ED-4DB2-BD59-A6C34878D82A}">
                    <a16:rowId xmlns:a16="http://schemas.microsoft.com/office/drawing/2014/main" val="10004"/>
                  </a:ext>
                </a:extLst>
              </a:tr>
              <a:tr h="431969">
                <a:tc>
                  <a:txBody>
                    <a:bodyPr/>
                    <a:lstStyle/>
                    <a:p>
                      <a:r>
                        <a:rPr lang="en-US" sz="1600" dirty="0">
                          <a:solidFill>
                            <a:srgbClr val="002060"/>
                          </a:solidFill>
                        </a:rPr>
                        <a:t>1</a:t>
                      </a:r>
                      <a:endParaRPr lang="en-US" sz="1600" b="1" dirty="0">
                        <a:solidFill>
                          <a:srgbClr val="002060"/>
                        </a:solidFill>
                      </a:endParaRPr>
                    </a:p>
                  </a:txBody>
                  <a:tcPr marT="45727" marB="45727"/>
                </a:tc>
                <a:tc>
                  <a:txBody>
                    <a:bodyPr/>
                    <a:lstStyle/>
                    <a:p>
                      <a:r>
                        <a:rPr lang="en-US" sz="1600" dirty="0">
                          <a:solidFill>
                            <a:srgbClr val="002060"/>
                          </a:solidFill>
                        </a:rPr>
                        <a:t>Push</a:t>
                      </a:r>
                      <a:r>
                        <a:rPr lang="en-US" sz="1600" baseline="0" dirty="0">
                          <a:solidFill>
                            <a:srgbClr val="002060"/>
                          </a:solidFill>
                        </a:rPr>
                        <a:t> 1</a:t>
                      </a:r>
                      <a:endParaRPr lang="en-US" sz="1600" dirty="0">
                        <a:solidFill>
                          <a:srgbClr val="002060"/>
                        </a:solidFill>
                      </a:endParaRPr>
                    </a:p>
                  </a:txBody>
                  <a:tcPr marT="45727" marB="45727"/>
                </a:tc>
                <a:tc>
                  <a:txBody>
                    <a:bodyPr/>
                    <a:lstStyle/>
                    <a:p>
                      <a:r>
                        <a:rPr lang="en-US" sz="1600" dirty="0">
                          <a:solidFill>
                            <a:srgbClr val="002060"/>
                          </a:solidFill>
                        </a:rPr>
                        <a:t>3 8 1</a:t>
                      </a:r>
                      <a:endParaRPr lang="en-US" sz="1600" b="1" dirty="0">
                        <a:solidFill>
                          <a:srgbClr val="002060"/>
                        </a:solidFill>
                      </a:endParaRPr>
                    </a:p>
                  </a:txBody>
                  <a:tcPr marT="45727" marB="45727"/>
                </a:tc>
                <a:extLst>
                  <a:ext uri="{0D108BD9-81ED-4DB2-BD59-A6C34878D82A}">
                    <a16:rowId xmlns:a16="http://schemas.microsoft.com/office/drawing/2014/main" val="10005"/>
                  </a:ext>
                </a:extLst>
              </a:tr>
              <a:tr h="431969">
                <a:tc>
                  <a:txBody>
                    <a:bodyPr/>
                    <a:lstStyle/>
                    <a:p>
                      <a:r>
                        <a:rPr lang="en-US" sz="1600" dirty="0">
                          <a:solidFill>
                            <a:srgbClr val="002060"/>
                          </a:solidFill>
                        </a:rPr>
                        <a:t>5</a:t>
                      </a:r>
                      <a:endParaRPr lang="en-US" sz="1600" b="1" dirty="0">
                        <a:solidFill>
                          <a:srgbClr val="002060"/>
                        </a:solidFill>
                      </a:endParaRPr>
                    </a:p>
                  </a:txBody>
                  <a:tcPr marT="45727" marB="45727"/>
                </a:tc>
                <a:tc>
                  <a:txBody>
                    <a:bodyPr/>
                    <a:lstStyle/>
                    <a:p>
                      <a:r>
                        <a:rPr lang="en-US" sz="1600" dirty="0">
                          <a:solidFill>
                            <a:srgbClr val="002060"/>
                          </a:solidFill>
                        </a:rPr>
                        <a:t>Push</a:t>
                      </a:r>
                      <a:r>
                        <a:rPr lang="en-US" sz="1600" baseline="0" dirty="0">
                          <a:solidFill>
                            <a:srgbClr val="002060"/>
                          </a:solidFill>
                        </a:rPr>
                        <a:t> 5</a:t>
                      </a:r>
                      <a:endParaRPr lang="en-US" sz="1600" dirty="0">
                        <a:solidFill>
                          <a:srgbClr val="002060"/>
                        </a:solidFill>
                      </a:endParaRPr>
                    </a:p>
                  </a:txBody>
                  <a:tcPr marT="45727" marB="45727"/>
                </a:tc>
                <a:tc>
                  <a:txBody>
                    <a:bodyPr/>
                    <a:lstStyle/>
                    <a:p>
                      <a:r>
                        <a:rPr lang="en-US" sz="1600" dirty="0">
                          <a:solidFill>
                            <a:srgbClr val="002060"/>
                          </a:solidFill>
                        </a:rPr>
                        <a:t>3 8 1 5</a:t>
                      </a:r>
                      <a:endParaRPr lang="en-US" sz="1600" b="1" dirty="0">
                        <a:solidFill>
                          <a:srgbClr val="002060"/>
                        </a:solidFill>
                      </a:endParaRPr>
                    </a:p>
                  </a:txBody>
                  <a:tcPr marT="45727" marB="45727"/>
                </a:tc>
                <a:extLst>
                  <a:ext uri="{0D108BD9-81ED-4DB2-BD59-A6C34878D82A}">
                    <a16:rowId xmlns:a16="http://schemas.microsoft.com/office/drawing/2014/main" val="10006"/>
                  </a:ext>
                </a:extLst>
              </a:tr>
              <a:tr h="431969">
                <a:tc>
                  <a:txBody>
                    <a:bodyPr/>
                    <a:lstStyle/>
                    <a:p>
                      <a:r>
                        <a:rPr lang="en-US" sz="1600" dirty="0">
                          <a:solidFill>
                            <a:srgbClr val="002060"/>
                          </a:solidFill>
                        </a:rPr>
                        <a:t>-</a:t>
                      </a:r>
                      <a:endParaRPr lang="en-US" sz="1600" b="1" dirty="0">
                        <a:solidFill>
                          <a:srgbClr val="002060"/>
                        </a:solidFill>
                      </a:endParaRPr>
                    </a:p>
                  </a:txBody>
                  <a:tcPr marT="45727" marB="45727"/>
                </a:tc>
                <a:tc>
                  <a:txBody>
                    <a:bodyPr/>
                    <a:lstStyle/>
                    <a:p>
                      <a:r>
                        <a:rPr lang="en-US" sz="1600" dirty="0">
                          <a:solidFill>
                            <a:srgbClr val="002060"/>
                          </a:solidFill>
                        </a:rPr>
                        <a:t>Pop 1,5 </a:t>
                      </a:r>
                      <a:r>
                        <a:rPr lang="en-US" sz="1600" dirty="0">
                          <a:solidFill>
                            <a:srgbClr val="002060"/>
                          </a:solidFill>
                          <a:sym typeface="Wingdings" pitchFamily="2" charset="2"/>
                        </a:rPr>
                        <a:t> </a:t>
                      </a:r>
                      <a:r>
                        <a:rPr lang="en-US" sz="1600" dirty="0" err="1">
                          <a:solidFill>
                            <a:srgbClr val="002060"/>
                          </a:solidFill>
                          <a:sym typeface="Wingdings" pitchFamily="2" charset="2"/>
                        </a:rPr>
                        <a:t>Tính</a:t>
                      </a:r>
                      <a:r>
                        <a:rPr lang="en-US" sz="1600" baseline="0" dirty="0">
                          <a:solidFill>
                            <a:srgbClr val="002060"/>
                          </a:solidFill>
                          <a:sym typeface="Wingdings" pitchFamily="2" charset="2"/>
                        </a:rPr>
                        <a:t> 1-5= -4  Push -4</a:t>
                      </a:r>
                      <a:endParaRPr lang="en-US" sz="1600" dirty="0">
                        <a:solidFill>
                          <a:srgbClr val="002060"/>
                        </a:solidFill>
                      </a:endParaRPr>
                    </a:p>
                  </a:txBody>
                  <a:tcPr marT="45727" marB="45727"/>
                </a:tc>
                <a:tc>
                  <a:txBody>
                    <a:bodyPr/>
                    <a:lstStyle/>
                    <a:p>
                      <a:r>
                        <a:rPr lang="en-US" sz="1600" dirty="0">
                          <a:solidFill>
                            <a:srgbClr val="002060"/>
                          </a:solidFill>
                        </a:rPr>
                        <a:t>3 8 -4</a:t>
                      </a:r>
                      <a:endParaRPr lang="en-US" sz="1600" b="1" dirty="0">
                        <a:solidFill>
                          <a:srgbClr val="002060"/>
                        </a:solidFill>
                      </a:endParaRPr>
                    </a:p>
                  </a:txBody>
                  <a:tcPr marT="45727" marB="45727"/>
                </a:tc>
                <a:extLst>
                  <a:ext uri="{0D108BD9-81ED-4DB2-BD59-A6C34878D82A}">
                    <a16:rowId xmlns:a16="http://schemas.microsoft.com/office/drawing/2014/main" val="10007"/>
                  </a:ext>
                </a:extLst>
              </a:tr>
              <a:tr h="431969">
                <a:tc>
                  <a:txBody>
                    <a:bodyPr/>
                    <a:lstStyle/>
                    <a:p>
                      <a:r>
                        <a:rPr lang="en-US" sz="1600" dirty="0">
                          <a:solidFill>
                            <a:srgbClr val="002060"/>
                          </a:solidFill>
                        </a:rPr>
                        <a:t>/</a:t>
                      </a:r>
                      <a:endParaRPr lang="en-US" sz="1600" b="1" dirty="0">
                        <a:solidFill>
                          <a:srgbClr val="002060"/>
                        </a:solidFill>
                      </a:endParaRPr>
                    </a:p>
                  </a:txBody>
                  <a:tcPr marT="45727" marB="45727"/>
                </a:tc>
                <a:tc>
                  <a:txBody>
                    <a:bodyPr/>
                    <a:lstStyle/>
                    <a:p>
                      <a:r>
                        <a:rPr lang="en-US" sz="1600" dirty="0">
                          <a:solidFill>
                            <a:srgbClr val="002060"/>
                          </a:solidFill>
                        </a:rPr>
                        <a:t>Pop 8,</a:t>
                      </a:r>
                      <a:r>
                        <a:rPr lang="en-US" sz="1600" baseline="0" dirty="0">
                          <a:solidFill>
                            <a:srgbClr val="002060"/>
                          </a:solidFill>
                        </a:rPr>
                        <a:t>-4</a:t>
                      </a:r>
                      <a:r>
                        <a:rPr lang="en-US" sz="1600" baseline="0" dirty="0">
                          <a:solidFill>
                            <a:srgbClr val="002060"/>
                          </a:solidFill>
                          <a:sym typeface="Wingdings" pitchFamily="2" charset="2"/>
                        </a:rPr>
                        <a:t> </a:t>
                      </a:r>
                      <a:r>
                        <a:rPr lang="en-US" sz="1600" baseline="0" dirty="0" err="1">
                          <a:solidFill>
                            <a:srgbClr val="002060"/>
                          </a:solidFill>
                          <a:sym typeface="Wingdings" pitchFamily="2" charset="2"/>
                        </a:rPr>
                        <a:t>Tính</a:t>
                      </a:r>
                      <a:r>
                        <a:rPr lang="en-US" sz="1600" baseline="0" dirty="0">
                          <a:solidFill>
                            <a:srgbClr val="002060"/>
                          </a:solidFill>
                          <a:sym typeface="Wingdings" pitchFamily="2" charset="2"/>
                        </a:rPr>
                        <a:t> 8/(-4) = -2 Push -2</a:t>
                      </a:r>
                      <a:endParaRPr lang="en-US" sz="1600" dirty="0">
                        <a:solidFill>
                          <a:srgbClr val="002060"/>
                        </a:solidFill>
                      </a:endParaRPr>
                    </a:p>
                  </a:txBody>
                  <a:tcPr marT="45727" marB="45727"/>
                </a:tc>
                <a:tc>
                  <a:txBody>
                    <a:bodyPr/>
                    <a:lstStyle/>
                    <a:p>
                      <a:r>
                        <a:rPr lang="en-US" sz="1600" dirty="0">
                          <a:solidFill>
                            <a:srgbClr val="002060"/>
                          </a:solidFill>
                        </a:rPr>
                        <a:t>3 -2</a:t>
                      </a:r>
                      <a:endParaRPr lang="en-US" sz="1600" b="1" dirty="0">
                        <a:solidFill>
                          <a:srgbClr val="002060"/>
                        </a:solidFill>
                      </a:endParaRPr>
                    </a:p>
                  </a:txBody>
                  <a:tcPr marT="45727" marB="45727"/>
                </a:tc>
                <a:extLst>
                  <a:ext uri="{0D108BD9-81ED-4DB2-BD59-A6C34878D82A}">
                    <a16:rowId xmlns:a16="http://schemas.microsoft.com/office/drawing/2014/main" val="10008"/>
                  </a:ext>
                </a:extLst>
              </a:tr>
              <a:tr h="431969">
                <a:tc>
                  <a:txBody>
                    <a:bodyPr/>
                    <a:lstStyle/>
                    <a:p>
                      <a:r>
                        <a:rPr lang="en-US" sz="1600" dirty="0">
                          <a:solidFill>
                            <a:srgbClr val="002060"/>
                          </a:solidFill>
                        </a:rPr>
                        <a:t>+</a:t>
                      </a:r>
                      <a:endParaRPr lang="en-US" sz="1600" b="1" dirty="0">
                        <a:solidFill>
                          <a:srgbClr val="002060"/>
                        </a:solidFill>
                      </a:endParaRPr>
                    </a:p>
                  </a:txBody>
                  <a:tcPr marT="45727" marB="45727"/>
                </a:tc>
                <a:tc>
                  <a:txBody>
                    <a:bodyPr/>
                    <a:lstStyle/>
                    <a:p>
                      <a:r>
                        <a:rPr lang="en-US" sz="1600" dirty="0">
                          <a:solidFill>
                            <a:srgbClr val="002060"/>
                          </a:solidFill>
                        </a:rPr>
                        <a:t>Pop 3,</a:t>
                      </a:r>
                      <a:r>
                        <a:rPr lang="en-US" sz="1600" baseline="0" dirty="0">
                          <a:solidFill>
                            <a:srgbClr val="002060"/>
                          </a:solidFill>
                        </a:rPr>
                        <a:t>-2</a:t>
                      </a:r>
                      <a:r>
                        <a:rPr lang="en-US" sz="1600" baseline="0" dirty="0">
                          <a:solidFill>
                            <a:srgbClr val="002060"/>
                          </a:solidFill>
                          <a:sym typeface="Wingdings" pitchFamily="2" charset="2"/>
                        </a:rPr>
                        <a:t> </a:t>
                      </a:r>
                      <a:r>
                        <a:rPr lang="en-US" sz="1600" baseline="0" dirty="0" err="1">
                          <a:solidFill>
                            <a:srgbClr val="002060"/>
                          </a:solidFill>
                          <a:sym typeface="Wingdings" pitchFamily="2" charset="2"/>
                        </a:rPr>
                        <a:t>Tính</a:t>
                      </a:r>
                      <a:r>
                        <a:rPr lang="en-US" sz="1600" baseline="0" dirty="0">
                          <a:solidFill>
                            <a:srgbClr val="002060"/>
                          </a:solidFill>
                          <a:sym typeface="Wingdings" pitchFamily="2" charset="2"/>
                        </a:rPr>
                        <a:t> 3+(-2) = 1  Push 1</a:t>
                      </a:r>
                      <a:endParaRPr lang="en-US" sz="1600" dirty="0">
                        <a:solidFill>
                          <a:srgbClr val="002060"/>
                        </a:solidFill>
                      </a:endParaRPr>
                    </a:p>
                  </a:txBody>
                  <a:tcPr marT="45727" marB="45727"/>
                </a:tc>
                <a:tc>
                  <a:txBody>
                    <a:bodyPr/>
                    <a:lstStyle/>
                    <a:p>
                      <a:r>
                        <a:rPr lang="en-US" sz="1600" dirty="0">
                          <a:solidFill>
                            <a:srgbClr val="002060"/>
                          </a:solidFill>
                        </a:rPr>
                        <a:t>1</a:t>
                      </a:r>
                      <a:endParaRPr lang="en-US" sz="1600" b="1" dirty="0">
                        <a:solidFill>
                          <a:srgbClr val="002060"/>
                        </a:solidFill>
                      </a:endParaRPr>
                    </a:p>
                  </a:txBody>
                  <a:tcPr marT="45727" marB="45727"/>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821711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C88E4-FAC7-482D-96FB-3006560EB9CE}"/>
              </a:ext>
            </a:extLst>
          </p:cNvPr>
          <p:cNvSpPr>
            <a:spLocks noGrp="1"/>
          </p:cNvSpPr>
          <p:nvPr>
            <p:ph type="title"/>
          </p:nvPr>
        </p:nvSpPr>
        <p:spPr/>
        <p:txBody>
          <a:bodyPr/>
          <a:lstStyle/>
          <a:p>
            <a:r>
              <a:rPr lang="en-US"/>
              <a:t>Bài tập</a:t>
            </a:r>
          </a:p>
        </p:txBody>
      </p:sp>
      <p:sp>
        <p:nvSpPr>
          <p:cNvPr id="3" name="Content Placeholder 2">
            <a:extLst>
              <a:ext uri="{FF2B5EF4-FFF2-40B4-BE49-F238E27FC236}">
                <a16:creationId xmlns:a16="http://schemas.microsoft.com/office/drawing/2014/main" id="{C3617B1A-657B-4021-B332-B99ABD3CEBF9}"/>
              </a:ext>
            </a:extLst>
          </p:cNvPr>
          <p:cNvSpPr>
            <a:spLocks noGrp="1"/>
          </p:cNvSpPr>
          <p:nvPr>
            <p:ph idx="1"/>
          </p:nvPr>
        </p:nvSpPr>
        <p:spPr/>
        <p:txBody>
          <a:bodyPr/>
          <a:lstStyle/>
          <a:p>
            <a:pPr marL="457200" indent="-457200">
              <a:buFont typeface="+mj-lt"/>
              <a:buAutoNum type="arabicPeriod"/>
            </a:pPr>
            <a:r>
              <a:rPr lang="en-US" altLang="en-US"/>
              <a:t>Biểu diễn từng bước quá trình tìm biểu thức hậu tố của biểu thức trung tố 3-2*(10-6*(4+1))-2.</a:t>
            </a:r>
          </a:p>
          <a:p>
            <a:pPr marL="457200" indent="-457200">
              <a:buFont typeface="+mj-lt"/>
              <a:buAutoNum type="arabicPeriod"/>
            </a:pPr>
            <a:r>
              <a:rPr lang="en-US" altLang="en-US"/>
              <a:t>Biểu diễn từng bước quá trình tính giá trị của biểu thức hậu tố trên.</a:t>
            </a:r>
          </a:p>
          <a:p>
            <a:endParaRPr lang="en-US"/>
          </a:p>
        </p:txBody>
      </p:sp>
      <p:sp>
        <p:nvSpPr>
          <p:cNvPr id="4" name="Footer Placeholder 3">
            <a:extLst>
              <a:ext uri="{FF2B5EF4-FFF2-40B4-BE49-F238E27FC236}">
                <a16:creationId xmlns:a16="http://schemas.microsoft.com/office/drawing/2014/main" id="{C715CAE6-EE14-4043-B6A0-87A84FEBE85E}"/>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6CD3C578-613B-4449-A2C5-59A997AFEDC2}"/>
              </a:ext>
            </a:extLst>
          </p:cNvPr>
          <p:cNvSpPr>
            <a:spLocks noGrp="1"/>
          </p:cNvSpPr>
          <p:nvPr>
            <p:ph type="dt" sz="half" idx="10"/>
          </p:nvPr>
        </p:nvSpPr>
        <p:spPr/>
        <p:txBody>
          <a:bodyPr/>
          <a:lstStyle/>
          <a:p>
            <a:fld id="{A31C3DFC-FA8D-4C71-A105-3FFE54ADD2D5}" type="datetime1">
              <a:rPr lang="en-US" smtClean="0"/>
              <a:pPr/>
              <a:t>5/29/2021</a:t>
            </a:fld>
            <a:endParaRPr lang="en-US"/>
          </a:p>
        </p:txBody>
      </p:sp>
      <p:sp>
        <p:nvSpPr>
          <p:cNvPr id="6" name="Slide Number Placeholder 5">
            <a:extLst>
              <a:ext uri="{FF2B5EF4-FFF2-40B4-BE49-F238E27FC236}">
                <a16:creationId xmlns:a16="http://schemas.microsoft.com/office/drawing/2014/main" id="{1EEFEA56-0146-4E8E-B14F-76778899F3C3}"/>
              </a:ext>
            </a:extLst>
          </p:cNvPr>
          <p:cNvSpPr>
            <a:spLocks noGrp="1"/>
          </p:cNvSpPr>
          <p:nvPr>
            <p:ph type="sldNum" sz="quarter" idx="12"/>
          </p:nvPr>
        </p:nvSpPr>
        <p:spPr/>
        <p:txBody>
          <a:bodyPr/>
          <a:lstStyle/>
          <a:p>
            <a:fld id="{21782F98-F548-4E33-958E-D2A6C4BA8EFA}" type="slidenum">
              <a:rPr lang="en-US" smtClean="0"/>
              <a:pPr/>
              <a:t>31</a:t>
            </a:fld>
            <a:endParaRPr lang="en-US"/>
          </a:p>
        </p:txBody>
      </p:sp>
    </p:spTree>
    <p:extLst>
      <p:ext uri="{BB962C8B-B14F-4D97-AF65-F5344CB8AC3E}">
        <p14:creationId xmlns:p14="http://schemas.microsoft.com/office/powerpoint/2010/main" val="11829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3DA867-87AE-4E06-BCBE-F32E273922B7}"/>
              </a:ext>
            </a:extLst>
          </p:cNvPr>
          <p:cNvPicPr>
            <a:picLocks noChangeAspect="1"/>
          </p:cNvPicPr>
          <p:nvPr/>
        </p:nvPicPr>
        <p:blipFill>
          <a:blip r:embed="rId3"/>
          <a:stretch>
            <a:fillRect/>
          </a:stretch>
        </p:blipFill>
        <p:spPr>
          <a:xfrm>
            <a:off x="3059621" y="1371600"/>
            <a:ext cx="6072759" cy="3771900"/>
          </a:xfrm>
          <a:prstGeom prst="rect">
            <a:avLst/>
          </a:prstGeom>
        </p:spPr>
      </p:pic>
    </p:spTree>
    <p:extLst>
      <p:ext uri="{BB962C8B-B14F-4D97-AF65-F5344CB8AC3E}">
        <p14:creationId xmlns:p14="http://schemas.microsoft.com/office/powerpoint/2010/main" val="3521731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EDEAA-A733-4085-AC70-6F3D5FDCBF5A}"/>
              </a:ext>
            </a:extLst>
          </p:cNvPr>
          <p:cNvSpPr>
            <a:spLocks noGrp="1"/>
          </p:cNvSpPr>
          <p:nvPr>
            <p:ph type="title"/>
          </p:nvPr>
        </p:nvSpPr>
        <p:spPr/>
        <p:txBody>
          <a:bodyPr/>
          <a:lstStyle/>
          <a:p>
            <a:r>
              <a:rPr lang="en-US" altLang="en-US">
                <a:sym typeface="Wingdings" panose="05000000000000000000" pitchFamily="2" charset="2"/>
              </a:rPr>
              <a:t>Tính giá trị biểu thức </a:t>
            </a:r>
            <a:r>
              <a:rPr lang="en-US"/>
              <a:t>20 6 + 4 - 5 *</a:t>
            </a:r>
          </a:p>
        </p:txBody>
      </p:sp>
      <p:sp>
        <p:nvSpPr>
          <p:cNvPr id="3" name="Content Placeholder 2">
            <a:extLst>
              <a:ext uri="{FF2B5EF4-FFF2-40B4-BE49-F238E27FC236}">
                <a16:creationId xmlns:a16="http://schemas.microsoft.com/office/drawing/2014/main" id="{D9094B7D-663D-4CF0-ACD1-52143D240480}"/>
              </a:ext>
            </a:extLst>
          </p:cNvPr>
          <p:cNvSpPr>
            <a:spLocks noGrp="1"/>
          </p:cNvSpPr>
          <p:nvPr>
            <p:ph idx="1"/>
          </p:nvPr>
        </p:nvSpPr>
        <p:spPr>
          <a:xfrm>
            <a:off x="1219200" y="1600200"/>
            <a:ext cx="4876799" cy="4572000"/>
          </a:xfrm>
        </p:spPr>
        <p:txBody>
          <a:bodyPr>
            <a:normAutofit fontScale="92500" lnSpcReduction="10000"/>
          </a:bodyPr>
          <a:lstStyle/>
          <a:p>
            <a:pPr>
              <a:defRPr/>
            </a:pPr>
            <a:r>
              <a:rPr lang="en-US" altLang="en-US"/>
              <a:t>Đ</a:t>
            </a:r>
            <a:r>
              <a:rPr lang="vi-VN"/>
              <a:t>ọc từng token trong biểu thức </a:t>
            </a:r>
            <a:r>
              <a:rPr lang="en-US"/>
              <a:t>hậu tố</a:t>
            </a:r>
            <a:r>
              <a:rPr lang="vi-VN"/>
              <a:t> từ trái qua phải:</a:t>
            </a:r>
            <a:endParaRPr lang="vi-VN" altLang="en-US"/>
          </a:p>
          <a:p>
            <a:pPr lvl="1">
              <a:defRPr/>
            </a:pPr>
            <a:r>
              <a:rPr lang="en-US" altLang="en-US"/>
              <a:t>N</a:t>
            </a:r>
            <a:r>
              <a:rPr lang="vi-VN" altLang="en-US"/>
              <a:t>ếu gặp toán hạng (số hoặc biến) thì push toán hạng này vào </a:t>
            </a:r>
            <a:r>
              <a:rPr lang="en-US" altLang="en-US"/>
              <a:t>stack.</a:t>
            </a:r>
          </a:p>
          <a:p>
            <a:pPr lvl="1">
              <a:defRPr/>
            </a:pPr>
            <a:r>
              <a:rPr lang="en-US" altLang="en-US"/>
              <a:t>N</a:t>
            </a:r>
            <a:r>
              <a:rPr lang="vi-VN" altLang="en-US"/>
              <a:t>ếu gặp toán tử</a:t>
            </a:r>
            <a:r>
              <a:rPr lang="en-US" altLang="en-US"/>
              <a:t> “+-*/”</a:t>
            </a:r>
            <a:r>
              <a:rPr lang="vi-VN" altLang="en-US"/>
              <a:t>, lấy </a:t>
            </a:r>
            <a:r>
              <a:rPr lang="en-US" altLang="en-US"/>
              <a:t>2</a:t>
            </a:r>
            <a:r>
              <a:rPr lang="vi-VN" altLang="en-US"/>
              <a:t> toán hạng ra khỏi </a:t>
            </a:r>
            <a:r>
              <a:rPr lang="en-US" altLang="en-US"/>
              <a:t>s</a:t>
            </a:r>
            <a:r>
              <a:rPr lang="vi-VN" altLang="en-US"/>
              <a:t>tack, tính kết quả</a:t>
            </a:r>
            <a:r>
              <a:rPr lang="en-US" altLang="en-US"/>
              <a:t> </a:t>
            </a:r>
            <a:r>
              <a:rPr lang="en-US" altLang="en-US">
                <a:sym typeface="Wingdings" panose="05000000000000000000" pitchFamily="2" charset="2"/>
              </a:rPr>
              <a:t> </a:t>
            </a:r>
            <a:r>
              <a:rPr lang="vi-VN" altLang="en-US"/>
              <a:t>đẩy kết quả trở lại </a:t>
            </a:r>
            <a:r>
              <a:rPr lang="en-US" altLang="en-US"/>
              <a:t>stack</a:t>
            </a:r>
            <a:r>
              <a:rPr lang="vi-VN" altLang="en-US"/>
              <a:t>.</a:t>
            </a:r>
            <a:endParaRPr lang="en-US" altLang="en-US"/>
          </a:p>
          <a:p>
            <a:pPr lvl="1">
              <a:defRPr/>
            </a:pPr>
            <a:r>
              <a:rPr lang="vi-VN" altLang="en-US"/>
              <a:t>Khi quá trình kết thúc thì con số cuối cùng còn lại trong </a:t>
            </a:r>
            <a:r>
              <a:rPr lang="en-US" altLang="en-US"/>
              <a:t>stack </a:t>
            </a:r>
            <a:r>
              <a:rPr lang="vi-VN" altLang="en-US"/>
              <a:t>chính là giá trị của biểu thức đó.</a:t>
            </a:r>
          </a:p>
          <a:p>
            <a:endParaRPr lang="en-US"/>
          </a:p>
        </p:txBody>
      </p:sp>
      <p:sp>
        <p:nvSpPr>
          <p:cNvPr id="4" name="Footer Placeholder 3">
            <a:extLst>
              <a:ext uri="{FF2B5EF4-FFF2-40B4-BE49-F238E27FC236}">
                <a16:creationId xmlns:a16="http://schemas.microsoft.com/office/drawing/2014/main" id="{1B1CE795-1853-4DBB-ADC0-E6BA656125A0}"/>
              </a:ext>
            </a:extLst>
          </p:cNvPr>
          <p:cNvSpPr>
            <a:spLocks noGrp="1"/>
          </p:cNvSpPr>
          <p:nvPr>
            <p:ph type="ftr" sz="quarter" idx="11"/>
          </p:nvPr>
        </p:nvSpPr>
        <p:spPr/>
        <p:txBody>
          <a:bodyPr/>
          <a:lstStyle/>
          <a:p>
            <a:r>
              <a:rPr lang="en-US"/>
              <a:t>Cấu Trúc Dữ Liệu &amp; Giải Thuật (Data Structures &amp; Algorithms) - Danh Sách (List)</a:t>
            </a:r>
          </a:p>
        </p:txBody>
      </p:sp>
      <p:sp>
        <p:nvSpPr>
          <p:cNvPr id="5" name="Date Placeholder 4">
            <a:extLst>
              <a:ext uri="{FF2B5EF4-FFF2-40B4-BE49-F238E27FC236}">
                <a16:creationId xmlns:a16="http://schemas.microsoft.com/office/drawing/2014/main" id="{8A47748E-284F-4214-95F5-75C578F7B1DE}"/>
              </a:ext>
            </a:extLst>
          </p:cNvPr>
          <p:cNvSpPr>
            <a:spLocks noGrp="1"/>
          </p:cNvSpPr>
          <p:nvPr>
            <p:ph type="dt" sz="half" idx="10"/>
          </p:nvPr>
        </p:nvSpPr>
        <p:spPr/>
        <p:txBody>
          <a:bodyPr/>
          <a:lstStyle/>
          <a:p>
            <a:fld id="{A31C3DFC-FA8D-4C71-A105-3FFE54ADD2D5}" type="datetime1">
              <a:rPr lang="en-US" smtClean="0"/>
              <a:t>5/29/2021</a:t>
            </a:fld>
            <a:endParaRPr lang="en-US"/>
          </a:p>
        </p:txBody>
      </p:sp>
      <p:sp>
        <p:nvSpPr>
          <p:cNvPr id="6" name="Slide Number Placeholder 5">
            <a:extLst>
              <a:ext uri="{FF2B5EF4-FFF2-40B4-BE49-F238E27FC236}">
                <a16:creationId xmlns:a16="http://schemas.microsoft.com/office/drawing/2014/main" id="{F1B80F9C-DD28-4BF3-BA91-854D7B42FD6D}"/>
              </a:ext>
            </a:extLst>
          </p:cNvPr>
          <p:cNvSpPr>
            <a:spLocks noGrp="1"/>
          </p:cNvSpPr>
          <p:nvPr>
            <p:ph type="sldNum" sz="quarter" idx="12"/>
          </p:nvPr>
        </p:nvSpPr>
        <p:spPr/>
        <p:txBody>
          <a:bodyPr/>
          <a:lstStyle/>
          <a:p>
            <a:fld id="{21782F98-F548-4E33-958E-D2A6C4BA8EFA}" type="slidenum">
              <a:rPr lang="en-US" smtClean="0"/>
              <a:t>33</a:t>
            </a:fld>
            <a:endParaRPr lang="en-US"/>
          </a:p>
        </p:txBody>
      </p:sp>
      <p:graphicFrame>
        <p:nvGraphicFramePr>
          <p:cNvPr id="8" name="Table 7">
            <a:extLst>
              <a:ext uri="{FF2B5EF4-FFF2-40B4-BE49-F238E27FC236}">
                <a16:creationId xmlns:a16="http://schemas.microsoft.com/office/drawing/2014/main" id="{E013EBB9-F966-4E58-94E3-5DE4F9D6105F}"/>
              </a:ext>
            </a:extLst>
          </p:cNvPr>
          <p:cNvGraphicFramePr>
            <a:graphicFrameLocks noGrp="1"/>
          </p:cNvGraphicFramePr>
          <p:nvPr>
            <p:extLst>
              <p:ext uri="{D42A27DB-BD31-4B8C-83A1-F6EECF244321}">
                <p14:modId xmlns:p14="http://schemas.microsoft.com/office/powerpoint/2010/main" val="3750936113"/>
              </p:ext>
            </p:extLst>
          </p:nvPr>
        </p:nvGraphicFramePr>
        <p:xfrm>
          <a:off x="6095999" y="1724025"/>
          <a:ext cx="5791199" cy="3922549"/>
        </p:xfrm>
        <a:graphic>
          <a:graphicData uri="http://schemas.openxmlformats.org/drawingml/2006/table">
            <a:tbl>
              <a:tblPr firstRow="1" bandRow="1">
                <a:tableStyleId>{9DCAF9ED-07DC-4A11-8D7F-57B35C25682E}</a:tableStyleId>
              </a:tblPr>
              <a:tblGrid>
                <a:gridCol w="987136">
                  <a:extLst>
                    <a:ext uri="{9D8B030D-6E8A-4147-A177-3AD203B41FA5}">
                      <a16:colId xmlns:a16="http://schemas.microsoft.com/office/drawing/2014/main" val="20000"/>
                    </a:ext>
                  </a:extLst>
                </a:gridCol>
                <a:gridCol w="3487881">
                  <a:extLst>
                    <a:ext uri="{9D8B030D-6E8A-4147-A177-3AD203B41FA5}">
                      <a16:colId xmlns:a16="http://schemas.microsoft.com/office/drawing/2014/main" val="20001"/>
                    </a:ext>
                  </a:extLst>
                </a:gridCol>
                <a:gridCol w="1316182">
                  <a:extLst>
                    <a:ext uri="{9D8B030D-6E8A-4147-A177-3AD203B41FA5}">
                      <a16:colId xmlns:a16="http://schemas.microsoft.com/office/drawing/2014/main" val="20002"/>
                    </a:ext>
                  </a:extLst>
                </a:gridCol>
              </a:tblGrid>
              <a:tr h="457271">
                <a:tc>
                  <a:txBody>
                    <a:bodyPr/>
                    <a:lstStyle/>
                    <a:p>
                      <a:pPr algn="l"/>
                      <a:r>
                        <a:rPr lang="en-US" sz="1600" dirty="0" err="1">
                          <a:solidFill>
                            <a:srgbClr val="002060"/>
                          </a:solidFill>
                        </a:rPr>
                        <a:t>Duyệt</a:t>
                      </a:r>
                      <a:endParaRPr lang="en-US" sz="1600" dirty="0">
                        <a:solidFill>
                          <a:srgbClr val="002060"/>
                        </a:solidFill>
                      </a:endParaRPr>
                    </a:p>
                  </a:txBody>
                  <a:tcPr marT="45727" marB="45727"/>
                </a:tc>
                <a:tc>
                  <a:txBody>
                    <a:bodyPr/>
                    <a:lstStyle/>
                    <a:p>
                      <a:pPr algn="l"/>
                      <a:r>
                        <a:rPr lang="en-US" sz="1600" dirty="0">
                          <a:solidFill>
                            <a:srgbClr val="002060"/>
                          </a:solidFill>
                        </a:rPr>
                        <a:t>Thao </a:t>
                      </a:r>
                      <a:r>
                        <a:rPr lang="en-US" sz="1600" dirty="0" err="1">
                          <a:solidFill>
                            <a:srgbClr val="002060"/>
                          </a:solidFill>
                        </a:rPr>
                        <a:t>tác</a:t>
                      </a:r>
                      <a:endParaRPr lang="en-US" sz="1600" dirty="0">
                        <a:solidFill>
                          <a:srgbClr val="002060"/>
                        </a:solidFill>
                      </a:endParaRPr>
                    </a:p>
                  </a:txBody>
                  <a:tcPr marT="45727" marB="45727"/>
                </a:tc>
                <a:tc>
                  <a:txBody>
                    <a:bodyPr/>
                    <a:lstStyle/>
                    <a:p>
                      <a:pPr algn="l"/>
                      <a:r>
                        <a:rPr lang="en-US" sz="1600" dirty="0">
                          <a:solidFill>
                            <a:srgbClr val="002060"/>
                          </a:solidFill>
                        </a:rPr>
                        <a:t>Stack</a:t>
                      </a:r>
                    </a:p>
                  </a:txBody>
                  <a:tcPr marT="45727" marB="45727"/>
                </a:tc>
                <a:extLst>
                  <a:ext uri="{0D108BD9-81ED-4DB2-BD59-A6C34878D82A}">
                    <a16:rowId xmlns:a16="http://schemas.microsoft.com/office/drawing/2014/main" val="10000"/>
                  </a:ext>
                </a:extLst>
              </a:tr>
              <a:tr h="431969">
                <a:tc>
                  <a:txBody>
                    <a:bodyPr/>
                    <a:lstStyle/>
                    <a:p>
                      <a:r>
                        <a:rPr lang="en-US" sz="1600">
                          <a:solidFill>
                            <a:srgbClr val="002060"/>
                          </a:solidFill>
                        </a:rPr>
                        <a:t>20</a:t>
                      </a:r>
                      <a:endParaRPr lang="en-US" sz="1600" b="1" dirty="0">
                        <a:solidFill>
                          <a:srgbClr val="002060"/>
                        </a:solidFill>
                      </a:endParaRPr>
                    </a:p>
                  </a:txBody>
                  <a:tcPr marT="45727" marB="45727"/>
                </a:tc>
                <a:tc>
                  <a:txBody>
                    <a:bodyPr/>
                    <a:lstStyle/>
                    <a:p>
                      <a:r>
                        <a:rPr lang="en-US" sz="1600">
                          <a:solidFill>
                            <a:srgbClr val="002060"/>
                          </a:solidFill>
                        </a:rPr>
                        <a:t>Push</a:t>
                      </a:r>
                      <a:r>
                        <a:rPr lang="en-US" sz="1600" baseline="0">
                          <a:solidFill>
                            <a:srgbClr val="002060"/>
                          </a:solidFill>
                        </a:rPr>
                        <a:t> 20</a:t>
                      </a:r>
                      <a:endParaRPr lang="en-US" sz="1600" dirty="0">
                        <a:solidFill>
                          <a:srgbClr val="002060"/>
                        </a:solidFill>
                      </a:endParaRPr>
                    </a:p>
                  </a:txBody>
                  <a:tcPr marT="45727" marB="45727"/>
                </a:tc>
                <a:tc>
                  <a:txBody>
                    <a:bodyPr/>
                    <a:lstStyle/>
                    <a:p>
                      <a:r>
                        <a:rPr lang="en-US" sz="1600">
                          <a:solidFill>
                            <a:srgbClr val="002060"/>
                          </a:solidFill>
                        </a:rPr>
                        <a:t>20</a:t>
                      </a:r>
                      <a:endParaRPr lang="en-US" sz="1600" b="1" dirty="0">
                        <a:solidFill>
                          <a:srgbClr val="002060"/>
                        </a:solidFill>
                      </a:endParaRPr>
                    </a:p>
                  </a:txBody>
                  <a:tcPr marT="45727" marB="45727"/>
                </a:tc>
                <a:extLst>
                  <a:ext uri="{0D108BD9-81ED-4DB2-BD59-A6C34878D82A}">
                    <a16:rowId xmlns:a16="http://schemas.microsoft.com/office/drawing/2014/main" val="10001"/>
                  </a:ext>
                </a:extLst>
              </a:tr>
              <a:tr h="431969">
                <a:tc>
                  <a:txBody>
                    <a:bodyPr/>
                    <a:lstStyle/>
                    <a:p>
                      <a:r>
                        <a:rPr lang="en-US" sz="1600">
                          <a:solidFill>
                            <a:srgbClr val="002060"/>
                          </a:solidFill>
                        </a:rPr>
                        <a:t>6</a:t>
                      </a:r>
                      <a:endParaRPr lang="en-US" sz="1600" b="1" dirty="0">
                        <a:solidFill>
                          <a:srgbClr val="002060"/>
                        </a:solidFill>
                      </a:endParaRPr>
                    </a:p>
                  </a:txBody>
                  <a:tcPr marT="45727" marB="45727"/>
                </a:tc>
                <a:tc>
                  <a:txBody>
                    <a:bodyPr/>
                    <a:lstStyle/>
                    <a:p>
                      <a:r>
                        <a:rPr lang="en-US" sz="1600">
                          <a:solidFill>
                            <a:srgbClr val="002060"/>
                          </a:solidFill>
                        </a:rPr>
                        <a:t>Push</a:t>
                      </a:r>
                      <a:r>
                        <a:rPr lang="en-US" sz="1600" baseline="0">
                          <a:solidFill>
                            <a:srgbClr val="002060"/>
                          </a:solidFill>
                        </a:rPr>
                        <a:t> 6</a:t>
                      </a:r>
                      <a:endParaRPr lang="en-US" sz="1600" dirty="0">
                        <a:solidFill>
                          <a:srgbClr val="002060"/>
                        </a:solidFill>
                      </a:endParaRPr>
                    </a:p>
                  </a:txBody>
                  <a:tcPr marT="45727" marB="45727"/>
                </a:tc>
                <a:tc>
                  <a:txBody>
                    <a:bodyPr/>
                    <a:lstStyle/>
                    <a:p>
                      <a:r>
                        <a:rPr lang="en-US" sz="1600">
                          <a:solidFill>
                            <a:srgbClr val="002060"/>
                          </a:solidFill>
                        </a:rPr>
                        <a:t>20 6</a:t>
                      </a:r>
                      <a:endParaRPr lang="en-US" sz="1600" b="1" dirty="0">
                        <a:solidFill>
                          <a:srgbClr val="002060"/>
                        </a:solidFill>
                      </a:endParaRPr>
                    </a:p>
                  </a:txBody>
                  <a:tcPr marT="45727" marB="45727"/>
                </a:tc>
                <a:extLst>
                  <a:ext uri="{0D108BD9-81ED-4DB2-BD59-A6C34878D82A}">
                    <a16:rowId xmlns:a16="http://schemas.microsoft.com/office/drawing/2014/main" val="10002"/>
                  </a:ext>
                </a:extLst>
              </a:tr>
              <a:tr h="431969">
                <a:tc>
                  <a:txBody>
                    <a:bodyPr/>
                    <a:lstStyle/>
                    <a:p>
                      <a:r>
                        <a:rPr lang="en-US" sz="1600">
                          <a:solidFill>
                            <a:srgbClr val="002060"/>
                          </a:solidFill>
                        </a:rPr>
                        <a:t>+</a:t>
                      </a:r>
                      <a:endParaRPr lang="en-US" sz="1600" b="1" dirty="0">
                        <a:solidFill>
                          <a:srgbClr val="002060"/>
                        </a:solidFill>
                      </a:endParaRPr>
                    </a:p>
                  </a:txBody>
                  <a:tcPr marT="45727" marB="45727"/>
                </a:tc>
                <a:tc>
                  <a:txBody>
                    <a:bodyPr/>
                    <a:lstStyle/>
                    <a:p>
                      <a:r>
                        <a:rPr lang="en-US" sz="1600">
                          <a:solidFill>
                            <a:srgbClr val="002060"/>
                          </a:solidFill>
                        </a:rPr>
                        <a:t>Pop 20, 6 </a:t>
                      </a:r>
                      <a:r>
                        <a:rPr lang="en-US" sz="1600">
                          <a:solidFill>
                            <a:srgbClr val="002060"/>
                          </a:solidFill>
                          <a:sym typeface="Wingdings" pitchFamily="2" charset="2"/>
                        </a:rPr>
                        <a:t></a:t>
                      </a:r>
                      <a:r>
                        <a:rPr lang="en-US" sz="1600">
                          <a:solidFill>
                            <a:srgbClr val="002060"/>
                          </a:solidFill>
                        </a:rPr>
                        <a:t> </a:t>
                      </a:r>
                      <a:r>
                        <a:rPr lang="en-US" sz="1600" err="1">
                          <a:solidFill>
                            <a:srgbClr val="002060"/>
                          </a:solidFill>
                        </a:rPr>
                        <a:t>Tính</a:t>
                      </a:r>
                      <a:r>
                        <a:rPr lang="en-US" sz="1600" baseline="0">
                          <a:solidFill>
                            <a:srgbClr val="002060"/>
                          </a:solidFill>
                        </a:rPr>
                        <a:t> 20+6 = 26 </a:t>
                      </a:r>
                      <a:r>
                        <a:rPr lang="en-US" sz="1600" baseline="0" dirty="0">
                          <a:solidFill>
                            <a:srgbClr val="002060"/>
                          </a:solidFill>
                          <a:sym typeface="Wingdings" pitchFamily="2" charset="2"/>
                        </a:rPr>
                        <a:t> </a:t>
                      </a:r>
                      <a:r>
                        <a:rPr lang="en-US" sz="1600" baseline="0">
                          <a:solidFill>
                            <a:srgbClr val="002060"/>
                          </a:solidFill>
                          <a:sym typeface="Wingdings" pitchFamily="2" charset="2"/>
                        </a:rPr>
                        <a:t>Push 26 </a:t>
                      </a:r>
                      <a:endParaRPr lang="en-US" sz="1600" dirty="0">
                        <a:solidFill>
                          <a:srgbClr val="002060"/>
                        </a:solidFill>
                      </a:endParaRPr>
                    </a:p>
                  </a:txBody>
                  <a:tcPr marT="45727" marB="45727"/>
                </a:tc>
                <a:tc>
                  <a:txBody>
                    <a:bodyPr/>
                    <a:lstStyle/>
                    <a:p>
                      <a:r>
                        <a:rPr lang="en-US" sz="1600" b="1">
                          <a:solidFill>
                            <a:srgbClr val="002060"/>
                          </a:solidFill>
                        </a:rPr>
                        <a:t>26</a:t>
                      </a:r>
                      <a:endParaRPr lang="en-US" sz="1600" b="1" dirty="0">
                        <a:solidFill>
                          <a:srgbClr val="002060"/>
                        </a:solidFill>
                      </a:endParaRPr>
                    </a:p>
                  </a:txBody>
                  <a:tcPr marT="45727" marB="45727"/>
                </a:tc>
                <a:extLst>
                  <a:ext uri="{0D108BD9-81ED-4DB2-BD59-A6C34878D82A}">
                    <a16:rowId xmlns:a16="http://schemas.microsoft.com/office/drawing/2014/main" val="10004"/>
                  </a:ext>
                </a:extLst>
              </a:tr>
              <a:tr h="431969">
                <a:tc>
                  <a:txBody>
                    <a:bodyPr/>
                    <a:lstStyle/>
                    <a:p>
                      <a:r>
                        <a:rPr lang="en-US" sz="1600" b="1" dirty="0">
                          <a:solidFill>
                            <a:srgbClr val="002060"/>
                          </a:solidFill>
                        </a:rPr>
                        <a:t>4</a:t>
                      </a:r>
                    </a:p>
                  </a:txBody>
                  <a:tcPr marT="45727" marB="45727"/>
                </a:tc>
                <a:tc>
                  <a:txBody>
                    <a:bodyPr/>
                    <a:lstStyle/>
                    <a:p>
                      <a:r>
                        <a:rPr lang="en-US" sz="1600">
                          <a:solidFill>
                            <a:srgbClr val="002060"/>
                          </a:solidFill>
                        </a:rPr>
                        <a:t>Push</a:t>
                      </a:r>
                      <a:r>
                        <a:rPr lang="en-US" sz="1600" baseline="0">
                          <a:solidFill>
                            <a:srgbClr val="002060"/>
                          </a:solidFill>
                        </a:rPr>
                        <a:t> 4</a:t>
                      </a:r>
                      <a:endParaRPr lang="en-US" sz="1600" dirty="0">
                        <a:solidFill>
                          <a:srgbClr val="002060"/>
                        </a:solidFill>
                      </a:endParaRPr>
                    </a:p>
                  </a:txBody>
                  <a:tcPr marT="45727" marB="45727"/>
                </a:tc>
                <a:tc>
                  <a:txBody>
                    <a:bodyPr/>
                    <a:lstStyle/>
                    <a:p>
                      <a:r>
                        <a:rPr lang="en-US" sz="1600">
                          <a:solidFill>
                            <a:srgbClr val="002060"/>
                          </a:solidFill>
                        </a:rPr>
                        <a:t>26 4</a:t>
                      </a:r>
                      <a:endParaRPr lang="en-US" sz="1600" b="1" dirty="0">
                        <a:solidFill>
                          <a:srgbClr val="002060"/>
                        </a:solidFill>
                      </a:endParaRPr>
                    </a:p>
                  </a:txBody>
                  <a:tcPr marT="45727" marB="45727"/>
                </a:tc>
                <a:extLst>
                  <a:ext uri="{0D108BD9-81ED-4DB2-BD59-A6C34878D82A}">
                    <a16:rowId xmlns:a16="http://schemas.microsoft.com/office/drawing/2014/main" val="10005"/>
                  </a:ext>
                </a:extLst>
              </a:tr>
              <a:tr h="431969">
                <a:tc>
                  <a:txBody>
                    <a:bodyPr/>
                    <a:lstStyle/>
                    <a:p>
                      <a:r>
                        <a:rPr lang="en-US" sz="1600" dirty="0">
                          <a:solidFill>
                            <a:srgbClr val="002060"/>
                          </a:solidFill>
                        </a:rPr>
                        <a:t>-</a:t>
                      </a:r>
                      <a:endParaRPr lang="en-US" sz="1600" b="1" dirty="0">
                        <a:solidFill>
                          <a:srgbClr val="002060"/>
                        </a:solidFill>
                      </a:endParaRPr>
                    </a:p>
                  </a:txBody>
                  <a:tcPr marT="45727" marB="45727"/>
                </a:tc>
                <a:tc>
                  <a:txBody>
                    <a:bodyPr/>
                    <a:lstStyle/>
                    <a:p>
                      <a:r>
                        <a:rPr lang="en-US" sz="1600">
                          <a:solidFill>
                            <a:srgbClr val="002060"/>
                          </a:solidFill>
                        </a:rPr>
                        <a:t>Pop 26, 4 </a:t>
                      </a:r>
                      <a:r>
                        <a:rPr lang="en-US" sz="1600">
                          <a:solidFill>
                            <a:srgbClr val="002060"/>
                          </a:solidFill>
                          <a:sym typeface="Wingdings" pitchFamily="2" charset="2"/>
                        </a:rPr>
                        <a:t> </a:t>
                      </a:r>
                      <a:r>
                        <a:rPr lang="en-US" sz="1600" err="1">
                          <a:solidFill>
                            <a:srgbClr val="002060"/>
                          </a:solidFill>
                          <a:sym typeface="Wingdings" pitchFamily="2" charset="2"/>
                        </a:rPr>
                        <a:t>Tính</a:t>
                      </a:r>
                      <a:r>
                        <a:rPr lang="en-US" sz="1600" baseline="0">
                          <a:solidFill>
                            <a:srgbClr val="002060"/>
                          </a:solidFill>
                          <a:sym typeface="Wingdings" pitchFamily="2" charset="2"/>
                        </a:rPr>
                        <a:t> 26 – 4 = 22 </a:t>
                      </a:r>
                      <a:r>
                        <a:rPr lang="en-US" sz="1600" baseline="0" dirty="0">
                          <a:solidFill>
                            <a:srgbClr val="002060"/>
                          </a:solidFill>
                          <a:sym typeface="Wingdings" pitchFamily="2" charset="2"/>
                        </a:rPr>
                        <a:t> </a:t>
                      </a:r>
                      <a:r>
                        <a:rPr lang="en-US" sz="1600" baseline="0">
                          <a:solidFill>
                            <a:srgbClr val="002060"/>
                          </a:solidFill>
                          <a:sym typeface="Wingdings" pitchFamily="2" charset="2"/>
                        </a:rPr>
                        <a:t>Push 22</a:t>
                      </a:r>
                      <a:endParaRPr lang="en-US" sz="1600" dirty="0">
                        <a:solidFill>
                          <a:srgbClr val="002060"/>
                        </a:solidFill>
                      </a:endParaRPr>
                    </a:p>
                  </a:txBody>
                  <a:tcPr marT="45727" marB="45727"/>
                </a:tc>
                <a:tc>
                  <a:txBody>
                    <a:bodyPr/>
                    <a:lstStyle/>
                    <a:p>
                      <a:r>
                        <a:rPr lang="en-US" sz="1600" b="1">
                          <a:solidFill>
                            <a:srgbClr val="002060"/>
                          </a:solidFill>
                        </a:rPr>
                        <a:t>22</a:t>
                      </a:r>
                      <a:endParaRPr lang="en-US" sz="1600" b="1" dirty="0">
                        <a:solidFill>
                          <a:srgbClr val="002060"/>
                        </a:solidFill>
                      </a:endParaRPr>
                    </a:p>
                  </a:txBody>
                  <a:tcPr marT="45727" marB="45727"/>
                </a:tc>
                <a:extLst>
                  <a:ext uri="{0D108BD9-81ED-4DB2-BD59-A6C34878D82A}">
                    <a16:rowId xmlns:a16="http://schemas.microsoft.com/office/drawing/2014/main" val="10007"/>
                  </a:ext>
                </a:extLst>
              </a:tr>
              <a:tr h="431969">
                <a:tc>
                  <a:txBody>
                    <a:bodyPr/>
                    <a:lstStyle/>
                    <a:p>
                      <a:r>
                        <a:rPr lang="en-US" sz="1600" b="1" dirty="0">
                          <a:solidFill>
                            <a:srgbClr val="002060"/>
                          </a:solidFill>
                        </a:rPr>
                        <a:t>5</a:t>
                      </a:r>
                    </a:p>
                  </a:txBody>
                  <a:tcPr marT="45727" marB="45727"/>
                </a:tc>
                <a:tc>
                  <a: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sz="1600">
                          <a:solidFill>
                            <a:srgbClr val="002060"/>
                          </a:solidFill>
                        </a:rPr>
                        <a:t>Push</a:t>
                      </a:r>
                      <a:r>
                        <a:rPr lang="en-US" sz="1600" baseline="0">
                          <a:solidFill>
                            <a:srgbClr val="002060"/>
                          </a:solidFill>
                        </a:rPr>
                        <a:t> 5</a:t>
                      </a:r>
                      <a:endParaRPr lang="en-US" sz="1600">
                        <a:solidFill>
                          <a:srgbClr val="002060"/>
                        </a:solidFill>
                      </a:endParaRPr>
                    </a:p>
                  </a:txBody>
                  <a:tcPr marT="45727" marB="45727"/>
                </a:tc>
                <a:tc>
                  <a:txBody>
                    <a:bodyPr/>
                    <a:lstStyle/>
                    <a:p>
                      <a:r>
                        <a:rPr lang="en-US" sz="1600" b="1">
                          <a:solidFill>
                            <a:srgbClr val="002060"/>
                          </a:solidFill>
                        </a:rPr>
                        <a:t>22 5</a:t>
                      </a:r>
                      <a:endParaRPr lang="en-US" sz="1600" b="1" dirty="0">
                        <a:solidFill>
                          <a:srgbClr val="002060"/>
                        </a:solidFill>
                      </a:endParaRPr>
                    </a:p>
                  </a:txBody>
                  <a:tcPr marT="45727" marB="45727"/>
                </a:tc>
                <a:extLst>
                  <a:ext uri="{0D108BD9-81ED-4DB2-BD59-A6C34878D82A}">
                    <a16:rowId xmlns:a16="http://schemas.microsoft.com/office/drawing/2014/main" val="10008"/>
                  </a:ext>
                </a:extLst>
              </a:tr>
              <a:tr h="431969">
                <a:tc>
                  <a:txBody>
                    <a:bodyPr/>
                    <a:lstStyle/>
                    <a:p>
                      <a:r>
                        <a:rPr lang="en-US" sz="1600" b="1" dirty="0">
                          <a:solidFill>
                            <a:srgbClr val="002060"/>
                          </a:solidFill>
                        </a:rPr>
                        <a:t>*</a:t>
                      </a:r>
                    </a:p>
                  </a:txBody>
                  <a:tcPr marT="45727" marB="45727"/>
                </a:tc>
                <a:tc>
                  <a:txBody>
                    <a:bodyPr/>
                    <a:lstStyle/>
                    <a:p>
                      <a:r>
                        <a:rPr lang="en-US" sz="1600">
                          <a:solidFill>
                            <a:srgbClr val="002060"/>
                          </a:solidFill>
                        </a:rPr>
                        <a:t>Pop 22, 5 </a:t>
                      </a:r>
                      <a:r>
                        <a:rPr lang="en-US" sz="1600" baseline="0">
                          <a:solidFill>
                            <a:srgbClr val="002060"/>
                          </a:solidFill>
                          <a:sym typeface="Wingdings" pitchFamily="2" charset="2"/>
                        </a:rPr>
                        <a:t> </a:t>
                      </a:r>
                      <a:r>
                        <a:rPr lang="en-US" sz="1600" baseline="0" err="1">
                          <a:solidFill>
                            <a:srgbClr val="002060"/>
                          </a:solidFill>
                          <a:sym typeface="Wingdings" pitchFamily="2" charset="2"/>
                        </a:rPr>
                        <a:t>Tính</a:t>
                      </a:r>
                      <a:r>
                        <a:rPr lang="en-US" sz="1600" baseline="0">
                          <a:solidFill>
                            <a:srgbClr val="002060"/>
                          </a:solidFill>
                          <a:sym typeface="Wingdings" pitchFamily="2" charset="2"/>
                        </a:rPr>
                        <a:t> 22*5 = 110 Push 110</a:t>
                      </a:r>
                      <a:endParaRPr lang="en-US" sz="1600" dirty="0">
                        <a:solidFill>
                          <a:srgbClr val="002060"/>
                        </a:solidFill>
                      </a:endParaRPr>
                    </a:p>
                  </a:txBody>
                  <a:tcPr marT="45727" marB="45727"/>
                </a:tc>
                <a:tc>
                  <a:txBody>
                    <a:bodyPr/>
                    <a:lstStyle/>
                    <a:p>
                      <a:r>
                        <a:rPr lang="en-US" sz="1600">
                          <a:solidFill>
                            <a:srgbClr val="002060"/>
                          </a:solidFill>
                        </a:rPr>
                        <a:t>110</a:t>
                      </a:r>
                      <a:endParaRPr lang="en-US" sz="1600" b="1" dirty="0">
                        <a:solidFill>
                          <a:srgbClr val="002060"/>
                        </a:solidFill>
                      </a:endParaRPr>
                    </a:p>
                  </a:txBody>
                  <a:tcPr marT="45727" marB="45727"/>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91873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HSU">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lnDef>
      <a:spPr>
        <a:ln w="28575">
          <a:solidFill>
            <a:srgbClr val="00206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HSU" id="{A63A0C5C-11F4-4574-9CEA-7651809D1C0D}" vid="{7CE2F1C4-7BBE-4197-8E6A-747A89601E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HSU</Template>
  <TotalTime>6984</TotalTime>
  <Words>2399</Words>
  <Application>Microsoft Office PowerPoint</Application>
  <PresentationFormat>Widescreen</PresentationFormat>
  <Paragraphs>564</Paragraphs>
  <Slides>33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Consolas</vt:lpstr>
      <vt:lpstr>Constantia</vt:lpstr>
      <vt:lpstr>inherit</vt:lpstr>
      <vt:lpstr>Verdana</vt:lpstr>
      <vt:lpstr>Wingdings</vt:lpstr>
      <vt:lpstr>HSU</vt:lpstr>
      <vt:lpstr> Cấu Trúc Dữ Liệu &amp; Giải Thuật</vt:lpstr>
      <vt:lpstr>Bài 7 – Danh Sách (List) – Phần 2</vt:lpstr>
      <vt:lpstr>Danh sách hạn chế</vt:lpstr>
      <vt:lpstr>Stack</vt:lpstr>
      <vt:lpstr>Stack – Định nghĩa</vt:lpstr>
      <vt:lpstr>Stack – Định nghĩa</vt:lpstr>
      <vt:lpstr>Stack – Tổ chức lưu trữ</vt:lpstr>
      <vt:lpstr>Stack – Các thao tác cơ bản</vt:lpstr>
      <vt:lpstr>Stack – Các thao tác cơ bản</vt:lpstr>
      <vt:lpstr>Stack – Các thao tác cơ bản</vt:lpstr>
      <vt:lpstr>Stack – Các thao tác cơ bản</vt:lpstr>
      <vt:lpstr>Stack – Các thao tác cơ bản</vt:lpstr>
      <vt:lpstr>Stack – Các thao tác cơ bản</vt:lpstr>
      <vt:lpstr>Queue</vt:lpstr>
      <vt:lpstr>Queue – Định nghĩa</vt:lpstr>
      <vt:lpstr>Queue – Tổ chức lưu trữ</vt:lpstr>
      <vt:lpstr>Queue – Tổ chức lưu trữ</vt:lpstr>
      <vt:lpstr>Queue – Các thao tác cơ bản</vt:lpstr>
      <vt:lpstr>Queue – Các thao tác cơ bản</vt:lpstr>
      <vt:lpstr>Queue – Các thao tác cơ bản</vt:lpstr>
      <vt:lpstr>Queue – Các thao tác cơ bản</vt:lpstr>
      <vt:lpstr>Queue – Các thao tác cơ bản</vt:lpstr>
      <vt:lpstr>Queue – Các thao tác cơ bản</vt:lpstr>
      <vt:lpstr>Queue – Các thao tác cơ bản</vt:lpstr>
      <vt:lpstr>Cách biểu diễn biểu thức đại số</vt:lpstr>
      <vt:lpstr>Chuyển biểu thức trung tố sang hậu tố</vt:lpstr>
      <vt:lpstr>Chuyển 3+4*2/(1-5) sang dạng hậu tố</vt:lpstr>
      <vt:lpstr>Chuyển 3+4*2/(1-5) sang dạng hậu tố</vt:lpstr>
      <vt:lpstr>Tính giá trị biểu thức hậu tố</vt:lpstr>
      <vt:lpstr>Tính giá trị biểu thức 3 4 2 * 1 5 - / +</vt:lpstr>
      <vt:lpstr>Bài tập</vt:lpstr>
      <vt:lpstr>PowerPoint Presentation</vt:lpstr>
      <vt:lpstr>Tính giá trị biểu thức 20 6 + 4 - 5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Cấu Trúc Dữ Liệu &amp; Giải Thuật</dc:title>
  <dc:creator>Trung Phan</dc:creator>
  <cp:lastModifiedBy>Trung Phan</cp:lastModifiedBy>
  <cp:revision>186</cp:revision>
  <dcterms:created xsi:type="dcterms:W3CDTF">2021-03-26T08:09:27Z</dcterms:created>
  <dcterms:modified xsi:type="dcterms:W3CDTF">2021-05-29T04:06:19Z</dcterms:modified>
</cp:coreProperties>
</file>