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0"/>
  </p:notesMasterIdLst>
  <p:sldIdLst>
    <p:sldId id="257" r:id="rId2"/>
    <p:sldId id="365" r:id="rId3"/>
    <p:sldId id="459" r:id="rId4"/>
    <p:sldId id="460" r:id="rId5"/>
    <p:sldId id="461" r:id="rId6"/>
    <p:sldId id="462" r:id="rId7"/>
    <p:sldId id="463" r:id="rId8"/>
    <p:sldId id="464" r:id="rId9"/>
    <p:sldId id="465" r:id="rId10"/>
    <p:sldId id="466" r:id="rId11"/>
    <p:sldId id="467" r:id="rId12"/>
    <p:sldId id="468" r:id="rId13"/>
    <p:sldId id="469" r:id="rId14"/>
    <p:sldId id="470" r:id="rId15"/>
    <p:sldId id="471" r:id="rId16"/>
    <p:sldId id="472" r:id="rId17"/>
    <p:sldId id="473" r:id="rId18"/>
    <p:sldId id="474" r:id="rId19"/>
    <p:sldId id="475" r:id="rId20"/>
    <p:sldId id="326" r:id="rId21"/>
    <p:sldId id="330" r:id="rId22"/>
    <p:sldId id="331" r:id="rId23"/>
    <p:sldId id="327" r:id="rId24"/>
    <p:sldId id="332" r:id="rId25"/>
    <p:sldId id="333" r:id="rId26"/>
    <p:sldId id="328" r:id="rId27"/>
    <p:sldId id="334" r:id="rId28"/>
    <p:sldId id="335" r:id="rId29"/>
    <p:sldId id="329" r:id="rId30"/>
    <p:sldId id="336" r:id="rId31"/>
    <p:sldId id="337" r:id="rId32"/>
    <p:sldId id="338" r:id="rId33"/>
    <p:sldId id="478" r:id="rId34"/>
    <p:sldId id="342" r:id="rId35"/>
    <p:sldId id="343" r:id="rId36"/>
    <p:sldId id="344" r:id="rId37"/>
    <p:sldId id="476" r:id="rId38"/>
    <p:sldId id="373" r:id="rId39"/>
  </p:sldIdLst>
  <p:sldSz cx="12192000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82170" autoAdjust="0"/>
  </p:normalViewPr>
  <p:slideViewPr>
    <p:cSldViewPr snapToGrid="0">
      <p:cViewPr varScale="1">
        <p:scale>
          <a:sx n="61" d="100"/>
          <a:sy n="61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6DF7F9-CFC5-4D89-8961-C0239DBDFAE0}" type="datetimeFigureOut">
              <a:rPr lang="en-US" smtClean="0"/>
              <a:t>11/21/2024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FC458-15A8-473E-97CA-B466A563B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697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FC458-15A8-473E-97CA-B466A563B8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669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4822F6B2-DE4D-494C-B916-9FD7D695BC5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FADD7ED2-1DE0-4B62-8794-657D0247320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C03209C3-C283-41C5-AA45-CE4C0D70C87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410CE095-642A-4748-AD2F-C29AF5ECED6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AA4E7BD3-E49D-4D11-8FEC-67B4119FF4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9C990F5E-EF86-4BF6-A5CD-38B26FADAC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BF0CB48B-3664-4F93-9121-38BE128FCAF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2ECF7CB0-56AB-4789-A1ED-6D362C453DC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>
                <a:latin typeface="Arial" panose="020B0604020202020204" pitchFamily="34" charset="0"/>
              </a:rPr>
              <a:t>Số nút lá = số nút trong (kể cả nút gốc) + 1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52DCAC7F-3FDE-4AA2-AF00-100C5E7B048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86C67F8F-3C4C-4FBB-9F69-BB0F89A0BE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4DF65504-B98C-460F-91EA-C385B6037A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7E1F8A42-E42F-4E11-98EC-5A22183A55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0147D3AC-C275-4235-BF2B-74434DFF13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174763C1-8C10-43E7-8BA3-A6259AB0DE0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DBA4EC72-9A6E-47D9-907A-BBAA6978BF2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110686AA-6DA1-463B-AB73-8AE5A6EE5E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7BB260BB-1AEB-4FEC-B660-7E3027CD2E8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50EE3244-0DFD-42E7-8B4D-A8FCDE4D8B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8C1D6527-2FAA-42BB-95FF-C1B47BA0455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3A813FFD-A675-4C7C-A70C-D467FDB000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>
                <a:latin typeface="Arial" panose="020B0604020202020204" pitchFamily="34" charset="0"/>
              </a:rPr>
              <a:t>https://dev.to/abdisalan_js/4-ways-to-traverse-binary-trees-with-animations-5bi5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B7FB6426-E750-4A07-A9A3-DF1A4813ECE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D98B3628-DAF5-40CB-B6A4-3C1A89E4AC4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E342FB01-FB6B-4B14-8E17-D62EC028702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94EFB6B1-DAB7-4FC7-A3E2-B7A1352B96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DFE11B38-C042-4574-9450-50875E540A1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6CF46A46-1D2A-407E-93A3-6C754C27C02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9CDC1918-0B6C-40B3-B72C-C41684871D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A13B6EBD-47E9-405F-9186-A9B28BF898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869A75AE-6578-430D-BB3A-FABADA4ADD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73E67AB2-0006-45CE-87B8-84A0B20E3D3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A9A949C9-6FE7-4790-945A-112C3BAD4A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A1A59D9D-4172-46DE-A491-B5DB85AB687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A9A949C9-6FE7-4790-945A-112C3BAD4A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A1A59D9D-4172-46DE-A491-B5DB85AB687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584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FC458-15A8-473E-97CA-B466A563B85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77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92892" y="2047102"/>
            <a:ext cx="9594308" cy="1676400"/>
          </a:xfrm>
        </p:spPr>
        <p:txBody>
          <a:bodyPr>
            <a:no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lvl1pPr>
              <a:lnSpc>
                <a:spcPct val="80000"/>
              </a:lnSpc>
              <a:defRPr sz="6000" b="0" cap="none" spc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92892" y="3774301"/>
            <a:ext cx="9594308" cy="886344"/>
          </a:xfrm>
        </p:spPr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lvl1pPr marL="0" indent="0" algn="l">
              <a:buNone/>
              <a:defRPr sz="2800">
                <a:solidFill>
                  <a:srgbClr val="002060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E4129-8558-411E-A8AF-2BF463C6E9E7}" type="datetime1">
              <a:rPr lang="vi-VN" smtClean="0"/>
              <a:t>21/11/2024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49B8A27-3EA1-4728-A36E-35B620DF7691}"/>
              </a:ext>
            </a:extLst>
          </p:cNvPr>
          <p:cNvGrpSpPr/>
          <p:nvPr/>
        </p:nvGrpSpPr>
        <p:grpSpPr>
          <a:xfrm>
            <a:off x="9201323" y="1"/>
            <a:ext cx="2990677" cy="977265"/>
            <a:chOff x="3054154" y="4685464"/>
            <a:chExt cx="2989898" cy="97726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36329EE-CCCE-4AC0-9DB2-5F80B2AA0D83}"/>
                </a:ext>
              </a:extLst>
            </p:cNvPr>
            <p:cNvSpPr/>
            <p:nvPr/>
          </p:nvSpPr>
          <p:spPr>
            <a:xfrm>
              <a:off x="3331332" y="5066464"/>
              <a:ext cx="2331720" cy="32004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latin typeface="Arial" panose="020B0604020202020204" pitchFamily="34" charset="0"/>
                  <a:cs typeface="Arial" panose="020B0604020202020204" pitchFamily="34" charset="0"/>
                </a:rPr>
                <a:t>www.hoasen.edu.vn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F503A9F-91CA-4940-BAC2-D67FF53B17C5}"/>
                </a:ext>
              </a:extLst>
            </p:cNvPr>
            <p:cNvSpPr/>
            <p:nvPr/>
          </p:nvSpPr>
          <p:spPr>
            <a:xfrm>
              <a:off x="3054154" y="5385551"/>
              <a:ext cx="277178" cy="27717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B67EDA8-6C95-41BD-B178-C180F700E4B2}"/>
                </a:ext>
              </a:extLst>
            </p:cNvPr>
            <p:cNvSpPr/>
            <p:nvPr/>
          </p:nvSpPr>
          <p:spPr>
            <a:xfrm>
              <a:off x="5663052" y="4685464"/>
              <a:ext cx="381000" cy="381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68BF2221-00FE-4DF5-A069-2B837EDC39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0" y="70364"/>
            <a:ext cx="1219199" cy="996436"/>
          </a:xfrm>
          <a:prstGeom prst="rect">
            <a:avLst/>
          </a:prstGeom>
        </p:spPr>
      </p:pic>
      <p:grpSp>
        <p:nvGrpSpPr>
          <p:cNvPr id="18" name="squares">
            <a:extLst>
              <a:ext uri="{FF2B5EF4-FFF2-40B4-BE49-F238E27FC236}">
                <a16:creationId xmlns:a16="http://schemas.microsoft.com/office/drawing/2014/main" id="{1B50D0F4-1489-4253-A226-715457F571D1}"/>
              </a:ext>
            </a:extLst>
          </p:cNvPr>
          <p:cNvGrpSpPr/>
          <p:nvPr/>
        </p:nvGrpSpPr>
        <p:grpSpPr>
          <a:xfrm>
            <a:off x="0" y="2918442"/>
            <a:ext cx="1622755" cy="805061"/>
            <a:chOff x="0" y="2343311"/>
            <a:chExt cx="1217066" cy="603796"/>
          </a:xfrm>
        </p:grpSpPr>
        <p:sp>
          <p:nvSpPr>
            <p:cNvPr id="19" name="Rounded Rectangle 7">
              <a:extLst>
                <a:ext uri="{FF2B5EF4-FFF2-40B4-BE49-F238E27FC236}">
                  <a16:creationId xmlns:a16="http://schemas.microsoft.com/office/drawing/2014/main" id="{EB5961F1-EADE-4873-B490-A198A56659CA}"/>
                </a:ext>
              </a:extLst>
            </p:cNvPr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0" name="Rounded Rectangle 8">
              <a:extLst>
                <a:ext uri="{FF2B5EF4-FFF2-40B4-BE49-F238E27FC236}">
                  <a16:creationId xmlns:a16="http://schemas.microsoft.com/office/drawing/2014/main" id="{4B052CC2-AE5F-457A-9F64-599115C7860C}"/>
                </a:ext>
              </a:extLst>
            </p:cNvPr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1" name="Round Same Side Corner Rectangle 9">
              <a:extLst>
                <a:ext uri="{FF2B5EF4-FFF2-40B4-BE49-F238E27FC236}">
                  <a16:creationId xmlns:a16="http://schemas.microsoft.com/office/drawing/2014/main" id="{4E90F40F-56E0-4ADC-A71D-BB8EB1E62E22}"/>
                </a:ext>
              </a:extLst>
            </p:cNvPr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3837522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4">
                  <a:lumMod val="50000"/>
                </a:schemeClr>
              </a:buClr>
              <a:defRPr/>
            </a:lvl1pPr>
            <a:lvl2pPr>
              <a:buClr>
                <a:schemeClr val="accent4">
                  <a:lumMod val="50000"/>
                </a:schemeClr>
              </a:buClr>
              <a:defRPr/>
            </a:lvl2pPr>
            <a:lvl3pPr>
              <a:buClr>
                <a:schemeClr val="accent4">
                  <a:lumMod val="50000"/>
                </a:schemeClr>
              </a:buClr>
              <a:defRPr/>
            </a:lvl3pPr>
            <a:lvl4pPr>
              <a:buClr>
                <a:schemeClr val="accent4">
                  <a:lumMod val="50000"/>
                </a:schemeClr>
              </a:buClr>
              <a:defRPr/>
            </a:lvl4pPr>
            <a:lvl5pPr>
              <a:buClr>
                <a:schemeClr val="accent4">
                  <a:lumMod val="50000"/>
                </a:schemeClr>
              </a:buCl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F2284-59D3-4D2C-AABB-172835E18FFF}" type="datetime1">
              <a:rPr lang="vi-VN" smtClean="0"/>
              <a:t>21/11/2024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056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>
            <a:off x="0" y="3232825"/>
            <a:ext cx="1622755" cy="805061"/>
            <a:chOff x="0" y="2343311"/>
            <a:chExt cx="1217066" cy="603796"/>
          </a:xfrm>
        </p:grpSpPr>
        <p:sp>
          <p:nvSpPr>
            <p:cNvPr id="8" name="Rounded Rectangle 7"/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3471" y="1263467"/>
            <a:ext cx="8339329" cy="1662614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33471" y="2998623"/>
            <a:ext cx="8339330" cy="2880969"/>
          </a:xfrm>
        </p:spPr>
        <p:txBody>
          <a:bodyPr anchor="t">
            <a:normAutofit/>
          </a:bodyPr>
          <a:lstStyle>
            <a:lvl1pPr marL="457200" indent="-457200"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50E30-5047-4AD2-A5B2-3124E2FA4F71}" type="datetime1">
              <a:rPr lang="vi-VN" smtClean="0"/>
              <a:t>21/11/2024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3AEF9CF-A1B6-4C1A-8CE3-C3BB79B039BC}"/>
              </a:ext>
            </a:extLst>
          </p:cNvPr>
          <p:cNvGrpSpPr/>
          <p:nvPr/>
        </p:nvGrpSpPr>
        <p:grpSpPr>
          <a:xfrm>
            <a:off x="9201323" y="1"/>
            <a:ext cx="2990677" cy="977265"/>
            <a:chOff x="3054154" y="4685464"/>
            <a:chExt cx="2989898" cy="97726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129AF9A-BFB1-433D-BABF-9882B69E5FB9}"/>
                </a:ext>
              </a:extLst>
            </p:cNvPr>
            <p:cNvSpPr/>
            <p:nvPr/>
          </p:nvSpPr>
          <p:spPr>
            <a:xfrm>
              <a:off x="3331332" y="5066464"/>
              <a:ext cx="2331720" cy="32004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latin typeface="Arial" panose="020B0604020202020204" pitchFamily="34" charset="0"/>
                  <a:cs typeface="Arial" panose="020B0604020202020204" pitchFamily="34" charset="0"/>
                </a:rPr>
                <a:t>www.hoasen.edu.vn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122B2BC-C260-404D-AAFC-2E015E6C4DA6}"/>
                </a:ext>
              </a:extLst>
            </p:cNvPr>
            <p:cNvSpPr/>
            <p:nvPr/>
          </p:nvSpPr>
          <p:spPr>
            <a:xfrm>
              <a:off x="3054154" y="5385551"/>
              <a:ext cx="277178" cy="27717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979C986-FCE1-4BC9-8ABC-DFCEDBD10D33}"/>
                </a:ext>
              </a:extLst>
            </p:cNvPr>
            <p:cNvSpPr/>
            <p:nvPr/>
          </p:nvSpPr>
          <p:spPr>
            <a:xfrm>
              <a:off x="5663052" y="4685464"/>
              <a:ext cx="381000" cy="381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8E096A75-8096-4EB1-9A83-06C91A2E34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0" y="70364"/>
            <a:ext cx="1219199" cy="99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671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709" y="152400"/>
            <a:ext cx="9753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709" y="1600200"/>
            <a:ext cx="4876800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9" y="1600200"/>
            <a:ext cx="4876800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C4CA3-497D-476A-92EC-70DC3FDE7F15}" type="datetime1">
              <a:rPr lang="vi-VN" smtClean="0"/>
              <a:t>21/11/2024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00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709" y="152400"/>
            <a:ext cx="9753600" cy="1295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709" y="1524001"/>
            <a:ext cx="4876800" cy="816429"/>
          </a:xfrm>
        </p:spPr>
        <p:txBody>
          <a:bodyPr anchor="ctr">
            <a:normAutofit/>
          </a:bodyPr>
          <a:lstStyle>
            <a:lvl1pPr marL="0" indent="0">
              <a:buNone/>
              <a:defRPr sz="2800" b="0">
                <a:solidFill>
                  <a:srgbClr val="002060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709" y="2413001"/>
            <a:ext cx="4876800" cy="375919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5999" y="1524001"/>
            <a:ext cx="4876800" cy="816429"/>
          </a:xfrm>
        </p:spPr>
        <p:txBody>
          <a:bodyPr anchor="ctr">
            <a:normAutofit/>
          </a:bodyPr>
          <a:lstStyle>
            <a:lvl1pPr marL="0" indent="0">
              <a:buNone/>
              <a:defRPr sz="2800" b="0">
                <a:solidFill>
                  <a:srgbClr val="002060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5999" y="2413001"/>
            <a:ext cx="4876800" cy="375919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928A-2F51-4E05-9DF2-C8206D0CC430}" type="datetime1">
              <a:rPr lang="vi-VN" smtClean="0"/>
              <a:t>21/11/2024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22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7A9E4-4751-4873-A98A-725F7DBAF8C5}" type="datetime1">
              <a:rPr lang="vi-VN" smtClean="0"/>
              <a:t>21/11/2024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676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C6F87-EAB0-4B8F-9071-C5692CA34F81}" type="datetime1">
              <a:rPr lang="vi-VN" smtClean="0"/>
              <a:t>21/11/2024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0C1564-F4CB-4080-B340-F91FCF920A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0" y="70365"/>
            <a:ext cx="1068282" cy="882027"/>
          </a:xfrm>
          <a:prstGeom prst="rect">
            <a:avLst/>
          </a:prstGeom>
        </p:spPr>
      </p:pic>
      <p:grpSp>
        <p:nvGrpSpPr>
          <p:cNvPr id="7" name="squares">
            <a:extLst>
              <a:ext uri="{FF2B5EF4-FFF2-40B4-BE49-F238E27FC236}">
                <a16:creationId xmlns:a16="http://schemas.microsoft.com/office/drawing/2014/main" id="{47DEEE63-A1BC-4A43-A4AD-76951E5D7313}"/>
              </a:ext>
            </a:extLst>
          </p:cNvPr>
          <p:cNvGrpSpPr/>
          <p:nvPr userDrawn="1"/>
        </p:nvGrpSpPr>
        <p:grpSpPr>
          <a:xfrm>
            <a:off x="1523" y="5639016"/>
            <a:ext cx="1141709" cy="533185"/>
            <a:chOff x="0" y="2343311"/>
            <a:chExt cx="1217066" cy="603796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A77A6632-F6E5-43A1-84B0-4AE988F94BFC}"/>
                </a:ext>
              </a:extLst>
            </p:cNvPr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8425D3A9-E201-49FC-8A02-A00F4FAA158A}"/>
                </a:ext>
              </a:extLst>
            </p:cNvPr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ound Same Side Corner Rectangle 9">
              <a:extLst>
                <a:ext uri="{FF2B5EF4-FFF2-40B4-BE49-F238E27FC236}">
                  <a16:creationId xmlns:a16="http://schemas.microsoft.com/office/drawing/2014/main" id="{476A3E42-3880-4E46-9109-3363DDD8FF50}"/>
                </a:ext>
              </a:extLst>
            </p:cNvPr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AA3E34-53C5-4668-AF9A-A0EA9AF4B2C4}"/>
              </a:ext>
            </a:extLst>
          </p:cNvPr>
          <p:cNvCxnSpPr/>
          <p:nvPr userDrawn="1"/>
        </p:nvCxnSpPr>
        <p:spPr>
          <a:xfrm>
            <a:off x="1219200" y="1447800"/>
            <a:ext cx="10680243" cy="0"/>
          </a:xfrm>
          <a:prstGeom prst="line">
            <a:avLst/>
          </a:prstGeom>
          <a:ln w="19050">
            <a:solidFill>
              <a:srgbClr val="0000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636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quares">
            <a:extLst>
              <a:ext uri="{FF2B5EF4-FFF2-40B4-BE49-F238E27FC236}">
                <a16:creationId xmlns:a16="http://schemas.microsoft.com/office/drawing/2014/main" id="{C57A4AB8-5D15-44AC-8A80-ED2E069BBD22}"/>
              </a:ext>
            </a:extLst>
          </p:cNvPr>
          <p:cNvGrpSpPr/>
          <p:nvPr/>
        </p:nvGrpSpPr>
        <p:grpSpPr>
          <a:xfrm>
            <a:off x="0" y="2918442"/>
            <a:ext cx="1622755" cy="805061"/>
            <a:chOff x="0" y="2343311"/>
            <a:chExt cx="1217066" cy="603796"/>
          </a:xfrm>
        </p:grpSpPr>
        <p:sp>
          <p:nvSpPr>
            <p:cNvPr id="3" name="Rounded Rectangle 7">
              <a:extLst>
                <a:ext uri="{FF2B5EF4-FFF2-40B4-BE49-F238E27FC236}">
                  <a16:creationId xmlns:a16="http://schemas.microsoft.com/office/drawing/2014/main" id="{478D5619-DEF4-4F6F-BC11-78D556BE6DF3}"/>
                </a:ext>
              </a:extLst>
            </p:cNvPr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4" name="Rounded Rectangle 8">
              <a:extLst>
                <a:ext uri="{FF2B5EF4-FFF2-40B4-BE49-F238E27FC236}">
                  <a16:creationId xmlns:a16="http://schemas.microsoft.com/office/drawing/2014/main" id="{27B79603-57DF-4000-ACF1-94A257895CD9}"/>
                </a:ext>
              </a:extLst>
            </p:cNvPr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5" name="Round Same Side Corner Rectangle 9">
              <a:extLst>
                <a:ext uri="{FF2B5EF4-FFF2-40B4-BE49-F238E27FC236}">
                  <a16:creationId xmlns:a16="http://schemas.microsoft.com/office/drawing/2014/main" id="{29F8B2DB-73B5-4BE9-9E44-64A2507214C4}"/>
                </a:ext>
              </a:extLst>
            </p:cNvPr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1766441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0" y="1600200"/>
            <a:ext cx="6096001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1600202"/>
            <a:ext cx="3454400" cy="4571999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EE586-3513-4425-BFAA-3CD7866A7E43}" type="datetime1">
              <a:rPr lang="vi-VN" smtClean="0"/>
              <a:t>21/11/2024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22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219205" y="1600200"/>
            <a:ext cx="6705596" cy="3657600"/>
          </a:xfrm>
          <a:prstGeom prst="roundRect">
            <a:avLst>
              <a:gd name="adj" fmla="val 309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0" y="1600200"/>
            <a:ext cx="2844800" cy="3759200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04AB3-82E2-48C1-B81F-DEC77E100A8F}" type="datetime1">
              <a:rPr lang="vi-VN" smtClean="0"/>
              <a:t>21/11/2024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296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14B7B-1503-4518-8B44-9BD875C336F9}" type="datetime1">
              <a:rPr lang="vi-VN" smtClean="0"/>
              <a:t>21/11/2024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208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 rot="5400000">
            <a:off x="9585642" y="233796"/>
            <a:ext cx="1063300" cy="524183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grpSp>
        <p:nvGrpSpPr>
          <p:cNvPr id="15" name="bottom graphic"/>
          <p:cNvGrpSpPr/>
          <p:nvPr/>
        </p:nvGrpSpPr>
        <p:grpSpPr>
          <a:xfrm>
            <a:off x="1" y="5395518"/>
            <a:ext cx="12192000" cy="1462483"/>
            <a:chOff x="0" y="4046638"/>
            <a:chExt cx="9144000" cy="1096862"/>
          </a:xfrm>
        </p:grpSpPr>
        <p:sp>
          <p:nvSpPr>
            <p:cNvPr id="16" name="Freeform 15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7" name="Rectangle 72"/>
            <p:cNvSpPr/>
            <p:nvPr/>
          </p:nvSpPr>
          <p:spPr bwMode="ltGray">
            <a:xfrm rot="5400000">
              <a:off x="4023569" y="23069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sz="1800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3600" y="1150515"/>
            <a:ext cx="1828800" cy="50216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1150515"/>
            <a:ext cx="8229600" cy="5021685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E369B-0550-4D8F-B3B7-574EAA255DC8}" type="datetime1">
              <a:rPr lang="vi-VN" smtClean="0"/>
              <a:t>21/11/2024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20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977AEAD2-D5F9-4E1D-B0A6-604BACEE5E4E}"/>
              </a:ext>
            </a:extLst>
          </p:cNvPr>
          <p:cNvGrpSpPr/>
          <p:nvPr/>
        </p:nvGrpSpPr>
        <p:grpSpPr>
          <a:xfrm>
            <a:off x="9201323" y="1"/>
            <a:ext cx="2990677" cy="977265"/>
            <a:chOff x="3054154" y="4685464"/>
            <a:chExt cx="2989898" cy="97726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213D99B-2104-4A9F-BDE3-982717982595}"/>
                </a:ext>
              </a:extLst>
            </p:cNvPr>
            <p:cNvSpPr/>
            <p:nvPr/>
          </p:nvSpPr>
          <p:spPr>
            <a:xfrm>
              <a:off x="3331332" y="5066464"/>
              <a:ext cx="2331720" cy="32004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latin typeface="Arial" panose="020B0604020202020204" pitchFamily="34" charset="0"/>
                  <a:cs typeface="Arial" panose="020B0604020202020204" pitchFamily="34" charset="0"/>
                </a:rPr>
                <a:t>www.hoasen.edu.vn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12289B9-AF49-4D19-8E64-44D48F3EDA25}"/>
                </a:ext>
              </a:extLst>
            </p:cNvPr>
            <p:cNvSpPr/>
            <p:nvPr/>
          </p:nvSpPr>
          <p:spPr>
            <a:xfrm>
              <a:off x="3054154" y="5385551"/>
              <a:ext cx="277178" cy="27717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0CC91CA-C7FB-4A6F-9352-75B89CB56F9D}"/>
                </a:ext>
              </a:extLst>
            </p:cNvPr>
            <p:cNvSpPr/>
            <p:nvPr/>
          </p:nvSpPr>
          <p:spPr>
            <a:xfrm>
              <a:off x="5663052" y="4685464"/>
              <a:ext cx="381000" cy="381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8A093B63-C705-43D6-A50C-B1CD2E6E94E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0" y="70365"/>
            <a:ext cx="1068282" cy="88202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9201" y="152400"/>
            <a:ext cx="10680242" cy="12954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600200"/>
            <a:ext cx="10667999" cy="45720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9201" y="6448425"/>
            <a:ext cx="8290560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rgbClr val="002060"/>
                </a:solidFill>
              </a:defRPr>
            </a:lvl1pPr>
          </a:lstStyle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50400" y="6448425"/>
            <a:ext cx="1422400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rgbClr val="002060"/>
                </a:solidFill>
              </a:defRPr>
            </a:lvl1pPr>
          </a:lstStyle>
          <a:p>
            <a:fld id="{3527C58C-F6C7-40C9-9220-4F1E193CA40A}" type="datetime1">
              <a:rPr lang="vi-VN" smtClean="0"/>
              <a:t>21/11/2024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4400" y="6448425"/>
            <a:ext cx="812800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rgbClr val="002060"/>
                </a:solidFill>
              </a:defRPr>
            </a:lvl1pPr>
          </a:lstStyle>
          <a:p>
            <a:fld id="{21782F98-F548-4E33-958E-D2A6C4BA8EFA}" type="slidenum">
              <a:rPr lang="en-US" smtClean="0"/>
              <a:t>‹#›</a:t>
            </a:fld>
            <a:endParaRPr lang="en-US"/>
          </a:p>
        </p:txBody>
      </p:sp>
      <p:grpSp>
        <p:nvGrpSpPr>
          <p:cNvPr id="24" name="squares">
            <a:extLst>
              <a:ext uri="{FF2B5EF4-FFF2-40B4-BE49-F238E27FC236}">
                <a16:creationId xmlns:a16="http://schemas.microsoft.com/office/drawing/2014/main" id="{D12F9285-888D-4066-97B6-C5AFB2FF7829}"/>
              </a:ext>
            </a:extLst>
          </p:cNvPr>
          <p:cNvGrpSpPr/>
          <p:nvPr/>
        </p:nvGrpSpPr>
        <p:grpSpPr>
          <a:xfrm>
            <a:off x="1523" y="5639016"/>
            <a:ext cx="1141709" cy="533185"/>
            <a:chOff x="0" y="2343311"/>
            <a:chExt cx="1217066" cy="603796"/>
          </a:xfrm>
        </p:grpSpPr>
        <p:sp>
          <p:nvSpPr>
            <p:cNvPr id="25" name="Rounded Rectangle 7">
              <a:extLst>
                <a:ext uri="{FF2B5EF4-FFF2-40B4-BE49-F238E27FC236}">
                  <a16:creationId xmlns:a16="http://schemas.microsoft.com/office/drawing/2014/main" id="{0C599B0C-42A9-4F5A-A15F-B95B1EF9248D}"/>
                </a:ext>
              </a:extLst>
            </p:cNvPr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6" name="Rounded Rectangle 8">
              <a:extLst>
                <a:ext uri="{FF2B5EF4-FFF2-40B4-BE49-F238E27FC236}">
                  <a16:creationId xmlns:a16="http://schemas.microsoft.com/office/drawing/2014/main" id="{E527A34F-7FEF-4267-86B1-646FD0EC10D2}"/>
                </a:ext>
              </a:extLst>
            </p:cNvPr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27" name="Round Same Side Corner Rectangle 9">
              <a:extLst>
                <a:ext uri="{FF2B5EF4-FFF2-40B4-BE49-F238E27FC236}">
                  <a16:creationId xmlns:a16="http://schemas.microsoft.com/office/drawing/2014/main" id="{A279244A-E685-4D66-95DE-1CF0D73BE881}"/>
                </a:ext>
              </a:extLst>
            </p:cNvPr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DE68FC5-648F-42FD-B3A1-4A4175E6CA61}"/>
              </a:ext>
            </a:extLst>
          </p:cNvPr>
          <p:cNvCxnSpPr/>
          <p:nvPr/>
        </p:nvCxnSpPr>
        <p:spPr>
          <a:xfrm>
            <a:off x="1219200" y="1447800"/>
            <a:ext cx="10680243" cy="0"/>
          </a:xfrm>
          <a:prstGeom prst="line">
            <a:avLst/>
          </a:prstGeom>
          <a:ln w="19050">
            <a:solidFill>
              <a:srgbClr val="0000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325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72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accent3">
              <a:lumMod val="75000"/>
            </a:schemeClr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304747" indent="-304747" algn="just" defTabSz="1218987" rtl="0" eaLnBrk="1" latinLnBrk="0" hangingPunct="1">
        <a:lnSpc>
          <a:spcPct val="110000"/>
        </a:lnSpc>
        <a:spcBef>
          <a:spcPts val="1800"/>
        </a:spcBef>
        <a:buClr>
          <a:schemeClr val="accent4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755772" indent="-304747" algn="just" defTabSz="1218987" rtl="0" eaLnBrk="1" latinLnBrk="0" hangingPunct="1">
        <a:lnSpc>
          <a:spcPct val="110000"/>
        </a:lnSpc>
        <a:spcBef>
          <a:spcPts val="1200"/>
        </a:spcBef>
        <a:buClr>
          <a:schemeClr val="accent4">
            <a:lumMod val="50000"/>
          </a:schemeClr>
        </a:buClr>
        <a:buFont typeface="Arial" panose="020B0604020202020204" pitchFamily="34" charset="0"/>
        <a:buChar char="•"/>
        <a:defRPr sz="20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206797" indent="-304747" algn="just" defTabSz="1218987" rtl="0" eaLnBrk="1" latinLnBrk="0" hangingPunct="1">
        <a:lnSpc>
          <a:spcPct val="110000"/>
        </a:lnSpc>
        <a:spcBef>
          <a:spcPts val="800"/>
        </a:spcBef>
        <a:buClr>
          <a:schemeClr val="accent4">
            <a:lumMod val="50000"/>
          </a:schemeClr>
        </a:buClr>
        <a:buFont typeface="Verdana" panose="020B0604030504040204" pitchFamily="34" charset="0"/>
        <a:buChar char="−"/>
        <a:defRPr sz="18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57822" indent="-304747" algn="just" defTabSz="1218987" rtl="0" eaLnBrk="1" latinLnBrk="0" hangingPunct="1">
        <a:lnSpc>
          <a:spcPct val="110000"/>
        </a:lnSpc>
        <a:spcBef>
          <a:spcPts val="8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18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108847" indent="-304747" algn="just" defTabSz="1218987" rtl="0" eaLnBrk="1" latinLnBrk="0" hangingPunct="1">
        <a:lnSpc>
          <a:spcPct val="110000"/>
        </a:lnSpc>
        <a:spcBef>
          <a:spcPts val="8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18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5987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01089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6192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1294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1" y="1905000"/>
            <a:ext cx="10666492" cy="2209800"/>
          </a:xfrm>
        </p:spPr>
        <p:txBody>
          <a:bodyPr/>
          <a:lstStyle/>
          <a:p>
            <a:pPr algn="r"/>
            <a:br>
              <a:rPr lang="en-US" sz="7200">
                <a:solidFill>
                  <a:schemeClr val="accent4"/>
                </a:solidFill>
              </a:rPr>
            </a:br>
            <a:r>
              <a:rPr lang="en-US" sz="7200">
                <a:solidFill>
                  <a:schemeClr val="accent4"/>
                </a:solidFill>
              </a:rPr>
              <a:t>Cấu Trúc Dữ Liệu</a:t>
            </a:r>
            <a:br>
              <a:rPr lang="en-US" sz="7200">
                <a:solidFill>
                  <a:schemeClr val="accent4"/>
                </a:solidFill>
              </a:rPr>
            </a:br>
            <a:r>
              <a:rPr lang="en-US" sz="7200">
                <a:solidFill>
                  <a:schemeClr val="accent4"/>
                </a:solidFill>
              </a:rPr>
              <a:t>&amp; Giải Thuật</a:t>
            </a:r>
            <a:endParaRPr lang="en-US" sz="13800">
              <a:solidFill>
                <a:schemeClr val="accent4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93885" y="5410200"/>
            <a:ext cx="9591809" cy="88634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0000AC"/>
                </a:solidFill>
              </a:rPr>
              <a:t>GV: Phan Hồng Trung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9EA06A3-8B8E-4F32-A4A5-E44F102A338C}"/>
              </a:ext>
            </a:extLst>
          </p:cNvPr>
          <p:cNvSpPr txBox="1">
            <a:spLocks/>
          </p:cNvSpPr>
          <p:nvPr/>
        </p:nvSpPr>
        <p:spPr>
          <a:xfrm>
            <a:off x="1219201" y="4114800"/>
            <a:ext cx="10666492" cy="647700"/>
          </a:xfrm>
          <a:prstGeom prst="rect">
            <a:avLst/>
          </a:prstGeom>
        </p:spPr>
        <p:txBody>
          <a:bodyPr vert="horz" lIns="121899" tIns="60949" rIns="121899" bIns="60949" rtlCol="0" anchor="b">
            <a:no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lvl1pPr algn="l" defTabSz="121898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0" kern="1200" cap="none" spc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algn="r"/>
            <a:br>
              <a:rPr lang="en-US" sz="2800">
                <a:solidFill>
                  <a:srgbClr val="0070C0"/>
                </a:solidFill>
              </a:rPr>
            </a:br>
            <a:r>
              <a:rPr lang="en-US" sz="2800">
                <a:solidFill>
                  <a:srgbClr val="0000AC"/>
                </a:solidFill>
              </a:rPr>
              <a:t>Data Structures &amp; Algorithms</a:t>
            </a:r>
          </a:p>
        </p:txBody>
      </p:sp>
    </p:spTree>
    <p:extLst>
      <p:ext uri="{BB962C8B-B14F-4D97-AF65-F5344CB8AC3E}">
        <p14:creationId xmlns:p14="http://schemas.microsoft.com/office/powerpoint/2010/main" val="280183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l="20000" t="20000" r="20000" b="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8 – Cây (Tree) – Phần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/>
              <a:t>Cây (Tree)</a:t>
            </a:r>
          </a:p>
          <a:p>
            <a:r>
              <a:rPr lang="en-AU"/>
              <a:t>Cây nhị phân (Binary Tree)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8E5B5EA-DA4D-4351-B612-B4B2D445A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A7054D4-2248-41F3-BD34-57A501E5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2</a:t>
            </a:fld>
            <a:endParaRPr lang="en-US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5D6CB7FA-BDB3-495E-8AFD-F6D2311B6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E6DF-F9EF-4231-A485-4FBC744A7ADF}" type="datetime1">
              <a:rPr lang="vi-VN" smtClean="0"/>
              <a:t>21/11/2024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804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ECBF5-E3BD-46FC-A8EA-F61803591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Cây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4E05-BBA3-4451-ABB2-567221DBE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Các khái niệm về cây</a:t>
            </a:r>
          </a:p>
          <a:p>
            <a:r>
              <a:rPr lang="en-US" altLang="en-US"/>
              <a:t>Một số ví dụ về cấu trúc cây</a:t>
            </a:r>
          </a:p>
          <a:p>
            <a:r>
              <a:rPr lang="en-US" altLang="en-US"/>
              <a:t>Các cách biểu diễn cây</a:t>
            </a:r>
          </a:p>
          <a:p>
            <a:r>
              <a:rPr lang="en-US" altLang="en-US"/>
              <a:t>Tổ chức lưu trữ cây</a:t>
            </a:r>
            <a:endParaRPr lang="en-AU" altLang="en-US"/>
          </a:p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C8D1FA7-1AB1-4BDE-97F4-9F09CAC9C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6F6F01C-C36A-4507-8E2C-6CFDA3A0E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3</a:t>
            </a:fld>
            <a:endParaRPr lang="en-US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7912A8D-1D7A-4963-BA23-F0BC42B79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B1CAD-8285-4C76-BCD6-BB968C2A4891}" type="datetime1">
              <a:rPr lang="vi-VN" smtClean="0"/>
              <a:t>21/11/2024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493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C4A35B3F-D3FD-4E08-8322-2DDDBBD35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Các khái niệm về cây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94C9A-E086-48F7-905D-79CA3167C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altLang="en-US"/>
              <a:t>Cây T là:</a:t>
            </a:r>
          </a:p>
          <a:p>
            <a:pPr lvl="1"/>
            <a:r>
              <a:rPr lang="en-US" altLang="en-US"/>
              <a:t>Tập hợp các phần tử p</a:t>
            </a:r>
            <a:r>
              <a:rPr lang="en-US" altLang="en-US" baseline="-25000"/>
              <a:t>1</a:t>
            </a:r>
            <a:r>
              <a:rPr lang="en-US" altLang="en-US"/>
              <a:t>, p</a:t>
            </a:r>
            <a:r>
              <a:rPr lang="en-US" altLang="en-US" baseline="-25000"/>
              <a:t>2</a:t>
            </a:r>
            <a:r>
              <a:rPr lang="en-US" altLang="en-US"/>
              <a:t>, …, p</a:t>
            </a:r>
            <a:r>
              <a:rPr lang="en-US" altLang="en-US" baseline="-25000"/>
              <a:t>N</a:t>
            </a:r>
            <a:r>
              <a:rPr lang="en-US" altLang="en-US"/>
              <a:t> gọi là nút (node), có quan hệ cha-con với nhau.</a:t>
            </a:r>
          </a:p>
          <a:p>
            <a:pPr lvl="1"/>
            <a:r>
              <a:rPr lang="en-US" altLang="en-US"/>
              <a:t>Nếu N=0 thì cây T rỗng.</a:t>
            </a:r>
          </a:p>
          <a:p>
            <a:pPr lvl="1"/>
            <a:r>
              <a:rPr lang="en-US" altLang="en-US"/>
              <a:t>Nếu N&gt;0:</a:t>
            </a:r>
          </a:p>
          <a:p>
            <a:pPr lvl="2"/>
            <a:r>
              <a:rPr lang="vi-VN" altLang="en-US"/>
              <a:t>Có duy nhất 1 phần tử p</a:t>
            </a:r>
            <a:r>
              <a:rPr lang="vi-VN" altLang="en-US" baseline="-25000"/>
              <a:t>k</a:t>
            </a:r>
            <a:r>
              <a:rPr lang="vi-VN" altLang="en-US"/>
              <a:t> được gọi là gốc của cây</a:t>
            </a:r>
            <a:r>
              <a:rPr lang="en-US" altLang="en-US"/>
              <a:t>.</a:t>
            </a:r>
          </a:p>
          <a:p>
            <a:pPr lvl="2" algn="l"/>
            <a:r>
              <a:rPr lang="en-AU" altLang="en-US"/>
              <a:t>Các nút còn lại chia thành m tập không giao nhau: </a:t>
            </a:r>
            <a:br>
              <a:rPr lang="en-AU" altLang="en-US"/>
            </a:br>
            <a:r>
              <a:rPr lang="en-AU" altLang="en-US"/>
              <a:t>T</a:t>
            </a:r>
            <a:r>
              <a:rPr lang="en-AU" altLang="en-US" baseline="-25000"/>
              <a:t>1</a:t>
            </a:r>
            <a:r>
              <a:rPr lang="en-AU" altLang="en-US"/>
              <a:t>, T</a:t>
            </a:r>
            <a:r>
              <a:rPr lang="en-AU" altLang="en-US" baseline="-25000"/>
              <a:t>2</a:t>
            </a:r>
            <a:r>
              <a:rPr lang="en-AU" altLang="en-US"/>
              <a:t>, …, T</a:t>
            </a:r>
            <a:r>
              <a:rPr lang="en-AU" altLang="en-US" baseline="-25000"/>
              <a:t>m</a:t>
            </a:r>
            <a:r>
              <a:rPr lang="en-AU" altLang="en-US"/>
              <a:t>.</a:t>
            </a:r>
          </a:p>
          <a:p>
            <a:pPr lvl="2"/>
            <a:r>
              <a:rPr lang="en-AU" altLang="en-US"/>
              <a:t>Mỗi T</a:t>
            </a:r>
            <a:r>
              <a:rPr lang="en-AU" altLang="en-US" baseline="-25000"/>
              <a:t>i</a:t>
            </a:r>
            <a:r>
              <a:rPr lang="en-AU" altLang="en-US"/>
              <a:t> là 1 cây con của cây T.</a:t>
            </a:r>
          </a:p>
        </p:txBody>
      </p:sp>
      <p:pic>
        <p:nvPicPr>
          <p:cNvPr id="27" name="Picture 7">
            <a:extLst>
              <a:ext uri="{FF2B5EF4-FFF2-40B4-BE49-F238E27FC236}">
                <a16:creationId xmlns:a16="http://schemas.microsoft.com/office/drawing/2014/main" id="{5B794D5C-08FC-4C57-8DFE-A99E43A4D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3691" y="2771775"/>
            <a:ext cx="3333507" cy="340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647C1210-7F76-4364-BB9F-34AB449AB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D8BAE73C-CD27-498F-BA95-09AA6D4B0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4</a:t>
            </a:fld>
            <a:endParaRPr lang="en-US"/>
          </a:p>
        </p:txBody>
      </p:sp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B4A57023-E85E-48E0-801A-84E13CC5A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A1AA9-2E98-4BE9-82C5-3E7FE0E94FE0}" type="datetime1">
              <a:rPr lang="vi-VN" smtClean="0"/>
              <a:t>21/11/2024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23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D087A-8BFC-4E80-8AD4-DD3FDEFFA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Các khái niệm về cây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5BC11-9EDA-4B71-8E22-9618BEBD5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02776"/>
              </a:buClr>
            </a:pPr>
            <a:r>
              <a:rPr lang="en-AU" altLang="en-US" sz="2800">
                <a:solidFill>
                  <a:srgbClr val="001A4F"/>
                </a:solidFill>
              </a:rPr>
              <a:t>Tính chất:</a:t>
            </a:r>
          </a:p>
          <a:p>
            <a:pPr lvl="1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en-AU" altLang="en-US" sz="2400">
                <a:solidFill>
                  <a:srgbClr val="001A4F"/>
                </a:solidFill>
              </a:rPr>
              <a:t>Nút gốc không có nút cha.</a:t>
            </a:r>
          </a:p>
          <a:p>
            <a:pPr lvl="1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en-AU" altLang="en-US" sz="2400">
                <a:solidFill>
                  <a:srgbClr val="001A4F"/>
                </a:solidFill>
              </a:rPr>
              <a:t>Các nút khác chỉ có 1 nút cha.</a:t>
            </a:r>
          </a:p>
          <a:p>
            <a:pPr lvl="1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en-AU" altLang="en-US" sz="2400">
                <a:solidFill>
                  <a:srgbClr val="001A4F"/>
                </a:solidFill>
              </a:rPr>
              <a:t>Mỗi nút có thể có nhiều nút con.</a:t>
            </a:r>
          </a:p>
          <a:p>
            <a:pPr lvl="1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en-AU" altLang="en-US" sz="2400">
                <a:solidFill>
                  <a:srgbClr val="001A4F"/>
                </a:solidFill>
              </a:rPr>
              <a:t>Không có chu trình.</a:t>
            </a:r>
          </a:p>
          <a:p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1D71FE3-19C4-4DB8-8E86-CC054967E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543" y="1724025"/>
            <a:ext cx="4143737" cy="372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118B8D-7010-4C5A-8E29-42A20240E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560267-023E-4D73-B3DF-7D729EF97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5</a:t>
            </a:fld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B330AC-DCAC-4409-86E8-246BABD6E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25EE7-75AF-4076-9A64-00E7F064654D}" type="datetime1">
              <a:rPr lang="vi-VN" smtClean="0"/>
              <a:t>21/11/2024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>
            <a:extLst>
              <a:ext uri="{FF2B5EF4-FFF2-40B4-BE49-F238E27FC236}">
                <a16:creationId xmlns:a16="http://schemas.microsoft.com/office/drawing/2014/main" id="{4ACF5B5E-24BE-4178-9103-1A59C0CDD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557" y="1600200"/>
            <a:ext cx="4838886" cy="346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198B6819-C051-45A5-9453-3EEDD5833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Các khái niệm về cây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C51CF-9338-4B4D-9F7E-833A81073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1" y="1600200"/>
            <a:ext cx="7446962" cy="3978798"/>
          </a:xfrm>
        </p:spPr>
        <p:txBody>
          <a:bodyPr>
            <a:normAutofit fontScale="62500" lnSpcReduction="20000"/>
          </a:bodyPr>
          <a:lstStyle/>
          <a:p>
            <a:r>
              <a:rPr lang="en-AU" altLang="en-US"/>
              <a:t>Nút (node) là phần tử trong cây. Mỗi nút có thể chứa dữ liệu bất kỳ.</a:t>
            </a:r>
          </a:p>
          <a:p>
            <a:r>
              <a:rPr lang="vi-VN" altLang="en-US"/>
              <a:t>Nhánh (branch) là đoạn</a:t>
            </a:r>
            <a:r>
              <a:rPr lang="en-US" altLang="en-US"/>
              <a:t> </a:t>
            </a:r>
            <a:r>
              <a:rPr lang="vi-VN" altLang="en-US"/>
              <a:t>/</a:t>
            </a:r>
            <a:r>
              <a:rPr lang="en-US" altLang="en-US"/>
              <a:t> </a:t>
            </a:r>
            <a:r>
              <a:rPr lang="vi-VN" altLang="en-US"/>
              <a:t>cạnh nối giữa 2 nút</a:t>
            </a:r>
            <a:r>
              <a:rPr lang="en-US" altLang="en-US"/>
              <a:t>.</a:t>
            </a:r>
          </a:p>
          <a:p>
            <a:r>
              <a:rPr lang="en-AU" altLang="en-US"/>
              <a:t>Nút cha (parent) là nút có nút con.</a:t>
            </a:r>
          </a:p>
          <a:p>
            <a:r>
              <a:rPr lang="en-AU" altLang="en-US"/>
              <a:t>Nút con (children) là nút có nút cha.</a:t>
            </a:r>
          </a:p>
          <a:p>
            <a:r>
              <a:rPr lang="en-AU" altLang="en-US"/>
              <a:t>Nút anh em (sibling) là những nút có cùng nút cha.</a:t>
            </a:r>
          </a:p>
          <a:p>
            <a:r>
              <a:rPr lang="en-AU" altLang="en-US"/>
              <a:t>Nút gốc (root) là nút không có nút cha.</a:t>
            </a:r>
          </a:p>
          <a:p>
            <a:r>
              <a:rPr lang="en-AU" altLang="en-US"/>
              <a:t>Nút lá (leaf) / nút ngoài (external) là nút không có nút con.</a:t>
            </a:r>
          </a:p>
          <a:p>
            <a:r>
              <a:rPr lang="en-AU" altLang="en-US"/>
              <a:t>Nút nhánh (branch) / nút trong (internal) là nút có nút cha và nút con.</a:t>
            </a:r>
          </a:p>
        </p:txBody>
      </p:sp>
      <p:pic>
        <p:nvPicPr>
          <p:cNvPr id="13" name="Picture 3">
            <a:extLst>
              <a:ext uri="{FF2B5EF4-FFF2-40B4-BE49-F238E27FC236}">
                <a16:creationId xmlns:a16="http://schemas.microsoft.com/office/drawing/2014/main" id="{7F4F156F-EA14-44B1-908B-D5D5B8DF4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237" y="5219700"/>
            <a:ext cx="7446963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8B88485-1011-45F6-9911-84449D4C6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E517288-AD0B-4833-9CBD-98F4DACB0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6</a:t>
            </a:fld>
            <a:endParaRPr lang="en-US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E059DC9-4132-4003-88B8-3B940A8E2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18626-5F32-428A-8056-C32DB91667AF}" type="datetime1">
              <a:rPr lang="vi-VN" smtClean="0"/>
              <a:t>21/11/2024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59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09838-FBD0-4B84-A8E4-834AFB977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Các khái niệm về cây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3EF24-B45D-4E43-B116-74652D2E1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600200"/>
            <a:ext cx="5980253" cy="4572000"/>
          </a:xfrm>
        </p:spPr>
        <p:txBody>
          <a:bodyPr/>
          <a:lstStyle/>
          <a:p>
            <a:pPr>
              <a:buClr>
                <a:srgbClr val="002776"/>
              </a:buClr>
            </a:pPr>
            <a:r>
              <a:rPr lang="vi-VN" altLang="en-US">
                <a:solidFill>
                  <a:srgbClr val="001A4F"/>
                </a:solidFill>
              </a:rPr>
              <a:t>Bậc (degree) của nút là tổng số nút con của nút đó.</a:t>
            </a:r>
            <a:endParaRPr lang="en-US" altLang="en-US">
              <a:solidFill>
                <a:srgbClr val="001A4F"/>
              </a:solidFill>
            </a:endParaRPr>
          </a:p>
          <a:p>
            <a:pPr>
              <a:buClr>
                <a:srgbClr val="002776"/>
              </a:buClr>
            </a:pPr>
            <a:r>
              <a:rPr lang="en-AU" altLang="en-US">
                <a:solidFill>
                  <a:srgbClr val="001A4F"/>
                </a:solidFill>
              </a:rPr>
              <a:t>Bậc (degree) của cây là bậc lớn nhất của các nút trong cây. Cây có bậc n thì gọi là cây n-phân.</a:t>
            </a:r>
          </a:p>
          <a:p>
            <a:pPr>
              <a:buClr>
                <a:srgbClr val="002776"/>
              </a:buClr>
            </a:pPr>
            <a:r>
              <a:rPr lang="en-AU" altLang="en-US">
                <a:solidFill>
                  <a:srgbClr val="001A4F"/>
                </a:solidFill>
              </a:rPr>
              <a:t>Mức (level) của các nút:</a:t>
            </a:r>
          </a:p>
          <a:p>
            <a:pPr lvl="1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en-AU" altLang="en-US">
                <a:solidFill>
                  <a:srgbClr val="001A4F"/>
                </a:solidFill>
              </a:rPr>
              <a:t>Mức của nút gốc = 0</a:t>
            </a:r>
          </a:p>
          <a:p>
            <a:pPr lvl="1">
              <a:buClr>
                <a:srgbClr val="002776"/>
              </a:buClr>
              <a:buFont typeface="Wingdings" panose="05000000000000000000" pitchFamily="2" charset="2"/>
              <a:buChar char="§"/>
            </a:pPr>
            <a:r>
              <a:rPr lang="en-AU" altLang="en-US">
                <a:solidFill>
                  <a:srgbClr val="001A4F"/>
                </a:solidFill>
              </a:rPr>
              <a:t>Mức của nút bất kỳ (khác root) = Mức của nút cha + 1</a:t>
            </a:r>
          </a:p>
          <a:p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FC7F4B7-1892-42C9-879C-22BCEE975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9410" y="1724025"/>
            <a:ext cx="4097337" cy="2417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4627C2E7-3924-4C5B-8613-5C09B0E9F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222" y="4494804"/>
            <a:ext cx="4079875" cy="99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46AC03FE-BD2E-4319-8B39-568D44682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9410" y="5488579"/>
            <a:ext cx="18002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D269BF9-571F-4FDE-8393-2B0B01666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3B857FE-C638-4436-B745-5FC965520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7</a:t>
            </a:fld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9EA6C4E-6682-4292-B8ED-53BFFCADF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61180-A450-40FE-B684-B9EEF6FF6D50}" type="datetime1">
              <a:rPr lang="vi-VN" smtClean="0"/>
              <a:t>21/11/2024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129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A7BE06BB-C7B2-4E82-A0F9-9022605DFD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800" y="3822399"/>
            <a:ext cx="3756025" cy="221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03DF0C8C-5502-4B69-8D45-AB24DF2F9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792237"/>
            <a:ext cx="4295775" cy="267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3D3DE7-25A2-4098-A950-35EDA7C66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Các khái niệm về cây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AC52F-C1F4-4B9C-95F7-72B8BA53A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600200"/>
            <a:ext cx="10667999" cy="2192037"/>
          </a:xfrm>
        </p:spPr>
        <p:txBody>
          <a:bodyPr>
            <a:normAutofit fontScale="85000" lnSpcReduction="20000"/>
          </a:bodyPr>
          <a:lstStyle/>
          <a:p>
            <a:pPr>
              <a:buClr>
                <a:srgbClr val="002776"/>
              </a:buClr>
            </a:pPr>
            <a:r>
              <a:rPr lang="vi-VN" altLang="en-US" sz="2800">
                <a:solidFill>
                  <a:srgbClr val="001A4F"/>
                </a:solidFill>
              </a:rPr>
              <a:t>Nút đặc biệt là các nút được bổ sung vào cây dựa trên bậc của cây.</a:t>
            </a:r>
            <a:endParaRPr lang="en-AU" altLang="en-US" sz="2800">
              <a:solidFill>
                <a:srgbClr val="001A4F"/>
              </a:solidFill>
            </a:endParaRPr>
          </a:p>
          <a:p>
            <a:pPr>
              <a:buClr>
                <a:srgbClr val="002776"/>
              </a:buClr>
            </a:pPr>
            <a:r>
              <a:rPr lang="en-AU" altLang="en-US" sz="2800">
                <a:solidFill>
                  <a:srgbClr val="001A4F"/>
                </a:solidFill>
              </a:rPr>
              <a:t>Chiều cao (height) của cây:</a:t>
            </a:r>
          </a:p>
          <a:p>
            <a:pPr marL="457200" lvl="1" indent="0">
              <a:buClr>
                <a:srgbClr val="002776"/>
              </a:buClr>
              <a:buNone/>
            </a:pPr>
            <a:r>
              <a:rPr lang="en-AU" altLang="en-US" sz="2400">
                <a:solidFill>
                  <a:srgbClr val="001A4F"/>
                </a:solidFill>
              </a:rPr>
              <a:t>= mức cao nhất + 1 (nếu cây ko bao gồm các nút </a:t>
            </a:r>
            <a:r>
              <a:rPr lang="vi-VN" altLang="en-US" sz="2400">
                <a:solidFill>
                  <a:srgbClr val="001A4F"/>
                </a:solidFill>
              </a:rPr>
              <a:t>đặc biệt</a:t>
            </a:r>
            <a:r>
              <a:rPr lang="en-AU" altLang="en-US" sz="2400">
                <a:solidFill>
                  <a:srgbClr val="001A4F"/>
                </a:solidFill>
              </a:rPr>
              <a:t>)</a:t>
            </a:r>
          </a:p>
          <a:p>
            <a:pPr marL="457200" lvl="1" indent="0">
              <a:buClr>
                <a:srgbClr val="002776"/>
              </a:buClr>
              <a:buNone/>
            </a:pPr>
            <a:r>
              <a:rPr lang="en-AU" altLang="en-US" sz="2400">
                <a:solidFill>
                  <a:srgbClr val="001A4F"/>
                </a:solidFill>
              </a:rPr>
              <a:t>= mức cao nhất (nếu cây bao gồm các nút </a:t>
            </a:r>
            <a:r>
              <a:rPr lang="vi-VN" altLang="en-US" sz="2400">
                <a:solidFill>
                  <a:srgbClr val="001A4F"/>
                </a:solidFill>
              </a:rPr>
              <a:t>đặc biệt</a:t>
            </a:r>
            <a:r>
              <a:rPr lang="en-AU" altLang="en-US" sz="2400">
                <a:solidFill>
                  <a:srgbClr val="001A4F"/>
                </a:solidFill>
              </a:rPr>
              <a:t>)</a:t>
            </a:r>
          </a:p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E73CD26-FBC3-442A-890D-6236594A6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9F5A9F8-8970-4283-AAAE-D50F57936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8</a:t>
            </a:fld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F442C74-6A8F-4B6B-83D3-D8CC2B566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D8FFB-3915-4C73-964F-FA2CEDBC2D2F}" type="datetime1">
              <a:rPr lang="vi-VN" smtClean="0"/>
              <a:t>21/11/2024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59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18D8E-B210-46B4-8FD9-A2A7766AF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Các khái niệm về cây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431ED-3DCC-4D8C-BCF8-3FD59AF18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1" y="1600200"/>
            <a:ext cx="5644586" cy="4572000"/>
          </a:xfrm>
        </p:spPr>
        <p:txBody>
          <a:bodyPr>
            <a:normAutofit fontScale="62500" lnSpcReduction="20000"/>
          </a:bodyPr>
          <a:lstStyle/>
          <a:p>
            <a:pPr>
              <a:buClr>
                <a:srgbClr val="002776"/>
              </a:buClr>
            </a:pPr>
            <a:r>
              <a:rPr lang="vi-VN" altLang="en-US">
                <a:solidFill>
                  <a:srgbClr val="001A4F"/>
                </a:solidFill>
              </a:rPr>
              <a:t>Đường đi (path) p</a:t>
            </a:r>
            <a:r>
              <a:rPr lang="vi-VN" altLang="en-US" baseline="-25000">
                <a:solidFill>
                  <a:srgbClr val="001A4F"/>
                </a:solidFill>
              </a:rPr>
              <a:t>i</a:t>
            </a:r>
            <a:r>
              <a:rPr lang="vi-VN" altLang="en-US">
                <a:solidFill>
                  <a:srgbClr val="001A4F"/>
                </a:solidFill>
              </a:rPr>
              <a:t> </a:t>
            </a:r>
            <a:r>
              <a:rPr lang="en-US" altLang="en-US">
                <a:solidFill>
                  <a:srgbClr val="001A4F"/>
                </a:solidFill>
                <a:sym typeface="Wingdings" panose="05000000000000000000" pitchFamily="2" charset="2"/>
              </a:rPr>
              <a:t></a:t>
            </a:r>
            <a:r>
              <a:rPr lang="vi-VN" altLang="en-US">
                <a:solidFill>
                  <a:srgbClr val="001A4F"/>
                </a:solidFill>
              </a:rPr>
              <a:t> p</a:t>
            </a:r>
            <a:r>
              <a:rPr lang="vi-VN" altLang="en-US" baseline="-25000">
                <a:solidFill>
                  <a:srgbClr val="001A4F"/>
                </a:solidFill>
              </a:rPr>
              <a:t>j</a:t>
            </a:r>
            <a:r>
              <a:rPr lang="vi-VN" altLang="en-US">
                <a:solidFill>
                  <a:srgbClr val="001A4F"/>
                </a:solidFill>
              </a:rPr>
              <a:t> là dãy các nút liên tiếp từ p</a:t>
            </a:r>
            <a:r>
              <a:rPr lang="vi-VN" altLang="en-US" baseline="-25000">
                <a:solidFill>
                  <a:srgbClr val="001A4F"/>
                </a:solidFill>
              </a:rPr>
              <a:t>i</a:t>
            </a:r>
            <a:r>
              <a:rPr lang="vi-VN" altLang="en-US">
                <a:solidFill>
                  <a:srgbClr val="001A4F"/>
                </a:solidFill>
              </a:rPr>
              <a:t> đến p</a:t>
            </a:r>
            <a:r>
              <a:rPr lang="vi-VN" altLang="en-US" baseline="-25000">
                <a:solidFill>
                  <a:srgbClr val="001A4F"/>
                </a:solidFill>
              </a:rPr>
              <a:t>j</a:t>
            </a:r>
            <a:r>
              <a:rPr lang="vi-VN" altLang="en-US">
                <a:solidFill>
                  <a:srgbClr val="001A4F"/>
                </a:solidFill>
              </a:rPr>
              <a:t> sao cho giữa 2 nút kề nhau đều có nhánh.</a:t>
            </a:r>
            <a:endParaRPr lang="en-US" altLang="en-US">
              <a:solidFill>
                <a:srgbClr val="001A4F"/>
              </a:solidFill>
            </a:endParaRPr>
          </a:p>
          <a:p>
            <a:pPr>
              <a:buClr>
                <a:srgbClr val="002776"/>
              </a:buClr>
            </a:pPr>
            <a:r>
              <a:rPr lang="vi-VN" altLang="en-US">
                <a:solidFill>
                  <a:srgbClr val="001A4F"/>
                </a:solidFill>
              </a:rPr>
              <a:t>Độ dài đường đi p</a:t>
            </a:r>
            <a:r>
              <a:rPr lang="vi-VN" altLang="en-US" baseline="-25000">
                <a:solidFill>
                  <a:srgbClr val="001A4F"/>
                </a:solidFill>
              </a:rPr>
              <a:t>i</a:t>
            </a:r>
            <a:r>
              <a:rPr lang="vi-VN" altLang="en-US">
                <a:solidFill>
                  <a:srgbClr val="001A4F"/>
                </a:solidFill>
              </a:rPr>
              <a:t> </a:t>
            </a:r>
            <a:r>
              <a:rPr lang="en-US" altLang="en-US">
                <a:solidFill>
                  <a:srgbClr val="001A4F"/>
                </a:solidFill>
                <a:sym typeface="Wingdings" panose="05000000000000000000" pitchFamily="2" charset="2"/>
              </a:rPr>
              <a:t></a:t>
            </a:r>
            <a:r>
              <a:rPr lang="vi-VN" altLang="en-US">
                <a:solidFill>
                  <a:srgbClr val="001A4F"/>
                </a:solidFill>
              </a:rPr>
              <a:t> p</a:t>
            </a:r>
            <a:r>
              <a:rPr lang="vi-VN" altLang="en-US" baseline="-25000">
                <a:solidFill>
                  <a:srgbClr val="001A4F"/>
                </a:solidFill>
              </a:rPr>
              <a:t>j</a:t>
            </a:r>
            <a:r>
              <a:rPr lang="vi-VN" altLang="en-US">
                <a:solidFill>
                  <a:srgbClr val="001A4F"/>
                </a:solidFill>
              </a:rPr>
              <a:t> = số nhánh trên đường đi</a:t>
            </a:r>
            <a:r>
              <a:rPr lang="en-US" altLang="en-US">
                <a:solidFill>
                  <a:srgbClr val="001A4F"/>
                </a:solidFill>
              </a:rPr>
              <a:t>.</a:t>
            </a:r>
          </a:p>
          <a:p>
            <a:pPr>
              <a:buClr>
                <a:srgbClr val="002776"/>
              </a:buClr>
            </a:pPr>
            <a:r>
              <a:rPr lang="vi-VN" altLang="en-US">
                <a:solidFill>
                  <a:srgbClr val="001A4F"/>
                </a:solidFill>
              </a:rPr>
              <a:t>Độ dài đường đi trong:</a:t>
            </a:r>
            <a:r>
              <a:rPr lang="en-US" altLang="en-US">
                <a:solidFill>
                  <a:srgbClr val="001A4F"/>
                </a:solidFill>
              </a:rPr>
              <a:t> </a:t>
            </a:r>
          </a:p>
          <a:p>
            <a:pPr lvl="1">
              <a:buClr>
                <a:srgbClr val="002776"/>
              </a:buClr>
            </a:pPr>
            <a:endParaRPr lang="en-US" altLang="en-US">
              <a:solidFill>
                <a:srgbClr val="001A4F"/>
              </a:solidFill>
            </a:endParaRPr>
          </a:p>
          <a:p>
            <a:pPr lvl="1">
              <a:buClr>
                <a:srgbClr val="002776"/>
              </a:buClr>
            </a:pPr>
            <a:r>
              <a:rPr lang="vi-VN" altLang="en-US">
                <a:solidFill>
                  <a:srgbClr val="001A4F"/>
                </a:solidFill>
              </a:rPr>
              <a:t>với Px là độ dài đường đi từ nút gốc đến nút X</a:t>
            </a:r>
            <a:r>
              <a:rPr lang="en-US" altLang="en-US">
                <a:solidFill>
                  <a:srgbClr val="001A4F"/>
                </a:solidFill>
              </a:rPr>
              <a:t>.</a:t>
            </a:r>
          </a:p>
          <a:p>
            <a:pPr>
              <a:buClr>
                <a:srgbClr val="002776"/>
              </a:buClr>
            </a:pPr>
            <a:r>
              <a:rPr lang="vi-VN" altLang="en-US">
                <a:solidFill>
                  <a:srgbClr val="001A4F"/>
                </a:solidFill>
              </a:rPr>
              <a:t>Độ dài đường đi </a:t>
            </a:r>
            <a:r>
              <a:rPr lang="en-US" altLang="en-US">
                <a:solidFill>
                  <a:srgbClr val="001A4F"/>
                </a:solidFill>
              </a:rPr>
              <a:t>ngoài</a:t>
            </a:r>
            <a:r>
              <a:rPr lang="vi-VN" altLang="en-US">
                <a:solidFill>
                  <a:srgbClr val="001A4F"/>
                </a:solidFill>
              </a:rPr>
              <a:t>:</a:t>
            </a:r>
            <a:r>
              <a:rPr lang="en-US" altLang="en-US">
                <a:solidFill>
                  <a:srgbClr val="001A4F"/>
                </a:solidFill>
              </a:rPr>
              <a:t> </a:t>
            </a:r>
          </a:p>
          <a:p>
            <a:pPr lvl="1">
              <a:buClr>
                <a:srgbClr val="002776"/>
              </a:buClr>
            </a:pPr>
            <a:endParaRPr lang="en-US" altLang="en-US">
              <a:solidFill>
                <a:srgbClr val="001A4F"/>
              </a:solidFill>
            </a:endParaRPr>
          </a:p>
          <a:p>
            <a:pPr lvl="1">
              <a:buClr>
                <a:srgbClr val="002776"/>
              </a:buClr>
            </a:pPr>
            <a:r>
              <a:rPr lang="vi-VN" altLang="en-US">
                <a:solidFill>
                  <a:srgbClr val="001A4F"/>
                </a:solidFill>
              </a:rPr>
              <a:t>với Px là độ dài đường đi từ nút gốc đến nút </a:t>
            </a:r>
            <a:r>
              <a:rPr lang="en-US" altLang="en-US">
                <a:solidFill>
                  <a:srgbClr val="001A4F"/>
                </a:solidFill>
              </a:rPr>
              <a:t>đặc biệt X.</a:t>
            </a:r>
          </a:p>
          <a:p>
            <a:pPr>
              <a:buClr>
                <a:srgbClr val="002776"/>
              </a:buClr>
            </a:pPr>
            <a:r>
              <a:rPr lang="vi-VN" altLang="en-US">
                <a:solidFill>
                  <a:srgbClr val="001A4F"/>
                </a:solidFill>
              </a:rPr>
              <a:t>Độ dài đường đi trong trung bình = độ dài đường đi trong / tổng số nút</a:t>
            </a:r>
            <a:r>
              <a:rPr lang="en-US" altLang="en-US">
                <a:solidFill>
                  <a:srgbClr val="001A4F"/>
                </a:solidFill>
              </a:rPr>
              <a:t>.</a:t>
            </a:r>
          </a:p>
          <a:p>
            <a:pPr>
              <a:buClr>
                <a:srgbClr val="002776"/>
              </a:buClr>
            </a:pPr>
            <a:r>
              <a:rPr lang="vi-VN" altLang="en-US">
                <a:solidFill>
                  <a:srgbClr val="001A4F"/>
                </a:solidFill>
              </a:rPr>
              <a:t>Độ dài đường đi ngoài trung bình = độ dài đường đi ngoài / tổng số nút đặc biệt</a:t>
            </a:r>
            <a:r>
              <a:rPr lang="en-US" altLang="en-US">
                <a:solidFill>
                  <a:srgbClr val="001A4F"/>
                </a:solidFill>
              </a:rPr>
              <a:t>.</a:t>
            </a:r>
            <a:endParaRPr lang="en-AU" altLang="en-US">
              <a:solidFill>
                <a:srgbClr val="001A4F"/>
              </a:solidFill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49FF1F3-91CF-4706-A2A2-AF92896E6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019" y="4990532"/>
            <a:ext cx="4883424" cy="924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B66F3AC8-12B3-4F08-9311-4A55492A8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019" y="1595711"/>
            <a:ext cx="4866552" cy="314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41D33D6C-DCA6-4176-AFDE-09052767CA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1791201"/>
              </p:ext>
            </p:extLst>
          </p:nvPr>
        </p:nvGraphicFramePr>
        <p:xfrm>
          <a:off x="4230548" y="2467157"/>
          <a:ext cx="1736725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" name="Equation" r:id="rId5" imgW="698197" imgH="342751" progId="Equation.3">
                  <p:embed/>
                </p:oleObj>
              </mc:Choice>
              <mc:Fallback>
                <p:oleObj name="Equation" r:id="rId5" imgW="698197" imgH="342751" progId="Equation.3">
                  <p:embed/>
                  <p:pic>
                    <p:nvPicPr>
                      <p:cNvPr id="23559" name="Object 2">
                        <a:extLst>
                          <a:ext uri="{FF2B5EF4-FFF2-40B4-BE49-F238E27FC236}">
                            <a16:creationId xmlns:a16="http://schemas.microsoft.com/office/drawing/2014/main" id="{7407A58B-7061-4E35-B4F8-BCF5B5C21F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0548" y="2467157"/>
                        <a:ext cx="1736725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7215AA22-81B0-4623-A2C4-93FE001D48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472748"/>
              </p:ext>
            </p:extLst>
          </p:nvPr>
        </p:nvGraphicFramePr>
        <p:xfrm>
          <a:off x="4230548" y="3595870"/>
          <a:ext cx="1736725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Equation" r:id="rId7" imgW="698197" imgH="342751" progId="Equation.3">
                  <p:embed/>
                </p:oleObj>
              </mc:Choice>
              <mc:Fallback>
                <p:oleObj name="Equation" r:id="rId7" imgW="698197" imgH="342751" progId="Equation.3">
                  <p:embed/>
                  <p:pic>
                    <p:nvPicPr>
                      <p:cNvPr id="23560" name="Object 3">
                        <a:extLst>
                          <a:ext uri="{FF2B5EF4-FFF2-40B4-BE49-F238E27FC236}">
                            <a16:creationId xmlns:a16="http://schemas.microsoft.com/office/drawing/2014/main" id="{68EA0BC5-297F-4A28-9A19-7C6A2F6AC1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0548" y="3595870"/>
                        <a:ext cx="1736725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0F1CAAC-C201-4E2B-AC04-ADCE88DCF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2F0D0B9-50F1-4DEA-9C5D-B5806EB18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9</a:t>
            </a:fld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C2F7D9-0D08-403E-B349-6188543F7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5DC2D-61F6-443F-A6C3-957D64B4A1C6}" type="datetime1">
              <a:rPr lang="vi-VN" smtClean="0"/>
              <a:t>21/11/2024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7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D8F34-C35D-4B19-9654-86616F81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Ví dụ về cấu trúc cây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37FC9-C161-457E-9986-2BFCA51D4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001A4F"/>
                </a:solidFill>
              </a:rPr>
              <a:t>Sơ đồ tổ chức của một công ty</a:t>
            </a:r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A2B6467-87F0-467C-BA12-0A6AD8F70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794" y="2237772"/>
            <a:ext cx="8634412" cy="3725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3D7930-7661-492A-95C4-C2D492C3A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49618B-7F96-4684-B29A-24A1C7A0B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10</a:t>
            </a:fld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83ED6E0-F3FA-4FFE-ACE8-D3A447664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E0731-303A-4607-9B2D-846861D69033}" type="datetime1">
              <a:rPr lang="vi-VN" smtClean="0"/>
              <a:t>21/11/2024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79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D8F34-C35D-4B19-9654-86616F81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Ví dụ về cấu trúc cây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37FC9-C161-457E-9986-2BFCA51D4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altLang="en-US">
                <a:solidFill>
                  <a:srgbClr val="001A4F"/>
                </a:solidFill>
              </a:rPr>
              <a:t>Cây nhị phân dùng để biểu diễn một biểu thức toán học</a:t>
            </a:r>
            <a:endParaRPr lang="en-AU" altLang="en-US">
              <a:solidFill>
                <a:srgbClr val="001A4F"/>
              </a:solidFill>
            </a:endParaRPr>
          </a:p>
          <a:p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F6389FDC-0DDE-4030-B7B2-4E68CE135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506" y="2301494"/>
            <a:ext cx="5360987" cy="372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CB51774-C001-4BAA-9223-7F1610078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33AD07A-C90E-411B-AC0D-857FE288C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11</a:t>
            </a:fld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5F60DE1-B6D5-4DC8-AEF0-C1450137E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D398A-8DA4-4F4E-B9BA-B416F3ADB8B4}" type="datetime1">
              <a:rPr lang="vi-VN" smtClean="0"/>
              <a:t>21/11/2024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19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D8F34-C35D-4B19-9654-86616F81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Ví dụ về cấu trúc cây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37FC9-C161-457E-9986-2BFCA51D4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001A4F"/>
                </a:solidFill>
              </a:rPr>
              <a:t>Cây thư mục</a:t>
            </a:r>
            <a:endParaRPr lang="en-AU" altLang="en-US">
              <a:solidFill>
                <a:srgbClr val="001A4F"/>
              </a:solidFill>
            </a:endParaRPr>
          </a:p>
          <a:p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1A61B46-0DDC-4C05-8751-48E429141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7442" y="2292350"/>
            <a:ext cx="8291513" cy="3513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D02054-D0CC-4B6E-ADCC-DCD7B24B9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8EC659-B12A-469A-B09B-7A482ECB4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12</a:t>
            </a:fld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1B4A6FE-1899-4D59-8FBE-BC180B51A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97FB3-E495-4437-BED1-C2B53947097C}" type="datetime1">
              <a:rPr lang="vi-VN" smtClean="0"/>
              <a:t>21/11/2024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10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D8F34-C35D-4B19-9654-86616F81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Các cách biểu diễn cây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37FC9-C161-457E-9986-2BFCA51D4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001A4F"/>
                </a:solidFill>
              </a:rPr>
              <a:t>Biểu diễn bằng đồ thị</a:t>
            </a:r>
            <a:endParaRPr lang="en-AU" altLang="en-US">
              <a:solidFill>
                <a:srgbClr val="001A4F"/>
              </a:solidFill>
            </a:endParaRPr>
          </a:p>
          <a:p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32CF34C-1696-4698-BF9B-D68FFFD1B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150" y="2262187"/>
            <a:ext cx="5219700" cy="404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A3D45F-5A26-4EB2-856A-379CA60D7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DE8E06-4A22-4E1B-8AF4-2B26EC50B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13</a:t>
            </a:fld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946AD15-7020-4013-9F15-810BABACA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9677-22D6-4F5A-A344-52390DAB81A3}" type="datetime1">
              <a:rPr lang="vi-VN" smtClean="0"/>
              <a:t>21/11/2024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526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D8F34-C35D-4B19-9654-86616F81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Các cách biểu diễn cây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37FC9-C161-457E-9986-2BFCA51D4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001A4F"/>
                </a:solidFill>
              </a:rPr>
              <a:t>Biểu diễn bằng giản đồ</a:t>
            </a:r>
            <a:endParaRPr lang="en-AU" altLang="en-US">
              <a:solidFill>
                <a:srgbClr val="001A4F"/>
              </a:solidFill>
            </a:endParaRPr>
          </a:p>
          <a:p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65C6450-C498-43A7-B755-7E1B93D1F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8262" y="2083227"/>
            <a:ext cx="6975475" cy="422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A4C585-3A05-44F4-8D88-204D4761F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2E9EE2-658F-4FAC-ACD6-EF4B8B289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14</a:t>
            </a:fld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BE7C6F0-5A23-492E-969B-13ED99504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5539D-4F1D-4100-8DC5-9A31C2C98385}" type="datetime1">
              <a:rPr lang="vi-VN" smtClean="0"/>
              <a:t>21/11/2024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908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D8F34-C35D-4B19-9654-86616F81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Các cách biểu diễn cây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37FC9-C161-457E-9986-2BFCA51D4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altLang="en-US">
                <a:solidFill>
                  <a:srgbClr val="001A4F"/>
                </a:solidFill>
              </a:rPr>
              <a:t>Biểu diễn bằng các dấu ngoặc lồng nhau</a:t>
            </a:r>
          </a:p>
          <a:p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F58D767-431B-4CCA-8C34-5AA1F4F6E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3268" y="2428081"/>
            <a:ext cx="8145463" cy="304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CB033B-D913-4F57-B778-6095B95EC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679152-3AAB-4FE0-99C4-D6CBBDBE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15</a:t>
            </a:fld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AA74831-8724-4305-9B1C-733100512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B665B-63CB-4AFF-B644-E7C200701C3F}" type="datetime1">
              <a:rPr lang="vi-VN" smtClean="0"/>
              <a:t>21/11/2024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96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D8F34-C35D-4B19-9654-86616F81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Các cách biểu diễn cây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37FC9-C161-457E-9986-2BFCA51D4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altLang="en-US">
                <a:solidFill>
                  <a:srgbClr val="001A4F"/>
                </a:solidFill>
              </a:rPr>
              <a:t>Biểu diễn bằng phương pháp canh hàng (indentation), bằng chỉ số</a:t>
            </a:r>
            <a:endParaRPr lang="en-AU" altLang="en-US">
              <a:solidFill>
                <a:srgbClr val="001A4F"/>
              </a:solidFill>
            </a:endParaRPr>
          </a:p>
          <a:p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4858418C-70D6-4C9B-937F-B99AB8B5B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375" y="2382195"/>
            <a:ext cx="7207250" cy="362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10394AF-6D81-4155-8B56-3367D7F0D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E761967-F8F9-47B3-A3A8-DD209EEF2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16</a:t>
            </a:fld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FE40A67-5671-4558-A1F6-D8DE54253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4980-A460-4E32-99B5-090059EDBDA9}" type="datetime1">
              <a:rPr lang="vi-VN" smtClean="0"/>
              <a:t>21/11/2024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21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D8F34-C35D-4B19-9654-86616F81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Tổ chức lưu trữ cây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37FC9-C161-457E-9986-2BFCA51D4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altLang="en-US">
                <a:solidFill>
                  <a:srgbClr val="001A4F"/>
                </a:solidFill>
              </a:rPr>
              <a:t>Sử dụng danh sách đặc</a:t>
            </a:r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07EDBE4-704C-4135-8AE3-CAB9EA929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475" y="2331957"/>
            <a:ext cx="8401050" cy="3481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881A64-DEC7-4E1E-8AE7-4AC65721A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8FE1E3-C05B-41D7-B501-848B95233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17</a:t>
            </a:fld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2C16E82-F569-43E7-9421-641295E8D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EBB15-4E3B-4D9D-96D0-F72C9B186EB9}" type="datetime1">
              <a:rPr lang="vi-VN" smtClean="0"/>
              <a:t>21/11/2024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635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D8F34-C35D-4B19-9654-86616F81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Tổ chức lưu trữ cây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37FC9-C161-457E-9986-2BFCA51D4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altLang="en-US">
                <a:solidFill>
                  <a:srgbClr val="001A4F"/>
                </a:solidFill>
              </a:rPr>
              <a:t>Sử dụng danh sách liên kết</a:t>
            </a:r>
          </a:p>
          <a:p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E2A4DB7-5130-4ADD-8389-B7BA18FF6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50" y="2089151"/>
            <a:ext cx="8724900" cy="422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9C860F-A582-4614-895D-97903BA33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8936F1-7ED6-4163-B7BD-C22F5F2ED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18</a:t>
            </a:fld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7B94BC-D0BA-45E1-B0A9-9D3ADDA52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5A92E-F2A6-498E-9E0C-AB28F39A33B1}" type="datetime1">
              <a:rPr lang="vi-VN" smtClean="0"/>
              <a:t>21/11/2024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61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D8F34-C35D-4B19-9654-86616F81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Cây Nhị Phân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6D09CF-E72E-4BF5-A2ED-F8FD21B22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rgbClr val="002776"/>
              </a:buClr>
            </a:pPr>
            <a:r>
              <a:rPr lang="en-AU" altLang="en-US">
                <a:solidFill>
                  <a:srgbClr val="001A4F"/>
                </a:solidFill>
              </a:rPr>
              <a:t>Khái niệm về cây nhị phân</a:t>
            </a:r>
          </a:p>
          <a:p>
            <a:pPr>
              <a:buClr>
                <a:srgbClr val="002776"/>
              </a:buClr>
            </a:pPr>
            <a:r>
              <a:rPr lang="en-AU" altLang="en-US">
                <a:solidFill>
                  <a:srgbClr val="001A4F"/>
                </a:solidFill>
              </a:rPr>
              <a:t>Các tính chất của cây nhị phân</a:t>
            </a:r>
          </a:p>
          <a:p>
            <a:pPr>
              <a:buClr>
                <a:srgbClr val="002776"/>
              </a:buClr>
            </a:pPr>
            <a:r>
              <a:rPr lang="en-AU" altLang="en-US">
                <a:solidFill>
                  <a:srgbClr val="001A4F"/>
                </a:solidFill>
              </a:rPr>
              <a:t>Các thao tác trên cây nhị phân</a:t>
            </a:r>
          </a:p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22AB3E-1B7B-4E05-B7CE-DAC420E0C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38B652-0C09-4742-91B8-F4E99E2C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19</a:t>
            </a:fld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9116770-D9AC-45AB-81E8-95BF19191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D7131-8432-49FC-A9CC-638813F16639}" type="datetime1">
              <a:rPr lang="vi-VN" smtClean="0"/>
              <a:t>21/11/2024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869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67AFB-E85D-4675-90EB-9B0A62B22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Khái niệm về cây nhị phân</a:t>
            </a:r>
          </a:p>
        </p:txBody>
      </p:sp>
      <p:sp>
        <p:nvSpPr>
          <p:cNvPr id="48134" name="Content Placeholder 2">
            <a:extLst>
              <a:ext uri="{FF2B5EF4-FFF2-40B4-BE49-F238E27FC236}">
                <a16:creationId xmlns:a16="http://schemas.microsoft.com/office/drawing/2014/main" id="{F3A6A07B-C9A2-4D7F-8DA1-4E22F2C4C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altLang="en-US"/>
              <a:t>Cây nhị phân là cây bậc 2, mỗi nút của cây có tối đa 2 cây con.</a:t>
            </a:r>
            <a:endParaRPr lang="en-AU" altLang="en-US"/>
          </a:p>
        </p:txBody>
      </p:sp>
      <p:pic>
        <p:nvPicPr>
          <p:cNvPr id="48135" name="Picture 2">
            <a:extLst>
              <a:ext uri="{FF2B5EF4-FFF2-40B4-BE49-F238E27FC236}">
                <a16:creationId xmlns:a16="http://schemas.microsoft.com/office/drawing/2014/main" id="{725B3BBD-B310-4F98-A87A-DDF5A675D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925" y="2215850"/>
            <a:ext cx="5518150" cy="3687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2993AA0D-D8D7-42FF-95FA-09F85DB9C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D527EDA-751A-44FD-92B0-989A98EC8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20</a:t>
            </a:fld>
            <a:endParaRPr lang="en-US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E9F2B14D-B724-49C9-ABEE-4F90B1E46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F13F3-6229-4852-9E7D-1F2F478B1E58}" type="datetime1">
              <a:rPr lang="vi-VN" smtClean="0"/>
              <a:t>21/11/2024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38B44-72F6-4795-A5A5-DA97EEBE2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Khái niệm về cây nhị phân</a:t>
            </a:r>
            <a:endParaRPr lang="en-AU" dirty="0"/>
          </a:p>
        </p:txBody>
      </p:sp>
      <p:sp>
        <p:nvSpPr>
          <p:cNvPr id="50182" name="Content Placeholder 2">
            <a:extLst>
              <a:ext uri="{FF2B5EF4-FFF2-40B4-BE49-F238E27FC236}">
                <a16:creationId xmlns:a16="http://schemas.microsoft.com/office/drawing/2014/main" id="{569FF5FE-8FF8-4D76-AA24-77A8D485E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Ví dụ: C</a:t>
            </a:r>
            <a:r>
              <a:rPr lang="vi-VN" altLang="en-US"/>
              <a:t>ây quyết định</a:t>
            </a:r>
            <a:endParaRPr lang="en-AU" altLang="en-US"/>
          </a:p>
        </p:txBody>
      </p:sp>
      <p:pic>
        <p:nvPicPr>
          <p:cNvPr id="50183" name="Picture 2">
            <a:extLst>
              <a:ext uri="{FF2B5EF4-FFF2-40B4-BE49-F238E27FC236}">
                <a16:creationId xmlns:a16="http://schemas.microsoft.com/office/drawing/2014/main" id="{3B342763-886C-42AB-9A82-76728CB30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275" y="2022475"/>
            <a:ext cx="6153150" cy="428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6786E8BF-ABFB-4AF4-BEF7-6787FD06F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5EFF8E9-EE6C-4FFB-9B6A-BE09DB7B5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21</a:t>
            </a:fld>
            <a:endParaRPr lang="en-US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8BB80AF-1C61-4729-90C1-9555749F3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C1538-52A0-4BA2-A2B4-836728B755F0}" type="datetime1">
              <a:rPr lang="vi-VN" smtClean="0"/>
              <a:t>21/11/2024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8E4D2-3D62-4A4D-84C5-AC999764E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/>
              <a:t>Khái niệm về cây nhị phân</a:t>
            </a:r>
            <a:endParaRPr lang="en-AU" dirty="0"/>
          </a:p>
        </p:txBody>
      </p:sp>
      <p:sp>
        <p:nvSpPr>
          <p:cNvPr id="52230" name="Content Placeholder 2">
            <a:extLst>
              <a:ext uri="{FF2B5EF4-FFF2-40B4-BE49-F238E27FC236}">
                <a16:creationId xmlns:a16="http://schemas.microsoft.com/office/drawing/2014/main" id="{5A40F26C-913C-4E85-95B8-3809E5EE9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Ví dụ: Cây biểu diễn biểu thức toán học</a:t>
            </a:r>
            <a:endParaRPr lang="en-AU" altLang="en-US"/>
          </a:p>
        </p:txBody>
      </p:sp>
      <p:pic>
        <p:nvPicPr>
          <p:cNvPr id="52231" name="Picture 2">
            <a:extLst>
              <a:ext uri="{FF2B5EF4-FFF2-40B4-BE49-F238E27FC236}">
                <a16:creationId xmlns:a16="http://schemas.microsoft.com/office/drawing/2014/main" id="{DB8EAFB2-B313-4ECF-BCC6-2D2C8DFCC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064" y="2060575"/>
            <a:ext cx="6080125" cy="424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D8AAEBD6-A284-4D46-B362-DA37CCC60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8D95A39-574A-4C95-B2B0-2BDCF42BD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22</a:t>
            </a:fld>
            <a:endParaRPr lang="en-US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E19C1AD-E578-4ED3-8C9D-CF1E5B614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A1040-20A6-4B46-8744-3469E5818F84}" type="datetime1">
              <a:rPr lang="vi-VN" smtClean="0"/>
              <a:t>21/11/2024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1DE45-08F1-4F29-AC77-71CD5D2BD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Các tính chất của cây nhị phân</a:t>
            </a:r>
            <a:endParaRPr lang="en-AU" dirty="0"/>
          </a:p>
        </p:txBody>
      </p:sp>
      <p:pic>
        <p:nvPicPr>
          <p:cNvPr id="54278" name="Picture 2">
            <a:extLst>
              <a:ext uri="{FF2B5EF4-FFF2-40B4-BE49-F238E27FC236}">
                <a16:creationId xmlns:a16="http://schemas.microsoft.com/office/drawing/2014/main" id="{66F41886-A0FE-41D7-B09B-F78CD78F5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5737" y="1577975"/>
            <a:ext cx="8297862" cy="474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F171EFF-C922-4137-9BC3-BD5B74324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E636FF-B117-4037-B069-186085043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23</a:t>
            </a:fld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F5C39A78-46B2-4112-957C-BDDEFCB71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D5DF-FE6D-4785-A1A8-6B20A8049E9E}" type="datetime1">
              <a:rPr lang="vi-VN" smtClean="0"/>
              <a:t>21/11/2024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A81B9-0602-407D-BE04-6FF66E473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Các tính chất của cây nhị phân</a:t>
            </a:r>
            <a:endParaRPr lang="en-AU" dirty="0"/>
          </a:p>
        </p:txBody>
      </p:sp>
      <p:pic>
        <p:nvPicPr>
          <p:cNvPr id="56326" name="Picture 2">
            <a:extLst>
              <a:ext uri="{FF2B5EF4-FFF2-40B4-BE49-F238E27FC236}">
                <a16:creationId xmlns:a16="http://schemas.microsoft.com/office/drawing/2014/main" id="{2485E288-50B2-4988-A2E9-5156AAE30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288" y="1525587"/>
            <a:ext cx="7612062" cy="4922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A92EB1F2-6A07-40B1-98D5-E82C822D3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474AF49-4B16-4057-AC07-8575CFAD8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24</a:t>
            </a:fld>
            <a:endParaRPr lang="en-US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D08D2B63-4178-433E-8C08-66F400D7A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50041-E7FA-44D7-A965-0282D2813A5B}" type="datetime1">
              <a:rPr lang="vi-VN" smtClean="0"/>
              <a:t>21/11/2024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58CAE-DB75-4009-856F-71A870A31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/>
              <a:t>Các Thao Tác Trên BTree</a:t>
            </a:r>
            <a:endParaRPr lang="en-AU" dirty="0"/>
          </a:p>
        </p:txBody>
      </p:sp>
      <p:sp>
        <p:nvSpPr>
          <p:cNvPr id="58374" name="Content Placeholder 2">
            <a:extLst>
              <a:ext uri="{FF2B5EF4-FFF2-40B4-BE49-F238E27FC236}">
                <a16:creationId xmlns:a16="http://schemas.microsoft.com/office/drawing/2014/main" id="{26EFFE03-FC00-4861-9292-1903598DE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altLang="en-US"/>
              <a:t>Tạo cây BTree</a:t>
            </a:r>
          </a:p>
          <a:p>
            <a:r>
              <a:rPr lang="en-AU" altLang="en-US"/>
              <a:t>In cây</a:t>
            </a:r>
          </a:p>
          <a:p>
            <a:r>
              <a:rPr lang="en-AU" altLang="en-US"/>
              <a:t>Duyệt cây</a:t>
            </a:r>
          </a:p>
          <a:p>
            <a:r>
              <a:rPr lang="en-AU" altLang="en-US"/>
              <a:t>Đếm tổng số node, tổng số node lá, tổng số node nhánh</a:t>
            </a:r>
          </a:p>
          <a:p>
            <a:r>
              <a:rPr lang="en-AU" altLang="en-US"/>
              <a:t>Tính chiều cao của cây</a:t>
            </a:r>
          </a:p>
          <a:p>
            <a:r>
              <a:rPr lang="en-AU" altLang="en-US"/>
              <a:t>Hiển thị giá trị các node ở mức thứ k trong cây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D47DDF1-38A7-40C3-9F32-0CAEB8CDF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69B9D3A2-481B-43D3-89C3-A4B57601F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F16F2-9E83-44F8-9F21-AEDE66DA4246}" type="datetime1">
              <a:rPr lang="vi-VN" smtClean="0"/>
              <a:t>21/11/2024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755E1C7-A8D4-425F-A16D-6BFD77B62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F3292-59FF-4AC5-B902-6E5B61F27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Tạo cây BTree</a:t>
            </a:r>
            <a:endParaRPr lang="en-AU" dirty="0"/>
          </a:p>
        </p:txBody>
      </p:sp>
      <p:pic>
        <p:nvPicPr>
          <p:cNvPr id="60423" name="Picture 2">
            <a:extLst>
              <a:ext uri="{FF2B5EF4-FFF2-40B4-BE49-F238E27FC236}">
                <a16:creationId xmlns:a16="http://schemas.microsoft.com/office/drawing/2014/main" id="{2A6D71F5-0A83-4256-9252-0CECA2FE9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6650" y="1554778"/>
            <a:ext cx="4295775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BB63701-F180-48D1-9840-CA02D346807B}"/>
              </a:ext>
            </a:extLst>
          </p:cNvPr>
          <p:cNvSpPr/>
          <p:nvPr/>
        </p:nvSpPr>
        <p:spPr>
          <a:xfrm>
            <a:off x="1487509" y="1554778"/>
            <a:ext cx="484979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BNODE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info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BNODE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left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BNODE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right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} 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BNODE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BNODE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</a:rPr>
              <a:t>CreateNode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BNODE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*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BNODE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!=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info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left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right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AC6215-7732-471F-8957-494B2B3CA050}"/>
              </a:ext>
            </a:extLst>
          </p:cNvPr>
          <p:cNvSpPr/>
          <p:nvPr/>
        </p:nvSpPr>
        <p:spPr>
          <a:xfrm>
            <a:off x="5975351" y="3716001"/>
            <a:ext cx="6096000" cy="29238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BNODE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*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root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} 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BTREE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</a:rPr>
              <a:t>Initialize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BTREE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tree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tree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root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95E765EB-3AA5-4F5B-95A3-B359724C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43A9CB2-F211-4F7D-8F44-B471A7075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26</a:t>
            </a:fld>
            <a:endParaRPr lang="en-US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D14303D8-1BC2-4211-BA64-62E3659D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33ADF-C56E-4429-8635-854D2D1DDCB8}" type="datetime1">
              <a:rPr lang="vi-VN" smtClean="0"/>
              <a:t>21/11/2024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C4F0C-E9C1-4D91-A9E9-1A06C5955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Tạo cây BTree</a:t>
            </a:r>
            <a:endParaRPr lang="en-A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567D04-9C32-4B82-BBBA-D53155212F5B}"/>
              </a:ext>
            </a:extLst>
          </p:cNvPr>
          <p:cNvSpPr/>
          <p:nvPr/>
        </p:nvSpPr>
        <p:spPr>
          <a:xfrm>
            <a:off x="1489611" y="1685955"/>
            <a:ext cx="1013942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800">
                <a:solidFill>
                  <a:srgbClr val="795E26"/>
                </a:solidFill>
                <a:latin typeface="Consolas" panose="020B0609020204030204" pitchFamily="49" charset="0"/>
              </a:rPr>
              <a:t>CreateBTree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>
                <a:solidFill>
                  <a:srgbClr val="267F99"/>
                </a:solidFill>
                <a:latin typeface="Consolas" panose="020B0609020204030204" pitchFamily="49" charset="0"/>
              </a:rPr>
              <a:t>BNODE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*&amp;</a:t>
            </a:r>
            <a:r>
              <a:rPr lang="en-US" sz="18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80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800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80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"Enter value of NODE: "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800">
                <a:solidFill>
                  <a:srgbClr val="001080"/>
                </a:solidFill>
                <a:latin typeface="Consolas" panose="020B0609020204030204" pitchFamily="49" charset="0"/>
              </a:rPr>
              <a:t>cin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800">
                <a:solidFill>
                  <a:srgbClr val="795E26"/>
                </a:solidFill>
                <a:latin typeface="Consolas" panose="020B0609020204030204" pitchFamily="49" charset="0"/>
              </a:rPr>
              <a:t>&gt;&gt;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80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80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80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== -</a:t>
            </a:r>
            <a:r>
              <a:rPr lang="en-US" sz="180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80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 // break condition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8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800">
                <a:solidFill>
                  <a:srgbClr val="795E26"/>
                </a:solidFill>
                <a:latin typeface="Consolas" panose="020B0609020204030204" pitchFamily="49" charset="0"/>
              </a:rPr>
              <a:t>CreateNode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80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8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!= 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800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80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"+++ LEFT-BRANCH of NODE "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80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80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800">
                <a:solidFill>
                  <a:srgbClr val="795E26"/>
                </a:solidFill>
                <a:latin typeface="Consolas" panose="020B0609020204030204" pitchFamily="49" charset="0"/>
              </a:rPr>
              <a:t>CreateBTree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>
                <a:solidFill>
                  <a:srgbClr val="001080"/>
                </a:solidFill>
                <a:latin typeface="Consolas" panose="020B0609020204030204" pitchFamily="49" charset="0"/>
              </a:rPr>
              <a:t>left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800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80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"+++ RIGHT-BRANCH of NODE "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80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80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800">
                <a:solidFill>
                  <a:srgbClr val="795E26"/>
                </a:solidFill>
                <a:latin typeface="Consolas" panose="020B0609020204030204" pitchFamily="49" charset="0"/>
              </a:rPr>
              <a:t>CreateBTree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800">
                <a:solidFill>
                  <a:srgbClr val="001080"/>
                </a:solidFill>
                <a:latin typeface="Consolas" panose="020B0609020204030204" pitchFamily="49" charset="0"/>
              </a:rPr>
              <a:t>right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3A66DA5-35D4-464F-90A8-AB548946F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1F2AE0F-CAB7-4205-9350-9D39C39BD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27</a:t>
            </a:fld>
            <a:endParaRPr lang="en-US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DABD0E1C-3F7B-43E5-93B1-102EE7574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90642-73F6-409C-BFCD-1A08FCCC42AB}" type="datetime1">
              <a:rPr lang="vi-VN" smtClean="0"/>
              <a:t>21/11/2024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7E008-995D-4F4A-B752-B2165B057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In cây</a:t>
            </a:r>
            <a:endParaRPr lang="en-A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0DF00D-AB8B-4242-95A4-CE97719AF12C}"/>
              </a:ext>
            </a:extLst>
          </p:cNvPr>
          <p:cNvSpPr/>
          <p:nvPr/>
        </p:nvSpPr>
        <p:spPr>
          <a:xfrm>
            <a:off x="1219201" y="1871840"/>
            <a:ext cx="1066799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</a:rPr>
              <a:t>"iomanip"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</a:p>
          <a:p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PrintTree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BNODE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k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  <a:r>
              <a:rPr lang="en-US">
                <a:solidFill>
                  <a:srgbClr val="008000"/>
                </a:solidFill>
                <a:latin typeface="Consolas" panose="020B0609020204030204" pitchFamily="49" charset="0"/>
              </a:rPr>
              <a:t> // k là mức của node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(p ==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PrintTree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right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, k + </a:t>
            </a:r>
            <a:r>
              <a:rPr lang="en-US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cout &lt;&lt; endl &lt;&lt;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setw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* k) &lt;&lt;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info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PrintTree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left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, k + </a:t>
            </a:r>
            <a:r>
              <a:rPr lang="en-US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C5B7A33-1C05-4A8D-AE9A-CDCEA44D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CC74716-60C4-4483-9267-5D5205BD6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28</a:t>
            </a:fld>
            <a:endParaRPr lang="en-US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6205AE7C-827E-4CAA-A9A0-3CF38EF92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E61F6-5799-4B86-AD5C-6EF7CC66F459}" type="datetime1">
              <a:rPr lang="vi-VN" smtClean="0"/>
              <a:t>21/11/2024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0E56A-2948-467A-930F-0CBD80B7A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Duyệt cây</a:t>
            </a:r>
            <a:endParaRPr lang="en-AU" dirty="0"/>
          </a:p>
        </p:txBody>
      </p:sp>
      <p:sp>
        <p:nvSpPr>
          <p:cNvPr id="66566" name="Content Placeholder 2">
            <a:extLst>
              <a:ext uri="{FF2B5EF4-FFF2-40B4-BE49-F238E27FC236}">
                <a16:creationId xmlns:a16="http://schemas.microsoft.com/office/drawing/2014/main" id="{07F818DF-4564-42DB-8031-7783D08A7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Duyệt trước (Pre-order): Node-Left-Right (NLR)</a:t>
            </a:r>
          </a:p>
          <a:p>
            <a:r>
              <a:rPr lang="en-US" altLang="en-US"/>
              <a:t>Duyệt giữa (In-order): Left-Node-Right (LNR)</a:t>
            </a:r>
          </a:p>
          <a:p>
            <a:r>
              <a:rPr lang="en-US" altLang="en-US"/>
              <a:t>Duyệt sau (Post-order): Left-Right-Node (LRN)</a:t>
            </a:r>
          </a:p>
          <a:p>
            <a:r>
              <a:rPr lang="en-US"/>
              <a:t>Duyệt theo mức: (Level order - Breadth-First Search)</a:t>
            </a:r>
          </a:p>
          <a:p>
            <a:endParaRPr lang="en-AU" alt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BC3D5B1-85C2-4CE1-87B8-35211CAEE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7FB958E-0F50-43D3-956B-1757910E3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29</a:t>
            </a:fld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74418C1-BEA5-41EB-B73C-08C769B95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8C8F-06C7-414C-82B6-7DEC94EDAC0E}" type="datetime1">
              <a:rPr lang="vi-VN" smtClean="0"/>
              <a:t>21/11/2024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5" name="Picture 2">
            <a:extLst>
              <a:ext uri="{FF2B5EF4-FFF2-40B4-BE49-F238E27FC236}">
                <a16:creationId xmlns:a16="http://schemas.microsoft.com/office/drawing/2014/main" id="{CB1A9175-4659-4471-A8AF-C80264B65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3" y="2349501"/>
            <a:ext cx="7048500" cy="394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F860DF-2162-400C-9551-EEEFCF405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Duyệt cây NLR</a:t>
            </a:r>
            <a:endParaRPr lang="en-AU" dirty="0"/>
          </a:p>
        </p:txBody>
      </p:sp>
      <p:sp>
        <p:nvSpPr>
          <p:cNvPr id="68614" name="Content Placeholder 2">
            <a:extLst>
              <a:ext uri="{FF2B5EF4-FFF2-40B4-BE49-F238E27FC236}">
                <a16:creationId xmlns:a16="http://schemas.microsoft.com/office/drawing/2014/main" id="{2552C00D-27ED-4EEF-B4E1-87A3F8FD8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</a:t>
            </a:r>
            <a:r>
              <a:rPr lang="vi-VN" altLang="en-US"/>
              <a:t>hăm nút gốc trước, rồi sau đó thăm các nút của cây con trái, rồi đến cây con phải</a:t>
            </a:r>
            <a:endParaRPr lang="en-AU" alt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5D84A69A-1614-450C-9E3C-3DDA41F2B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4D7A474-1548-458B-B605-4C8A8C751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30</a:t>
            </a:fld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58D06C39-268D-4B0D-B749-CAB4DA5AD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73AE0-2369-4FA8-B2BA-AFC07B0E03A5}" type="datetime1">
              <a:rPr lang="vi-VN" smtClean="0"/>
              <a:t>21/11/2024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11" name="Picture 2">
            <a:extLst>
              <a:ext uri="{FF2B5EF4-FFF2-40B4-BE49-F238E27FC236}">
                <a16:creationId xmlns:a16="http://schemas.microsoft.com/office/drawing/2014/main" id="{F5BA4946-A717-4C1B-BCD2-6C2143014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5888" y="2276476"/>
            <a:ext cx="7040562" cy="402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8FCD90-5348-4FBE-B0B9-E4831F6D1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Duyệt cây LNR</a:t>
            </a:r>
            <a:endParaRPr lang="en-AU" dirty="0"/>
          </a:p>
        </p:txBody>
      </p:sp>
      <p:sp>
        <p:nvSpPr>
          <p:cNvPr id="72710" name="Content Placeholder 2">
            <a:extLst>
              <a:ext uri="{FF2B5EF4-FFF2-40B4-BE49-F238E27FC236}">
                <a16:creationId xmlns:a16="http://schemas.microsoft.com/office/drawing/2014/main" id="{87C8E074-7758-46FD-96F9-25B5B58E2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</a:t>
            </a:r>
            <a:r>
              <a:rPr lang="vi-VN" altLang="en-US"/>
              <a:t>hăm các nút của cây con trái trước, rồi sau đó thăm nút gốc, rồi đến cây con phải</a:t>
            </a:r>
            <a:endParaRPr lang="en-AU" alt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811484B4-5D7C-421D-870D-DADFB4AD9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B2C4BF28-CD06-4728-85A4-46A7C75FE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31</a:t>
            </a:fld>
            <a:endParaRPr lang="en-US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083CCC68-D4F5-494F-8518-896FDCB90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AD0AA-CE26-4F73-BBE4-89D7F761EDD4}" type="datetime1">
              <a:rPr lang="vi-VN" smtClean="0"/>
              <a:t>21/11/2024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7" name="Picture 2">
            <a:extLst>
              <a:ext uri="{FF2B5EF4-FFF2-40B4-BE49-F238E27FC236}">
                <a16:creationId xmlns:a16="http://schemas.microsoft.com/office/drawing/2014/main" id="{82A1C7B6-3B96-40D9-B8E9-B6F4CC9D6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3" y="2205038"/>
            <a:ext cx="7086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8BBD1E-F02C-49AC-92AD-B255A6409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Duyệt cây LRN</a:t>
            </a:r>
            <a:endParaRPr lang="en-AU" dirty="0"/>
          </a:p>
        </p:txBody>
      </p:sp>
      <p:sp>
        <p:nvSpPr>
          <p:cNvPr id="76806" name="Content Placeholder 2">
            <a:extLst>
              <a:ext uri="{FF2B5EF4-FFF2-40B4-BE49-F238E27FC236}">
                <a16:creationId xmlns:a16="http://schemas.microsoft.com/office/drawing/2014/main" id="{1E88318C-8121-4022-BDD3-294506AD0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</a:t>
            </a:r>
            <a:r>
              <a:rPr lang="vi-VN" altLang="en-US"/>
              <a:t>hăm các nút của cây con trái trước, rồi sau đó thăm cây con phải, rồi đến nút gốc</a:t>
            </a:r>
            <a:endParaRPr lang="en-AU" alt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46A2A09-C156-42C2-AC41-C9388F641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5056F66-9061-470A-96E4-9FA24DC16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32</a:t>
            </a:fld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4F95F52A-F0EE-4179-A937-B28D71292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B7A9D-B048-41B1-A41C-9634303F6F75}" type="datetime1">
              <a:rPr lang="vi-VN" smtClean="0"/>
              <a:t>21/11/2024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Numbered Level Order Traversal">
            <a:extLst>
              <a:ext uri="{FF2B5EF4-FFF2-40B4-BE49-F238E27FC236}">
                <a16:creationId xmlns:a16="http://schemas.microsoft.com/office/drawing/2014/main" id="{ED6BBBB5-F54D-46B8-B96C-45E17C7FC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5655" y="1688172"/>
            <a:ext cx="5520690" cy="356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C5D797-1EB0-4493-89D1-F83BECE4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Duyệt cây theo mức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3C453-A1BC-4397-B2FE-5EF05F730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600200"/>
            <a:ext cx="10667999" cy="4572000"/>
          </a:xfrm>
        </p:spPr>
        <p:txBody>
          <a:bodyPr/>
          <a:lstStyle/>
          <a:p>
            <a:r>
              <a:rPr lang="en-US"/>
              <a:t>Duyệt nút gốc ở mức 0 </a:t>
            </a:r>
            <a:r>
              <a:rPr lang="en-US">
                <a:sym typeface="Wingdings" panose="05000000000000000000" pitchFamily="2" charset="2"/>
              </a:rPr>
              <a:t> các nút ở mức 1…</a:t>
            </a:r>
          </a:p>
          <a:p>
            <a:endParaRPr lang="en-US">
              <a:sym typeface="Wingdings" panose="05000000000000000000" pitchFamily="2" charset="2"/>
            </a:endParaRPr>
          </a:p>
          <a:p>
            <a:endParaRPr lang="en-US">
              <a:sym typeface="Wingdings" panose="05000000000000000000" pitchFamily="2" charset="2"/>
            </a:endParaRPr>
          </a:p>
          <a:p>
            <a:endParaRPr lang="en-US">
              <a:sym typeface="Wingdings" panose="05000000000000000000" pitchFamily="2" charset="2"/>
            </a:endParaRPr>
          </a:p>
          <a:p>
            <a:endParaRPr lang="en-US">
              <a:sym typeface="Wingdings" panose="05000000000000000000" pitchFamily="2" charset="2"/>
            </a:endParaRPr>
          </a:p>
          <a:p>
            <a:endParaRPr lang="en-US">
              <a:sym typeface="Wingdings" panose="05000000000000000000" pitchFamily="2" charset="2"/>
            </a:endParaRPr>
          </a:p>
          <a:p>
            <a:r>
              <a:rPr lang="en-US">
                <a:sym typeface="Wingdings" panose="05000000000000000000" pitchFamily="2" charset="2"/>
              </a:rPr>
              <a:t>Kết quả: 74 53 81 36 59 79 86 22 44 58 66 84 89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CAC9B-5428-49DF-99B7-AFE1C6AD9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1A4CE-CEA0-499A-94AE-0A32C5859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F2284-59D3-4D2C-AABB-172835E18FFF}" type="datetime1">
              <a:rPr lang="vi-VN" smtClean="0"/>
              <a:t>21/11/2024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847D9-3CEE-4AC3-B728-B791FFF66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27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12345-6E31-4A49-ADF5-A1D2E8291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Duyệt cây BTREE</a:t>
            </a:r>
            <a:endParaRPr lang="en-AU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8273B6-46A9-4275-8C01-BBE0EF45982B}"/>
              </a:ext>
            </a:extLst>
          </p:cNvPr>
          <p:cNvSpPr/>
          <p:nvPr/>
        </p:nvSpPr>
        <p:spPr>
          <a:xfrm>
            <a:off x="1219201" y="1788702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NLR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BNODE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info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NLR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left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NLR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right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582E24-38D3-4B71-9F09-27446E5AC06E}"/>
              </a:ext>
            </a:extLst>
          </p:cNvPr>
          <p:cNvSpPr/>
          <p:nvPr/>
        </p:nvSpPr>
        <p:spPr>
          <a:xfrm>
            <a:off x="6502400" y="1788235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LNR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BNODE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LNR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left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info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LNR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right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A1154A-ABAB-4C4F-9262-4AB85C5190BD}"/>
              </a:ext>
            </a:extLst>
          </p:cNvPr>
          <p:cNvSpPr/>
          <p:nvPr/>
        </p:nvSpPr>
        <p:spPr>
          <a:xfrm>
            <a:off x="3511322" y="4096559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LRN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BNODE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LRN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left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LRN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right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info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224E36A8-58DE-4458-BF64-290CC6A1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565B03E5-5C9A-4F73-8E50-FBB2A80ED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34</a:t>
            </a:fld>
            <a:endParaRPr lang="en-US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1ACC715D-7CC2-46FE-9C33-D2AC7E05B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BD506-689D-4C6E-B152-38B6EA250208}" type="datetime1">
              <a:rPr lang="vi-VN" smtClean="0"/>
              <a:t>21/11/2024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44DB-70A3-448B-8C1D-DA985FAA2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Đếm tổng số node</a:t>
            </a:r>
            <a:endParaRPr lang="en-AU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F5A6B2-5ED1-4DD1-BA3C-D70F6D5258A5}"/>
              </a:ext>
            </a:extLst>
          </p:cNvPr>
          <p:cNvSpPr/>
          <p:nvPr/>
        </p:nvSpPr>
        <p:spPr>
          <a:xfrm>
            <a:off x="1219201" y="1688931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</a:rPr>
              <a:t>CountNode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BNODE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==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</a:rPr>
              <a:t>CountNode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left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b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</a:rPr>
              <a:t>CountNode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right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b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3D26D0-15E4-47FD-A9EC-009B2B473EFD}"/>
              </a:ext>
            </a:extLst>
          </p:cNvPr>
          <p:cNvSpPr/>
          <p:nvPr/>
        </p:nvSpPr>
        <p:spPr>
          <a:xfrm>
            <a:off x="6312061" y="1665253"/>
            <a:ext cx="578348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</a:rPr>
              <a:t>CountBranchNode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BNODE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totalNodes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</a:rPr>
              <a:t>CountNode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leafNodes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</a:rPr>
              <a:t>CountLeafNode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>
                <a:solidFill>
                  <a:srgbClr val="008000"/>
                </a:solidFill>
                <a:latin typeface="Consolas" panose="020B0609020204030204" pitchFamily="49" charset="0"/>
              </a:rPr>
              <a:t>// - rootNode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totalNodes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-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leafNodes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- 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2000">
                <a:solidFill>
                  <a:srgbClr val="008000"/>
                </a:solidFill>
                <a:latin typeface="Consolas" panose="020B0609020204030204" pitchFamily="49" charset="0"/>
              </a:rPr>
              <a:t> 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504C74-1CFA-4D27-8723-C3C66E3CAEEA}"/>
              </a:ext>
            </a:extLst>
          </p:cNvPr>
          <p:cNvSpPr/>
          <p:nvPr/>
        </p:nvSpPr>
        <p:spPr>
          <a:xfrm>
            <a:off x="2957331" y="3689655"/>
            <a:ext cx="6709459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</a:rPr>
              <a:t>CountLeafNode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BNODE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==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</a:rPr>
              <a:t>CountLeafNode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left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b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</a:rPr>
              <a:t>CountLeafNode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right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left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==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&amp;&amp;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right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==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b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b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67899265-1B15-45EC-A0E1-B85F365F3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7054DAB-B22E-44ED-9F03-6CE64CB68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35</a:t>
            </a:fld>
            <a:endParaRPr lang="en-US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35666A76-AC51-44DC-9804-6F7DD939D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59370-C2CF-472C-B546-8F7F51098B31}" type="datetime1">
              <a:rPr lang="vi-VN" smtClean="0"/>
              <a:t>21/11/2024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3262D-28FD-4D0E-8294-9D3E58CE2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Tính chiều cao cây</a:t>
            </a:r>
            <a:endParaRPr lang="en-A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6FDF76-D6A8-42CC-B444-854308D0892D}"/>
              </a:ext>
            </a:extLst>
          </p:cNvPr>
          <p:cNvSpPr/>
          <p:nvPr/>
        </p:nvSpPr>
        <p:spPr>
          <a:xfrm>
            <a:off x="316231" y="2471877"/>
            <a:ext cx="632749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GetHeight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</a:rPr>
              <a:t>BNODE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{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==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GetHeight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left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b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</a:rPr>
              <a:t>GetHeight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right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max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&gt;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b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?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: 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b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</a:rPr>
              <a:t>max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A097C2E6-57D1-4029-997E-48504484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544C78B-5086-461A-9170-6D8E633F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36</a:t>
            </a:fld>
            <a:endParaRPr lang="en-US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BC19282B-129E-44AA-9320-6B6CB5FFA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5D85A-7FEB-4CC5-8554-C353025C4795}" type="datetime1">
              <a:rPr lang="vi-VN" smtClean="0"/>
              <a:t>21/11/2024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D0D69A4-FB93-4F15-974D-2B71C54C4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593" y="1708467"/>
            <a:ext cx="5859398" cy="3789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3262D-28FD-4D0E-8294-9D3E58CE2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Hiển thị node mức k</a:t>
            </a:r>
            <a:endParaRPr lang="en-A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2450F1-6B87-4973-9B31-7F019B46DDB5}"/>
              </a:ext>
            </a:extLst>
          </p:cNvPr>
          <p:cNvSpPr/>
          <p:nvPr/>
        </p:nvSpPr>
        <p:spPr>
          <a:xfrm>
            <a:off x="434722" y="1708467"/>
            <a:ext cx="5690871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</a:rPr>
              <a:t>DisplayAtLevel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</a:rPr>
              <a:t>BNODE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k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== 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k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== 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info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</a:rPr>
              <a:t>DisplayAtLevel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left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k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- 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</a:rPr>
              <a:t>DisplayAtLevel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right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</a:rPr>
              <a:t>k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- 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8B21EE-D002-4641-8692-F2B9C871F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Cấu Trúc Dữ Liệu &amp; Giải Thuật (Data Structures &amp; Algorithms) - Cây (Tree)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27D7B-E330-4B19-A61C-A3D89B66A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82F98-F548-4E33-958E-D2A6C4BA8EFA}" type="slidenum">
              <a:rPr lang="en-US" smtClean="0"/>
              <a:t>37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96E12-B88C-4DAD-A0B6-160D7E403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032E-A8A8-4CF2-98F2-4720004A5C8C}" type="datetime1">
              <a:rPr lang="vi-VN" smtClean="0"/>
              <a:t>21/11/2024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EF1CA21-B66D-4F74-BA25-372BCDE9F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593" y="1708467"/>
            <a:ext cx="5859398" cy="3789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3355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3DA867-87AE-4E06-BCBE-F32E27392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621" y="1371600"/>
            <a:ext cx="6072759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31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HSU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>
    <a:lnDef>
      <a:spPr>
        <a:ln w="28575">
          <a:solidFill>
            <a:srgbClr val="00206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SU" id="{A63A0C5C-11F4-4574-9CEA-7651809D1C0D}" vid="{7CE2F1C4-7BBE-4197-8E6A-747A89601E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HSU</Template>
  <TotalTime>9455</TotalTime>
  <Words>1730</Words>
  <Application>Microsoft Office PowerPoint</Application>
  <PresentationFormat>Widescreen</PresentationFormat>
  <Paragraphs>333</Paragraphs>
  <Slides>38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Calibri</vt:lpstr>
      <vt:lpstr>Consolas</vt:lpstr>
      <vt:lpstr>Constantia</vt:lpstr>
      <vt:lpstr>Verdana</vt:lpstr>
      <vt:lpstr>Wingdings</vt:lpstr>
      <vt:lpstr>HSU</vt:lpstr>
      <vt:lpstr>Equation</vt:lpstr>
      <vt:lpstr> Cấu Trúc Dữ Liệu &amp; Giải Thuật</vt:lpstr>
      <vt:lpstr>Bài 8 – Cây (Tree) – Phần 1</vt:lpstr>
      <vt:lpstr>Cây</vt:lpstr>
      <vt:lpstr>Các khái niệm về cây</vt:lpstr>
      <vt:lpstr>Các khái niệm về cây</vt:lpstr>
      <vt:lpstr>Các khái niệm về cây</vt:lpstr>
      <vt:lpstr>Các khái niệm về cây</vt:lpstr>
      <vt:lpstr>Các khái niệm về cây</vt:lpstr>
      <vt:lpstr>Các khái niệm về cây</vt:lpstr>
      <vt:lpstr>Ví dụ về cấu trúc cây</vt:lpstr>
      <vt:lpstr>Ví dụ về cấu trúc cây</vt:lpstr>
      <vt:lpstr>Ví dụ về cấu trúc cây</vt:lpstr>
      <vt:lpstr>Các cách biểu diễn cây</vt:lpstr>
      <vt:lpstr>Các cách biểu diễn cây</vt:lpstr>
      <vt:lpstr>Các cách biểu diễn cây</vt:lpstr>
      <vt:lpstr>Các cách biểu diễn cây</vt:lpstr>
      <vt:lpstr>Tổ chức lưu trữ cây</vt:lpstr>
      <vt:lpstr>Tổ chức lưu trữ cây</vt:lpstr>
      <vt:lpstr>Cây Nhị Phân</vt:lpstr>
      <vt:lpstr>Khái niệm về cây nhị phân</vt:lpstr>
      <vt:lpstr>Khái niệm về cây nhị phân</vt:lpstr>
      <vt:lpstr>Khái niệm về cây nhị phân</vt:lpstr>
      <vt:lpstr>Các tính chất của cây nhị phân</vt:lpstr>
      <vt:lpstr>Các tính chất của cây nhị phân</vt:lpstr>
      <vt:lpstr>Các Thao Tác Trên BTree</vt:lpstr>
      <vt:lpstr>Tạo cây BTree</vt:lpstr>
      <vt:lpstr>Tạo cây BTree</vt:lpstr>
      <vt:lpstr>In cây</vt:lpstr>
      <vt:lpstr>Duyệt cây</vt:lpstr>
      <vt:lpstr>Duyệt cây NLR</vt:lpstr>
      <vt:lpstr>Duyệt cây LNR</vt:lpstr>
      <vt:lpstr>Duyệt cây LRN</vt:lpstr>
      <vt:lpstr>Duyệt cây theo mức</vt:lpstr>
      <vt:lpstr>Duyệt cây BTREE</vt:lpstr>
      <vt:lpstr>Đếm tổng số node</vt:lpstr>
      <vt:lpstr>Tính chiều cao cây</vt:lpstr>
      <vt:lpstr>Hiển thị node mức 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Cấu Trúc Dữ Liệu &amp; Giải Thuật</dc:title>
  <dc:creator>Trung Phan</dc:creator>
  <cp:lastModifiedBy>Trung Phan</cp:lastModifiedBy>
  <cp:revision>236</cp:revision>
  <dcterms:created xsi:type="dcterms:W3CDTF">2021-03-26T08:09:27Z</dcterms:created>
  <dcterms:modified xsi:type="dcterms:W3CDTF">2024-11-21T07:38:00Z</dcterms:modified>
</cp:coreProperties>
</file>